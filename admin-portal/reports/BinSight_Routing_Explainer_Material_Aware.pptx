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72126"/>
                </a:solidFill>
                <a:latin typeface="Calibri"/>
              </a:defRPr>
            </a:pPr>
            <a:r>
              <a:rPr sz="1500" b="0" i="0" u="none" strike="noStrike">
                <a:solidFill>
                  <a:srgbClr val="172126"/>
                </a:solidFill>
                <a:latin typeface="Calibri"/>
              </a:rPr>
              <a:t>Projected fill (%)</a:t>
            </a:r>
          </a:p>
        </c:rich>
      </c:tx>
      <c:layout/>
      <c:overlay val="0"/>
    </c:title>
    <c:autoTitleDeleted val="0"/>
    <c:plotArea>
      <c:layout/>
      <c:lineChart>
        <c:varyColors val="0"/>
        <c:ser>
          <c:idx val="0"/>
          <c:order val="0"/>
          <c:tx>
            <c:strRef>
              <c:f>Sheet1!$B$1</c:f>
              <c:strCache>
                <c:ptCount val="1"/>
                <c:pt idx="0">
                  <c:v>Expected fill</c:v>
                </c:pt>
              </c:strCache>
            </c:strRef>
          </c:tx>
          <c:spPr>
            <a:solidFill>
              <a:srgbClr val="006DAE"/>
            </a:solidFill>
            <a:ln w="38100" cap="flat">
              <a:solidFill>
                <a:srgbClr val="006DAE"/>
              </a:solidFill>
              <a:prstDash val="solid"/>
              <a:round/>
            </a:ln>
            <a:effectLst/>
          </c:spPr>
          <c:invertIfNegative val="0"/>
          <c:dLbls>
            <c:numFmt formatCode="0" sourceLinked="0"/>
            <c:txPr>
              <a:bodyPr/>
              <a:lstStyle/>
              <a:p>
                <a:pPr>
                  <a:defRPr b="0" i="0" strike="noStrike" sz="1200" u="none">
                    <a:solidFill>
                      <a:srgbClr val="5F6B70"/>
                    </a:solidFill>
                    <a:latin typeface="Arial"/>
                  </a:defRPr>
                </a:pPr>
              </a:p>
            </c:txPr>
            <c:dLblPos val="t"/>
            <c:showLegendKey val="0"/>
            <c:showVal val="1"/>
            <c:showCatName val="0"/>
            <c:showSerName val="0"/>
            <c:showPercent val="0"/>
            <c:showBubbleSize val="0"/>
            <c:showLeaderLines val="0"/>
          </c:dLbls>
          <c:marker>
            <c:symbol val="circle"/>
            <c:size val="6"/>
            <c:spPr>
              <a:solidFill>
                <a:srgbClr val="006DAE"/>
              </a:solidFill>
              <a:ln w="9525" cap="flat">
                <a:solidFill>
                  <a:srgbClr val="006DAE"/>
                </a:solidFill>
                <a:prstDash val="solid"/>
                <a:round/>
              </a:ln>
              <a:effectLst/>
            </c:spPr>
          </c:marker>
          <c:cat>
            <c:multiLvlStrRef>
              <c:f>Sheet1!$A$2:$A$6</c:f>
              <c:multiLvlStrCache>
                <c:ptCount val="5"/>
                <c:lvl>
                  <c:pt idx="0">
                    <c:v>Now</c:v>
                  </c:pt>
                  <c:pt idx="1">
                    <c:v>24 h</c:v>
                  </c:pt>
                  <c:pt idx="2">
                    <c:v>48 h</c:v>
                  </c:pt>
                  <c:pt idx="3">
                    <c:v>96 h</c:v>
                  </c:pt>
                  <c:pt idx="4">
                    <c:v>168 h</c:v>
                  </c:pt>
                </c:lvl>
              </c:multiLvlStrCache>
            </c:multiLvlStrRef>
          </c:cat>
          <c:val>
            <c:numRef>
              <c:f>Sheet1!$B$2:$B$6</c:f>
              <c:numCache>
                <c:formatCode>General</c:formatCode>
                <c:ptCount val="5"/>
                <c:pt idx="0">
                  <c:v>70</c:v>
                </c:pt>
                <c:pt idx="1">
                  <c:v>74</c:v>
                </c:pt>
                <c:pt idx="2">
                  <c:v>79</c:v>
                </c:pt>
                <c:pt idx="3">
                  <c:v>88</c:v>
                </c:pt>
                <c:pt idx="4">
                  <c:v>100</c:v>
                </c:pt>
              </c:numCache>
            </c:numRef>
          </c:val>
          <c:smooth val="0"/>
        </c:ser>
        <c:ser>
          <c:idx val="1"/>
          <c:order val="1"/>
          <c:tx>
            <c:strRef>
              <c:f>Sheet1!$C$1</c:f>
              <c:strCache>
                <c:ptCount val="1"/>
                <c:pt idx="0">
                  <c:v>Conservative upper</c:v>
                </c:pt>
              </c:strCache>
            </c:strRef>
          </c:tx>
          <c:spPr>
            <a:solidFill>
              <a:srgbClr val="C64045"/>
            </a:solidFill>
            <a:ln w="38100" cap="flat">
              <a:solidFill>
                <a:srgbClr val="C64045"/>
              </a:solidFill>
              <a:prstDash val="solid"/>
              <a:round/>
            </a:ln>
            <a:effectLst/>
          </c:spPr>
          <c:invertIfNegative val="0"/>
          <c:dLbls>
            <c:numFmt formatCode="0" sourceLinked="0"/>
            <c:txPr>
              <a:bodyPr/>
              <a:lstStyle/>
              <a:p>
                <a:pPr>
                  <a:defRPr b="0" i="0" strike="noStrike" sz="1200" u="none">
                    <a:solidFill>
                      <a:srgbClr val="5F6B70"/>
                    </a:solidFill>
                    <a:latin typeface="Arial"/>
                  </a:defRPr>
                </a:pPr>
              </a:p>
            </c:txPr>
            <c:dLblPos val="t"/>
            <c:showLegendKey val="0"/>
            <c:showVal val="1"/>
            <c:showCatName val="0"/>
            <c:showSerName val="0"/>
            <c:showPercent val="0"/>
            <c:showBubbleSize val="0"/>
            <c:showLeaderLines val="0"/>
          </c:dLbls>
          <c:marker>
            <c:symbol val="circle"/>
            <c:size val="6"/>
            <c:spPr>
              <a:solidFill>
                <a:srgbClr val="C64045"/>
              </a:solidFill>
              <a:ln w="9525" cap="flat">
                <a:solidFill>
                  <a:srgbClr val="C64045"/>
                </a:solidFill>
                <a:prstDash val="solid"/>
                <a:round/>
              </a:ln>
              <a:effectLst/>
            </c:spPr>
          </c:marker>
          <c:cat>
            <c:multiLvlStrRef>
              <c:f>Sheet1!$A$2:$A$6</c:f>
              <c:multiLvlStrCache>
                <c:ptCount val="5"/>
                <c:lvl>
                  <c:pt idx="0">
                    <c:v>Now</c:v>
                  </c:pt>
                  <c:pt idx="1">
                    <c:v>24 h</c:v>
                  </c:pt>
                  <c:pt idx="2">
                    <c:v>48 h</c:v>
                  </c:pt>
                  <c:pt idx="3">
                    <c:v>96 h</c:v>
                  </c:pt>
                  <c:pt idx="4">
                    <c:v>168 h</c:v>
                  </c:pt>
                </c:lvl>
              </c:multiLvlStrCache>
            </c:multiLvlStrRef>
          </c:cat>
          <c:val>
            <c:numRef>
              <c:f>Sheet1!$C$2:$C$6</c:f>
              <c:numCache>
                <c:formatCode>General</c:formatCode>
                <c:ptCount val="5"/>
                <c:pt idx="0">
                  <c:v>70</c:v>
                </c:pt>
                <c:pt idx="1">
                  <c:v>78</c:v>
                </c:pt>
                <c:pt idx="2">
                  <c:v>85</c:v>
                </c:pt>
                <c:pt idx="3">
                  <c:v>98</c:v>
                </c:pt>
                <c:pt idx="4">
                  <c:v>114</c:v>
                </c:pt>
              </c:numCache>
            </c:numRef>
          </c:val>
          <c:smooth val="0"/>
        </c:ser>
        <c:dLbls>
          <c:numFmt formatCode="0" sourceLinked="0"/>
          <c:txPr>
            <a:bodyPr/>
            <a:lstStyle/>
            <a:p>
              <a:pPr>
                <a:defRPr b="0" i="0" strike="noStrike" sz="1200" u="none">
                  <a:solidFill>
                    <a:srgbClr val="5F6B7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0"/>
                </a:solidFill>
                <a:latin typeface="Calibri"/>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12700" cap="flat">
              <a:solidFill>
                <a:srgbClr val="D9E0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0"/>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126"/>
                </a:solidFill>
                <a:latin typeface="Calibri"/>
              </a:defRPr>
            </a:pPr>
            <a:r>
              <a:rPr sz="1400" b="0" i="0" u="none" strike="noStrike">
                <a:solidFill>
                  <a:srgbClr val="172126"/>
                </a:solidFill>
                <a:latin typeface="Calibri"/>
              </a:rPr>
              <a:t>Normal-demand counts (30-day mean)</a:t>
            </a:r>
          </a:p>
        </c:rich>
      </c:tx>
      <c:layout/>
      <c:overlay val="0"/>
    </c:title>
    <c:autoTitleDeleted val="0"/>
    <c:plotArea>
      <c:layout/>
      <c:barChart>
        <c:barDir val="col"/>
        <c:grouping val="clustered"/>
        <c:varyColors val="0"/>
        <c:ser>
          <c:idx val="0"/>
          <c:order val="0"/>
          <c:tx>
            <c:strRef>
              <c:f>Sheet1!$B$1</c:f>
              <c:strCache>
                <c:ptCount val="1"/>
                <c:pt idx="0">
                  <c:v>Fixed</c:v>
                </c:pt>
              </c:strCache>
            </c:strRef>
          </c:tx>
          <c:spPr>
            <a:solidFill>
              <a:srgbClr val="AAB5B4"/>
            </a:solidFill>
            <a:effectLst/>
          </c:spPr>
          <c:invertIfNegative val="0"/>
          <c:dLbls>
            <c:numFmt formatCode="0.00" sourceLinked="0"/>
            <c:txPr>
              <a:bodyPr/>
              <a:lstStyle/>
              <a:p>
                <a:pPr>
                  <a:defRPr b="0" i="0" strike="noStrike" sz="1200" u="none">
                    <a:solidFill>
                      <a:srgbClr val="172126"/>
                    </a:solidFill>
                    <a:latin typeface="Arial"/>
                  </a:defRPr>
                </a:pPr>
              </a:p>
            </c:txPr>
            <c:showLegendKey val="0"/>
            <c:showVal val="1"/>
            <c:showCatName val="0"/>
            <c:showSerName val="0"/>
            <c:showPercent val="0"/>
            <c:showBubbleSize val="0"/>
            <c:showLeaderLines val="0"/>
          </c:dLbls>
          <c:cat>
            <c:multiLvlStrRef>
              <c:f>Sheet1!$A$2:$A$4</c:f>
              <c:multiLvlStrCache>
                <c:ptCount val="3"/>
                <c:lvl>
                  <c:pt idx="0">
                    <c:v>Overflow incidents</c:v>
                  </c:pt>
                  <c:pt idx="1">
                    <c:v>Trips</c:v>
                  </c:pt>
                  <c:pt idx="2">
                    <c:v>Low-fill pickups</c:v>
                  </c:pt>
                </c:lvl>
              </c:multiLvlStrCache>
            </c:multiLvlStrRef>
          </c:cat>
          <c:val>
            <c:numRef>
              <c:f>Sheet1!$B$2:$B$4</c:f>
              <c:numCache>
                <c:formatCode>General</c:formatCode>
                <c:ptCount val="3"/>
                <c:pt idx="0">
                  <c:v>10.333333333333334</c:v>
                </c:pt>
                <c:pt idx="1">
                  <c:v>18</c:v>
                </c:pt>
                <c:pt idx="2">
                  <c:v>45.2</c:v>
                </c:pt>
              </c:numCache>
            </c:numRef>
          </c:val>
        </c:ser>
        <c:ser>
          <c:idx val="1"/>
          <c:order val="1"/>
          <c:tx>
            <c:strRef>
              <c:f>Sheet1!$C$1</c:f>
              <c:strCache>
                <c:ptCount val="1"/>
                <c:pt idx="0">
                  <c:v>Dynamic v2</c:v>
                </c:pt>
              </c:strCache>
            </c:strRef>
          </c:tx>
          <c:spPr>
            <a:solidFill>
              <a:srgbClr val="006DAE"/>
            </a:solidFill>
            <a:effectLst/>
          </c:spPr>
          <c:invertIfNegative val="0"/>
          <c:dLbls>
            <c:numFmt formatCode="0.00" sourceLinked="0"/>
            <c:txPr>
              <a:bodyPr/>
              <a:lstStyle/>
              <a:p>
                <a:pPr>
                  <a:defRPr b="0" i="0" strike="noStrike" sz="1200" u="none">
                    <a:solidFill>
                      <a:srgbClr val="172126"/>
                    </a:solidFill>
                    <a:latin typeface="Arial"/>
                  </a:defRPr>
                </a:pPr>
              </a:p>
            </c:txPr>
            <c:showLegendKey val="0"/>
            <c:showVal val="1"/>
            <c:showCatName val="0"/>
            <c:showSerName val="0"/>
            <c:showPercent val="0"/>
            <c:showBubbleSize val="0"/>
            <c:showLeaderLines val="0"/>
          </c:dLbls>
          <c:cat>
            <c:multiLvlStrRef>
              <c:f>Sheet1!$A$2:$A$4</c:f>
              <c:multiLvlStrCache>
                <c:ptCount val="3"/>
                <c:lvl>
                  <c:pt idx="0">
                    <c:v>Overflow incidents</c:v>
                  </c:pt>
                  <c:pt idx="1">
                    <c:v>Trips</c:v>
                  </c:pt>
                  <c:pt idx="2">
                    <c:v>Low-fill pickups</c:v>
                  </c:pt>
                </c:lvl>
              </c:multiLvlStrCache>
            </c:multiLvlStrRef>
          </c:cat>
          <c:val>
            <c:numRef>
              <c:f>Sheet1!$C$2:$C$4</c:f>
              <c:numCache>
                <c:formatCode>General</c:formatCode>
                <c:ptCount val="3"/>
                <c:pt idx="0">
                  <c:v>3.3666666666666667</c:v>
                </c:pt>
                <c:pt idx="1">
                  <c:v>38.56666666666667</c:v>
                </c:pt>
                <c:pt idx="2">
                  <c:v>24</c:v>
                </c:pt>
              </c:numCache>
            </c:numRef>
          </c:val>
        </c:ser>
        <c:dLbls>
          <c:numFmt formatCode="0.00" sourceLinked="0"/>
          <c:txPr>
            <a:bodyPr/>
            <a:lstStyle/>
            <a:p>
              <a:pPr>
                <a:defRPr b="0" i="0" strike="noStrike" sz="1200" u="none">
                  <a:solidFill>
                    <a:srgbClr val="1721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7212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9E0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scope correction: this deck does not explain how sensors collect or transmit data. It begins when a complete telemetry snapshot reaches the routing system. The central question is what BinSight does with that evidence before an operator sees a proposed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boundary clearly. The system receives one complete decision snapshot. From there it validates evidence, determines urgency, compares dispatching now with waiting, builds a feasible road route, and creates an operator-facing draft. Sensor acquisition is deliberately not part of this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mental model for the rest of the deck. Forecasting and route optimization are deliberately separate. A forecast does not automatically create a trip. The policy must still prove the trip is required or worth its operating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safety philosophy: bad or incomplete evidence is never converted to zero fill or low risk. Validation can preserve an urgent collection signal, send uncertain data to inspection, or allow the rest of the routing logic to proceed. Every configured bin still gets an explicit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 is not one number. The expected line is the central estimate; the upper line is deliberately conservative. Time to overflow is the first point where that upper path reaches the operational threshold, interpolated between forecast steps. Known events affect forecasts only when they were known by the decision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and confidence are orthogonal. Risk combines current fill, overflow probability, and operational horizon. Confidence combines sensor quality, freshness, usable history, interval width, residual error, event quality, fallback use, and drift. Low confidence is intentionally not treated as low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waste-trip control. Mandatory stops are safety constraints. Optional bins are considered only after quality, fill, timing, site consolidation, and trip-value gates. A bin can have a forecast and still be deferred because a dedicated trip would be wasteful.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trip-value equation is expressed in metre-equivalent prototype decision units, not Malaysian Ringgit. It is a transparent comparison of avoided overflow loss with fixed-trip, road, travel-time, service, and low-fill costs. Mandatory work overrides the optional value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solver makes two decisions jointly: which optional bins are worth including and the road order of selected stops. It enforces mass, compacted volume, daily trip, route-duration, depot-return, and waste-stream constraints. Required stops cannot be skipped; optional stops can be left for later when the route economics do not work. The slide uses a self-contained schematic rather than a live basemap; routing costs still come from the cached OSRM road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BinSight is decision support. A proposed plan is stored as a draft and requires operator acceptance. Mock dispatch is local and idempotent. If new evidence arrives during an active route, the current leg is frozen and a separate suffix draft is created using residual capacity; the accepted plan is never edited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logic. Bin A is mandatory because its conservative time to overflow is inside the earliest collection horizon. Bin B is not mandatory, but it is at the same service site, shares the beverage-recycling stream with Bin A, and has positive joint trip value, so it joins. Bin C is general waste, has low fill and a long horizon, and remains on a separate later route. This is how the model avoids collecting everything with a prediction while preserving stream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trade-off. In the normal synthetic scenario, dynamic routing materially reduces overflow, spilled mass, and low-fill pickups, but increases total trips, distance, and fuel. Under sensor failure it is worse on overflow incidents and efficiency. The evidence supports shadow operation with a fixed-schedule fallback, not a cost-saving deployment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operational principle. Routing is not simply choosing the shortest path or collecting the fullest bin. It first protects mandatory service, then tests whether optional work is worth doing, solves a feasible route, and leaves the final authorization with the operator. Current evidence supports shadow mode with a fixed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5F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D20"/>
        </a:solidFill>
      </p:bgPr>
    </p:bg>
    <p:spTree>
      <p:nvGrpSpPr>
        <p:cNvPr id="1" name=""/>
        <p:cNvGrpSpPr/>
        <p:nvPr/>
      </p:nvGrpSpPr>
      <p:grpSpPr>
        <a:xfrm>
          <a:off x="0" y="0"/>
          <a:ext cx="0" cy="0"/>
          <a:chOff x="0" y="0"/>
          <a:chExt cx="0" cy="0"/>
        </a:xfrm>
      </p:grpSpPr>
      <p:sp>
        <p:nvSpPr>
          <p:cNvPr id="2" name="Shape 0"/>
          <p:cNvSpPr/>
          <p:nvPr/>
        </p:nvSpPr>
        <p:spPr>
          <a:xfrm rot="20700000">
            <a:off x="-731520" y="4663440"/>
            <a:ext cx="4937760" cy="2926080"/>
          </a:xfrm>
          <a:prstGeom prst="arc">
            <a:avLst/>
          </a:prstGeom>
          <a:solidFill>
            <a:srgbClr val="171D20">
              <a:alpha val="0"/>
            </a:srgbClr>
          </a:solidFill>
          <a:ln w="50800">
            <a:solidFill>
              <a:srgbClr val="21C7F6">
                <a:alpha val="85000"/>
              </a:srgbClr>
            </a:solidFill>
            <a:prstDash val="solid"/>
          </a:ln>
        </p:spPr>
      </p:sp>
      <p:sp>
        <p:nvSpPr>
          <p:cNvPr id="3" name="Shape 1"/>
          <p:cNvSpPr/>
          <p:nvPr/>
        </p:nvSpPr>
        <p:spPr>
          <a:xfrm>
            <a:off x="694944" y="5010912"/>
            <a:ext cx="310896" cy="310896"/>
          </a:xfrm>
          <a:prstGeom prst="ellipse">
            <a:avLst/>
          </a:prstGeom>
          <a:solidFill>
            <a:srgbClr val="2F7D5B"/>
          </a:solidFill>
          <a:ln w="19050">
            <a:solidFill>
              <a:srgbClr val="FFFFFF"/>
            </a:solidFill>
            <a:prstDash val="solid"/>
          </a:ln>
        </p:spPr>
      </p:sp>
      <p:sp>
        <p:nvSpPr>
          <p:cNvPr id="4" name="Text 2"/>
          <p:cNvSpPr/>
          <p:nvPr/>
        </p:nvSpPr>
        <p:spPr>
          <a:xfrm>
            <a:off x="658368" y="566928"/>
            <a:ext cx="4663440" cy="310896"/>
          </a:xfrm>
          <a:prstGeom prst="rect">
            <a:avLst/>
          </a:prstGeom>
          <a:noFill/>
          <a:ln/>
        </p:spPr>
        <p:txBody>
          <a:bodyPr wrap="square" lIns="0" tIns="0" rIns="0" bIns="0" rtlCol="0" anchor="ctr">
            <a:normAutofit/>
          </a:bodyPr>
          <a:lstStyle/>
          <a:p>
            <a:pPr indent="0" marL="0">
              <a:buNone/>
            </a:pPr>
            <a:r>
              <a:rPr lang="en-US" sz="1200" b="1" spc="200" kern="0" dirty="0">
                <a:solidFill>
                  <a:srgbClr val="21C7F6"/>
                </a:solidFill>
                <a:latin typeface="Calibri" pitchFamily="34" charset="0"/>
                <a:ea typeface="Calibri" pitchFamily="34" charset="-122"/>
                <a:cs typeface="Calibri" pitchFamily="34" charset="-120"/>
              </a:rPr>
              <a:t>BINSIGHT ROUTING</a:t>
            </a:r>
            <a:endParaRPr lang="en-US" sz="1200" dirty="0"/>
          </a:p>
        </p:txBody>
      </p:sp>
      <p:sp>
        <p:nvSpPr>
          <p:cNvPr id="5" name="Text 3"/>
          <p:cNvSpPr/>
          <p:nvPr/>
        </p:nvSpPr>
        <p:spPr>
          <a:xfrm>
            <a:off x="658368" y="1051560"/>
            <a:ext cx="5577840" cy="1508760"/>
          </a:xfrm>
          <a:prstGeom prst="rect">
            <a:avLst/>
          </a:prstGeom>
          <a:noFill/>
          <a:ln/>
        </p:spPr>
        <p:txBody>
          <a:bodyPr wrap="square" lIns="0" tIns="0" rIns="0" bIns="0" rtlCol="0" anchor="t">
            <a:normAutofit/>
          </a:bodyPr>
          <a:lstStyle/>
          <a:p>
            <a:pPr indent="0" marL="0">
              <a:buNone/>
            </a:pPr>
            <a:r>
              <a:rPr lang="en-US" sz="4300" b="1" dirty="0">
                <a:solidFill>
                  <a:srgbClr val="FFFFFF"/>
                </a:solidFill>
                <a:latin typeface="Calibri" pitchFamily="34" charset="0"/>
                <a:ea typeface="Calibri" pitchFamily="34" charset="-122"/>
                <a:cs typeface="Calibri" pitchFamily="34" charset="-120"/>
              </a:rPr>
              <a:t>From snapshot</a:t>
            </a:r>
            <a:endParaRPr lang="en-US" sz="4300" dirty="0"/>
          </a:p>
          <a:p>
            <a:pPr indent="0" marL="0">
              <a:buNone/>
            </a:pPr>
            <a:r>
              <a:rPr lang="en-US" sz="4300" b="1" dirty="0">
                <a:solidFill>
                  <a:srgbClr val="FFFFFF"/>
                </a:solidFill>
                <a:latin typeface="Calibri" pitchFamily="34" charset="0"/>
                <a:ea typeface="Calibri" pitchFamily="34" charset="-122"/>
                <a:cs typeface="Calibri" pitchFamily="34" charset="-120"/>
              </a:rPr>
              <a:t>to dispatch</a:t>
            </a:r>
            <a:endParaRPr lang="en-US" sz="4300" dirty="0"/>
          </a:p>
        </p:txBody>
      </p:sp>
      <p:sp>
        <p:nvSpPr>
          <p:cNvPr id="6" name="Text 4"/>
          <p:cNvSpPr/>
          <p:nvPr/>
        </p:nvSpPr>
        <p:spPr>
          <a:xfrm>
            <a:off x="685800" y="2761488"/>
            <a:ext cx="4892040" cy="731520"/>
          </a:xfrm>
          <a:prstGeom prst="rect">
            <a:avLst/>
          </a:prstGeom>
          <a:noFill/>
          <a:ln/>
        </p:spPr>
        <p:txBody>
          <a:bodyPr wrap="square" lIns="0" tIns="0" rIns="0" bIns="0" rtlCol="0" anchor="t">
            <a:normAutofit/>
          </a:bodyPr>
          <a:lstStyle/>
          <a:p>
            <a:pPr indent="0" marL="0">
              <a:buNone/>
            </a:pPr>
            <a:r>
              <a:rPr lang="en-US" sz="2000" dirty="0">
                <a:solidFill>
                  <a:srgbClr val="C8D7DD"/>
                </a:solidFill>
                <a:latin typeface="Calibri" pitchFamily="34" charset="0"/>
                <a:ea typeface="Calibri" pitchFamily="34" charset="-122"/>
                <a:cs typeface="Calibri" pitchFamily="34" charset="-120"/>
              </a:rPr>
              <a:t>What the routing engine decides after the data is already available</a:t>
            </a:r>
            <a:endParaRPr lang="en-US" sz="2000" dirty="0"/>
          </a:p>
        </p:txBody>
      </p:sp>
      <p:sp>
        <p:nvSpPr>
          <p:cNvPr id="7" name="Shape 5"/>
          <p:cNvSpPr/>
          <p:nvPr/>
        </p:nvSpPr>
        <p:spPr>
          <a:xfrm>
            <a:off x="685800" y="3794760"/>
            <a:ext cx="1143000" cy="292608"/>
          </a:xfrm>
          <a:prstGeom prst="roundRect">
            <a:avLst>
              <a:gd name="adj" fmla="val 21875"/>
            </a:avLst>
          </a:prstGeom>
          <a:solidFill>
            <a:srgbClr val="E7F2F8"/>
          </a:solidFill>
          <a:ln w="12700">
            <a:solidFill>
              <a:srgbClr val="E7F2F8"/>
            </a:solidFill>
            <a:prstDash val="solid"/>
          </a:ln>
        </p:spPr>
      </p:sp>
      <p:sp>
        <p:nvSpPr>
          <p:cNvPr id="8" name="Text 6"/>
          <p:cNvSpPr/>
          <p:nvPr/>
        </p:nvSpPr>
        <p:spPr>
          <a:xfrm>
            <a:off x="758952" y="3803904"/>
            <a:ext cx="996696" cy="265176"/>
          </a:xfrm>
          <a:prstGeom prst="rect">
            <a:avLst/>
          </a:prstGeom>
          <a:noFill/>
          <a:ln/>
        </p:spPr>
        <p:txBody>
          <a:bodyPr wrap="square" lIns="0" tIns="0" rIns="0" bIns="0" rtlCol="0" anchor="ctr">
            <a:normAutofit/>
          </a:bodyPr>
          <a:lstStyle/>
          <a:p>
            <a:pPr algn="ctr" indent="0" marL="0">
              <a:buNone/>
            </a:pPr>
            <a:r>
              <a:rPr lang="en-US" sz="1050" b="1" dirty="0">
                <a:solidFill>
                  <a:srgbClr val="00527F"/>
                </a:solidFill>
                <a:latin typeface="Calibri" pitchFamily="34" charset="0"/>
                <a:ea typeface="Calibri" pitchFamily="34" charset="-122"/>
                <a:cs typeface="Calibri" pitchFamily="34" charset="-120"/>
              </a:rPr>
              <a:t>VALIDATE</a:t>
            </a:r>
            <a:endParaRPr lang="en-US" sz="1050" dirty="0"/>
          </a:p>
        </p:txBody>
      </p:sp>
      <p:sp>
        <p:nvSpPr>
          <p:cNvPr id="9" name="Shape 7"/>
          <p:cNvSpPr/>
          <p:nvPr/>
        </p:nvSpPr>
        <p:spPr>
          <a:xfrm>
            <a:off x="1947672" y="3794760"/>
            <a:ext cx="1143000" cy="292608"/>
          </a:xfrm>
          <a:prstGeom prst="roundRect">
            <a:avLst>
              <a:gd name="adj" fmla="val 21875"/>
            </a:avLst>
          </a:prstGeom>
          <a:solidFill>
            <a:srgbClr val="E3F1F1"/>
          </a:solidFill>
          <a:ln w="12700">
            <a:solidFill>
              <a:srgbClr val="E3F1F1"/>
            </a:solidFill>
            <a:prstDash val="solid"/>
          </a:ln>
        </p:spPr>
      </p:sp>
      <p:sp>
        <p:nvSpPr>
          <p:cNvPr id="10" name="Text 8"/>
          <p:cNvSpPr/>
          <p:nvPr/>
        </p:nvSpPr>
        <p:spPr>
          <a:xfrm>
            <a:off x="2020824" y="3803904"/>
            <a:ext cx="996696" cy="265176"/>
          </a:xfrm>
          <a:prstGeom prst="rect">
            <a:avLst/>
          </a:prstGeom>
          <a:noFill/>
          <a:ln/>
        </p:spPr>
        <p:txBody>
          <a:bodyPr wrap="square" lIns="0" tIns="0" rIns="0" bIns="0" rtlCol="0" anchor="ctr">
            <a:normAutofit/>
          </a:bodyPr>
          <a:lstStyle/>
          <a:p>
            <a:pPr algn="ctr" indent="0" marL="0">
              <a:buNone/>
            </a:pPr>
            <a:r>
              <a:rPr lang="en-US" sz="1050" b="1" dirty="0">
                <a:solidFill>
                  <a:srgbClr val="287F83"/>
                </a:solidFill>
                <a:latin typeface="Calibri" pitchFamily="34" charset="0"/>
                <a:ea typeface="Calibri" pitchFamily="34" charset="-122"/>
                <a:cs typeface="Calibri" pitchFamily="34" charset="-120"/>
              </a:rPr>
              <a:t>PREDICT</a:t>
            </a:r>
            <a:endParaRPr lang="en-US" sz="1050" dirty="0"/>
          </a:p>
        </p:txBody>
      </p:sp>
      <p:sp>
        <p:nvSpPr>
          <p:cNvPr id="11" name="Shape 9"/>
          <p:cNvSpPr/>
          <p:nvPr/>
        </p:nvSpPr>
        <p:spPr>
          <a:xfrm>
            <a:off x="3209544" y="3794760"/>
            <a:ext cx="1024128" cy="292608"/>
          </a:xfrm>
          <a:prstGeom prst="roundRect">
            <a:avLst>
              <a:gd name="adj" fmla="val 21875"/>
            </a:avLst>
          </a:prstGeom>
          <a:solidFill>
            <a:srgbClr val="FFF3DA"/>
          </a:solidFill>
          <a:ln w="12700">
            <a:solidFill>
              <a:srgbClr val="FFF3DA"/>
            </a:solidFill>
            <a:prstDash val="solid"/>
          </a:ln>
        </p:spPr>
      </p:sp>
      <p:sp>
        <p:nvSpPr>
          <p:cNvPr id="12" name="Text 10"/>
          <p:cNvSpPr/>
          <p:nvPr/>
        </p:nvSpPr>
        <p:spPr>
          <a:xfrm>
            <a:off x="3282696" y="3803904"/>
            <a:ext cx="877824" cy="265176"/>
          </a:xfrm>
          <a:prstGeom prst="rect">
            <a:avLst/>
          </a:prstGeom>
          <a:noFill/>
          <a:ln/>
        </p:spPr>
        <p:txBody>
          <a:bodyPr wrap="square" lIns="0" tIns="0" rIns="0" bIns="0" rtlCol="0" anchor="ctr">
            <a:normAutofit/>
          </a:bodyPr>
          <a:lstStyle/>
          <a:p>
            <a:pPr algn="ctr" indent="0" marL="0">
              <a:buNone/>
            </a:pPr>
            <a:r>
              <a:rPr lang="en-US" sz="1050" b="1" dirty="0">
                <a:solidFill>
                  <a:srgbClr val="8A5C00"/>
                </a:solidFill>
                <a:latin typeface="Calibri" pitchFamily="34" charset="0"/>
                <a:ea typeface="Calibri" pitchFamily="34" charset="-122"/>
                <a:cs typeface="Calibri" pitchFamily="34" charset="-120"/>
              </a:rPr>
              <a:t>VALUE</a:t>
            </a:r>
            <a:endParaRPr lang="en-US" sz="1050" dirty="0"/>
          </a:p>
        </p:txBody>
      </p:sp>
      <p:sp>
        <p:nvSpPr>
          <p:cNvPr id="13" name="Shape 11"/>
          <p:cNvSpPr/>
          <p:nvPr/>
        </p:nvSpPr>
        <p:spPr>
          <a:xfrm>
            <a:off x="4352544" y="3794760"/>
            <a:ext cx="1051560" cy="292608"/>
          </a:xfrm>
          <a:prstGeom prst="roundRect">
            <a:avLst>
              <a:gd name="adj" fmla="val 21875"/>
            </a:avLst>
          </a:prstGeom>
          <a:solidFill>
            <a:srgbClr val="E7F2EC"/>
          </a:solidFill>
          <a:ln w="12700">
            <a:solidFill>
              <a:srgbClr val="E7F2EC"/>
            </a:solidFill>
            <a:prstDash val="solid"/>
          </a:ln>
        </p:spPr>
      </p:sp>
      <p:sp>
        <p:nvSpPr>
          <p:cNvPr id="14" name="Text 12"/>
          <p:cNvSpPr/>
          <p:nvPr/>
        </p:nvSpPr>
        <p:spPr>
          <a:xfrm>
            <a:off x="4425696" y="3803904"/>
            <a:ext cx="905256" cy="265176"/>
          </a:xfrm>
          <a:prstGeom prst="rect">
            <a:avLst/>
          </a:prstGeom>
          <a:noFill/>
          <a:ln/>
        </p:spPr>
        <p:txBody>
          <a:bodyPr wrap="square" lIns="0" tIns="0" rIns="0" bIns="0" rtlCol="0" anchor="ctr">
            <a:normAutofit/>
          </a:bodyPr>
          <a:lstStyle/>
          <a:p>
            <a:pPr algn="ctr" indent="0" marL="0">
              <a:buNone/>
            </a:pPr>
            <a:r>
              <a:rPr lang="en-US" sz="1050" b="1" dirty="0">
                <a:solidFill>
                  <a:srgbClr val="2F7D5B"/>
                </a:solidFill>
                <a:latin typeface="Calibri" pitchFamily="34" charset="0"/>
                <a:ea typeface="Calibri" pitchFamily="34" charset="-122"/>
                <a:cs typeface="Calibri" pitchFamily="34" charset="-120"/>
              </a:rPr>
              <a:t>ROUTE</a:t>
            </a:r>
            <a:endParaRPr lang="en-US" sz="1050" dirty="0"/>
          </a:p>
        </p:txBody>
      </p:sp>
      <p:sp>
        <p:nvSpPr>
          <p:cNvPr id="15" name="Shape 13"/>
          <p:cNvSpPr/>
          <p:nvPr/>
        </p:nvSpPr>
        <p:spPr>
          <a:xfrm>
            <a:off x="6565392" y="594360"/>
            <a:ext cx="4983480" cy="5440680"/>
          </a:xfrm>
          <a:prstGeom prst="roundRect">
            <a:avLst>
              <a:gd name="adj" fmla="val 2202"/>
            </a:avLst>
          </a:prstGeom>
          <a:solidFill>
            <a:srgbClr val="242C30"/>
          </a:solidFill>
          <a:ln w="15240">
            <a:solidFill>
              <a:srgbClr val="3A464C"/>
            </a:solidFill>
            <a:prstDash val="solid"/>
          </a:ln>
          <a:effectLst>
            <a:outerShdw sx="100000" sy="100000" kx="0" ky="0" algn="bl" rotWithShape="0" blurRad="38100" dist="50800" dir="18900000">
              <a:srgbClr val="000000">
                <a:alpha val="28000"/>
              </a:srgbClr>
            </a:outerShdw>
          </a:effectLst>
        </p:spPr>
      </p:sp>
      <p:sp>
        <p:nvSpPr>
          <p:cNvPr id="16" name="Shape 14"/>
          <p:cNvSpPr/>
          <p:nvPr/>
        </p:nvSpPr>
        <p:spPr>
          <a:xfrm>
            <a:off x="6784848" y="813816"/>
            <a:ext cx="4544568" cy="4142232"/>
          </a:xfrm>
          <a:prstGeom prst="roundRect">
            <a:avLst>
              <a:gd name="adj" fmla="val 1766"/>
            </a:avLst>
          </a:prstGeom>
          <a:solidFill>
            <a:srgbClr val="F7FAFA"/>
          </a:solidFill>
          <a:ln w="12700">
            <a:solidFill>
              <a:srgbClr val="BFCBCD"/>
            </a:solidFill>
            <a:prstDash val="solid"/>
          </a:ln>
        </p:spPr>
      </p:sp>
      <p:sp>
        <p:nvSpPr>
          <p:cNvPr id="17" name="Shape 15"/>
          <p:cNvSpPr/>
          <p:nvPr/>
        </p:nvSpPr>
        <p:spPr>
          <a:xfrm>
            <a:off x="7012076" y="1145195"/>
            <a:ext cx="818022" cy="911291"/>
          </a:xfrm>
          <a:prstGeom prst="roundRect">
            <a:avLst>
              <a:gd name="adj" fmla="val 3353"/>
            </a:avLst>
          </a:prstGeom>
          <a:solidFill>
            <a:srgbClr val="E7F2F8">
              <a:alpha val="68000"/>
            </a:srgbClr>
          </a:solidFill>
          <a:ln w="12700">
            <a:solidFill>
              <a:srgbClr val="E7F2F8">
                <a:alpha val="0"/>
              </a:srgbClr>
            </a:solidFill>
            <a:prstDash val="solid"/>
          </a:ln>
        </p:spPr>
      </p:sp>
      <p:sp>
        <p:nvSpPr>
          <p:cNvPr id="18" name="Shape 16"/>
          <p:cNvSpPr/>
          <p:nvPr/>
        </p:nvSpPr>
        <p:spPr>
          <a:xfrm>
            <a:off x="8057327" y="1145195"/>
            <a:ext cx="1090696" cy="911291"/>
          </a:xfrm>
          <a:prstGeom prst="roundRect">
            <a:avLst>
              <a:gd name="adj" fmla="val 3010"/>
            </a:avLst>
          </a:prstGeom>
          <a:solidFill>
            <a:srgbClr val="E3F1F1">
              <a:alpha val="68000"/>
            </a:srgbClr>
          </a:solidFill>
          <a:ln w="12700">
            <a:solidFill>
              <a:srgbClr val="E3F1F1">
                <a:alpha val="0"/>
              </a:srgbClr>
            </a:solidFill>
            <a:prstDash val="solid"/>
          </a:ln>
        </p:spPr>
      </p:sp>
      <p:sp>
        <p:nvSpPr>
          <p:cNvPr id="19" name="Shape 17"/>
          <p:cNvSpPr/>
          <p:nvPr/>
        </p:nvSpPr>
        <p:spPr>
          <a:xfrm>
            <a:off x="9375252" y="1145195"/>
            <a:ext cx="727131" cy="911291"/>
          </a:xfrm>
          <a:prstGeom prst="roundRect">
            <a:avLst>
              <a:gd name="adj" fmla="val 3773"/>
            </a:avLst>
          </a:prstGeom>
          <a:solidFill>
            <a:srgbClr val="F3F5F3">
              <a:alpha val="68000"/>
            </a:srgbClr>
          </a:solidFill>
          <a:ln w="12700">
            <a:solidFill>
              <a:srgbClr val="F3F5F3">
                <a:alpha val="0"/>
              </a:srgbClr>
            </a:solidFill>
            <a:prstDash val="solid"/>
          </a:ln>
        </p:spPr>
      </p:sp>
      <p:sp>
        <p:nvSpPr>
          <p:cNvPr id="20" name="Shape 18"/>
          <p:cNvSpPr/>
          <p:nvPr/>
        </p:nvSpPr>
        <p:spPr>
          <a:xfrm>
            <a:off x="10284165" y="1145195"/>
            <a:ext cx="818022" cy="911291"/>
          </a:xfrm>
          <a:prstGeom prst="roundRect">
            <a:avLst>
              <a:gd name="adj" fmla="val 3353"/>
            </a:avLst>
          </a:prstGeom>
          <a:solidFill>
            <a:srgbClr val="E7F2EC">
              <a:alpha val="68000"/>
            </a:srgbClr>
          </a:solidFill>
          <a:ln w="12700">
            <a:solidFill>
              <a:srgbClr val="E7F2EC">
                <a:alpha val="0"/>
              </a:srgbClr>
            </a:solidFill>
            <a:prstDash val="solid"/>
          </a:ln>
        </p:spPr>
      </p:sp>
      <p:sp>
        <p:nvSpPr>
          <p:cNvPr id="21" name="Shape 19"/>
          <p:cNvSpPr/>
          <p:nvPr/>
        </p:nvSpPr>
        <p:spPr>
          <a:xfrm>
            <a:off x="7012076" y="2346442"/>
            <a:ext cx="1272479" cy="994136"/>
          </a:xfrm>
          <a:prstGeom prst="roundRect">
            <a:avLst>
              <a:gd name="adj" fmla="val 2759"/>
            </a:avLst>
          </a:prstGeom>
          <a:solidFill>
            <a:srgbClr val="F3F5F3">
              <a:alpha val="68000"/>
            </a:srgbClr>
          </a:solidFill>
          <a:ln w="12700">
            <a:solidFill>
              <a:srgbClr val="F3F5F3">
                <a:alpha val="0"/>
              </a:srgbClr>
            </a:solidFill>
            <a:prstDash val="solid"/>
          </a:ln>
        </p:spPr>
      </p:sp>
      <p:sp>
        <p:nvSpPr>
          <p:cNvPr id="22" name="Shape 20"/>
          <p:cNvSpPr/>
          <p:nvPr/>
        </p:nvSpPr>
        <p:spPr>
          <a:xfrm>
            <a:off x="8511784" y="2346442"/>
            <a:ext cx="954359" cy="994136"/>
          </a:xfrm>
          <a:prstGeom prst="roundRect">
            <a:avLst>
              <a:gd name="adj" fmla="val 2874"/>
            </a:avLst>
          </a:prstGeom>
          <a:solidFill>
            <a:srgbClr val="E7F2F8">
              <a:alpha val="68000"/>
            </a:srgbClr>
          </a:solidFill>
          <a:ln w="12700">
            <a:solidFill>
              <a:srgbClr val="E7F2F8">
                <a:alpha val="0"/>
              </a:srgbClr>
            </a:solidFill>
            <a:prstDash val="solid"/>
          </a:ln>
        </p:spPr>
      </p:sp>
      <p:sp>
        <p:nvSpPr>
          <p:cNvPr id="23" name="Shape 21"/>
          <p:cNvSpPr/>
          <p:nvPr/>
        </p:nvSpPr>
        <p:spPr>
          <a:xfrm>
            <a:off x="9693372" y="2346442"/>
            <a:ext cx="1408816" cy="994136"/>
          </a:xfrm>
          <a:prstGeom prst="roundRect">
            <a:avLst>
              <a:gd name="adj" fmla="val 2759"/>
            </a:avLst>
          </a:prstGeom>
          <a:solidFill>
            <a:srgbClr val="FFF3DA">
              <a:alpha val="68000"/>
            </a:srgbClr>
          </a:solidFill>
          <a:ln w="12700">
            <a:solidFill>
              <a:srgbClr val="FFF3DA">
                <a:alpha val="0"/>
              </a:srgbClr>
            </a:solidFill>
            <a:prstDash val="solid"/>
          </a:ln>
        </p:spPr>
      </p:sp>
      <p:sp>
        <p:nvSpPr>
          <p:cNvPr id="24" name="Shape 22"/>
          <p:cNvSpPr/>
          <p:nvPr/>
        </p:nvSpPr>
        <p:spPr>
          <a:xfrm>
            <a:off x="7012076" y="3630534"/>
            <a:ext cx="908914" cy="911291"/>
          </a:xfrm>
          <a:prstGeom prst="roundRect">
            <a:avLst>
              <a:gd name="adj" fmla="val 3018"/>
            </a:avLst>
          </a:prstGeom>
          <a:solidFill>
            <a:srgbClr val="E7F2EC">
              <a:alpha val="68000"/>
            </a:srgbClr>
          </a:solidFill>
          <a:ln w="12700">
            <a:solidFill>
              <a:srgbClr val="E7F2EC">
                <a:alpha val="0"/>
              </a:srgbClr>
            </a:solidFill>
            <a:prstDash val="solid"/>
          </a:ln>
        </p:spPr>
      </p:sp>
      <p:sp>
        <p:nvSpPr>
          <p:cNvPr id="25" name="Shape 23"/>
          <p:cNvSpPr/>
          <p:nvPr/>
        </p:nvSpPr>
        <p:spPr>
          <a:xfrm>
            <a:off x="8148218" y="3630534"/>
            <a:ext cx="1272479" cy="911291"/>
          </a:xfrm>
          <a:prstGeom prst="roundRect">
            <a:avLst>
              <a:gd name="adj" fmla="val 3010"/>
            </a:avLst>
          </a:prstGeom>
          <a:solidFill>
            <a:srgbClr val="F3F5F3">
              <a:alpha val="68000"/>
            </a:srgbClr>
          </a:solidFill>
          <a:ln w="12700">
            <a:solidFill>
              <a:srgbClr val="F3F5F3">
                <a:alpha val="0"/>
              </a:srgbClr>
            </a:solidFill>
            <a:prstDash val="solid"/>
          </a:ln>
        </p:spPr>
      </p:sp>
      <p:sp>
        <p:nvSpPr>
          <p:cNvPr id="26" name="Shape 24"/>
          <p:cNvSpPr/>
          <p:nvPr/>
        </p:nvSpPr>
        <p:spPr>
          <a:xfrm>
            <a:off x="9647926" y="3630534"/>
            <a:ext cx="1454262" cy="911291"/>
          </a:xfrm>
          <a:prstGeom prst="roundRect">
            <a:avLst>
              <a:gd name="adj" fmla="val 3010"/>
            </a:avLst>
          </a:prstGeom>
          <a:solidFill>
            <a:srgbClr val="E3F1F1">
              <a:alpha val="68000"/>
            </a:srgbClr>
          </a:solidFill>
          <a:ln w="12700">
            <a:solidFill>
              <a:srgbClr val="E3F1F1">
                <a:alpha val="0"/>
              </a:srgbClr>
            </a:solidFill>
            <a:prstDash val="solid"/>
          </a:ln>
        </p:spPr>
      </p:sp>
      <p:sp>
        <p:nvSpPr>
          <p:cNvPr id="27" name="Shape 25"/>
          <p:cNvSpPr/>
          <p:nvPr/>
        </p:nvSpPr>
        <p:spPr>
          <a:xfrm>
            <a:off x="6921185" y="2180753"/>
            <a:ext cx="4271894" cy="0"/>
          </a:xfrm>
          <a:prstGeom prst="line">
            <a:avLst/>
          </a:prstGeom>
          <a:noFill/>
          <a:ln w="13970">
            <a:solidFill>
              <a:srgbClr val="BCC7C9">
                <a:alpha val="82000"/>
              </a:srgbClr>
            </a:solidFill>
            <a:prstDash val="solid"/>
          </a:ln>
        </p:spPr>
      </p:sp>
      <p:sp>
        <p:nvSpPr>
          <p:cNvPr id="28" name="Shape 26"/>
          <p:cNvSpPr/>
          <p:nvPr/>
        </p:nvSpPr>
        <p:spPr>
          <a:xfrm>
            <a:off x="6875739" y="3506267"/>
            <a:ext cx="4362785" cy="0"/>
          </a:xfrm>
          <a:prstGeom prst="line">
            <a:avLst/>
          </a:prstGeom>
          <a:noFill/>
          <a:ln w="13970">
            <a:solidFill>
              <a:srgbClr val="BCC7C9">
                <a:alpha val="82000"/>
              </a:srgbClr>
            </a:solidFill>
            <a:prstDash val="solid"/>
          </a:ln>
        </p:spPr>
      </p:sp>
      <p:sp>
        <p:nvSpPr>
          <p:cNvPr id="29" name="Shape 27"/>
          <p:cNvSpPr/>
          <p:nvPr/>
        </p:nvSpPr>
        <p:spPr>
          <a:xfrm>
            <a:off x="7784653" y="896661"/>
            <a:ext cx="0" cy="3976543"/>
          </a:xfrm>
          <a:prstGeom prst="line">
            <a:avLst/>
          </a:prstGeom>
          <a:noFill/>
          <a:ln w="13970">
            <a:solidFill>
              <a:srgbClr val="BCC7C9">
                <a:alpha val="82000"/>
              </a:srgbClr>
            </a:solidFill>
            <a:prstDash val="solid"/>
          </a:ln>
        </p:spPr>
      </p:sp>
      <p:sp>
        <p:nvSpPr>
          <p:cNvPr id="30" name="Shape 28"/>
          <p:cNvSpPr/>
          <p:nvPr/>
        </p:nvSpPr>
        <p:spPr>
          <a:xfrm>
            <a:off x="9375252" y="896661"/>
            <a:ext cx="0" cy="3976543"/>
          </a:xfrm>
          <a:prstGeom prst="line">
            <a:avLst/>
          </a:prstGeom>
          <a:noFill/>
          <a:ln w="13970">
            <a:solidFill>
              <a:srgbClr val="BCC7C9">
                <a:alpha val="82000"/>
              </a:srgbClr>
            </a:solidFill>
            <a:prstDash val="solid"/>
          </a:ln>
        </p:spPr>
      </p:sp>
      <p:sp>
        <p:nvSpPr>
          <p:cNvPr id="31" name="Shape 29"/>
          <p:cNvSpPr/>
          <p:nvPr/>
        </p:nvSpPr>
        <p:spPr>
          <a:xfrm>
            <a:off x="10511394" y="896661"/>
            <a:ext cx="0" cy="3976543"/>
          </a:xfrm>
          <a:prstGeom prst="line">
            <a:avLst/>
          </a:prstGeom>
          <a:noFill/>
          <a:ln w="13970">
            <a:solidFill>
              <a:srgbClr val="BCC7C9">
                <a:alpha val="82000"/>
              </a:srgbClr>
            </a:solidFill>
            <a:prstDash val="solid"/>
          </a:ln>
        </p:spPr>
      </p:sp>
      <p:sp>
        <p:nvSpPr>
          <p:cNvPr id="32" name="Shape 30"/>
          <p:cNvSpPr/>
          <p:nvPr/>
        </p:nvSpPr>
        <p:spPr>
          <a:xfrm>
            <a:off x="6875739" y="896661"/>
            <a:ext cx="1999610" cy="3479475"/>
          </a:xfrm>
          <a:prstGeom prst="lineInv">
            <a:avLst/>
          </a:prstGeom>
          <a:noFill/>
          <a:ln w="13970">
            <a:solidFill>
              <a:srgbClr val="BCC7C9">
                <a:alpha val="82000"/>
              </a:srgbClr>
            </a:solidFill>
            <a:prstDash val="solid"/>
          </a:ln>
        </p:spPr>
      </p:sp>
      <p:sp>
        <p:nvSpPr>
          <p:cNvPr id="33" name="Shape 31"/>
          <p:cNvSpPr/>
          <p:nvPr/>
        </p:nvSpPr>
        <p:spPr>
          <a:xfrm>
            <a:off x="8602675" y="1186617"/>
            <a:ext cx="2499512" cy="3686586"/>
          </a:xfrm>
          <a:prstGeom prst="lineInv">
            <a:avLst/>
          </a:prstGeom>
          <a:noFill/>
          <a:ln w="13970">
            <a:solidFill>
              <a:srgbClr val="BCC7C9">
                <a:alpha val="82000"/>
              </a:srgbClr>
            </a:solidFill>
            <a:prstDash val="solid"/>
          </a:ln>
        </p:spPr>
      </p:sp>
      <p:sp>
        <p:nvSpPr>
          <p:cNvPr id="34" name="Shape 32"/>
          <p:cNvSpPr/>
          <p:nvPr/>
        </p:nvSpPr>
        <p:spPr>
          <a:xfrm>
            <a:off x="7284750" y="3382000"/>
            <a:ext cx="409011" cy="662757"/>
          </a:xfrm>
          <a:prstGeom prst="lineInv">
            <a:avLst/>
          </a:prstGeom>
          <a:noFill/>
          <a:ln w="40640">
            <a:solidFill>
              <a:srgbClr val="21C7F6"/>
            </a:solidFill>
            <a:prstDash val="solid"/>
          </a:ln>
        </p:spPr>
      </p:sp>
      <p:sp>
        <p:nvSpPr>
          <p:cNvPr id="35" name="Shape 33"/>
          <p:cNvSpPr/>
          <p:nvPr/>
        </p:nvSpPr>
        <p:spPr>
          <a:xfrm>
            <a:off x="7693762" y="3382000"/>
            <a:ext cx="727131" cy="165689"/>
          </a:xfrm>
          <a:prstGeom prst="line">
            <a:avLst/>
          </a:prstGeom>
          <a:noFill/>
          <a:ln w="40640">
            <a:solidFill>
              <a:srgbClr val="21C7F6"/>
            </a:solidFill>
            <a:prstDash val="solid"/>
          </a:ln>
        </p:spPr>
      </p:sp>
      <p:sp>
        <p:nvSpPr>
          <p:cNvPr id="36" name="Shape 34"/>
          <p:cNvSpPr/>
          <p:nvPr/>
        </p:nvSpPr>
        <p:spPr>
          <a:xfrm>
            <a:off x="8420892" y="2843510"/>
            <a:ext cx="409011" cy="704179"/>
          </a:xfrm>
          <a:prstGeom prst="lineInv">
            <a:avLst/>
          </a:prstGeom>
          <a:noFill/>
          <a:ln w="40640">
            <a:solidFill>
              <a:srgbClr val="21C7F6"/>
            </a:solidFill>
            <a:prstDash val="solid"/>
          </a:ln>
        </p:spPr>
      </p:sp>
      <p:sp>
        <p:nvSpPr>
          <p:cNvPr id="37" name="Shape 35"/>
          <p:cNvSpPr/>
          <p:nvPr/>
        </p:nvSpPr>
        <p:spPr>
          <a:xfrm>
            <a:off x="8829904" y="2760665"/>
            <a:ext cx="636240" cy="82845"/>
          </a:xfrm>
          <a:prstGeom prst="lineInv">
            <a:avLst/>
          </a:prstGeom>
          <a:noFill/>
          <a:ln w="40640">
            <a:solidFill>
              <a:srgbClr val="21C7F6"/>
            </a:solidFill>
            <a:prstDash val="solid"/>
          </a:ln>
        </p:spPr>
      </p:sp>
      <p:sp>
        <p:nvSpPr>
          <p:cNvPr id="38" name="Shape 36"/>
          <p:cNvSpPr/>
          <p:nvPr/>
        </p:nvSpPr>
        <p:spPr>
          <a:xfrm>
            <a:off x="9466143" y="2056486"/>
            <a:ext cx="409011" cy="704179"/>
          </a:xfrm>
          <a:prstGeom prst="lineInv">
            <a:avLst/>
          </a:prstGeom>
          <a:noFill/>
          <a:ln w="40640">
            <a:solidFill>
              <a:srgbClr val="21C7F6"/>
            </a:solidFill>
            <a:prstDash val="solid"/>
          </a:ln>
        </p:spPr>
      </p:sp>
      <p:sp>
        <p:nvSpPr>
          <p:cNvPr id="39" name="Shape 37"/>
          <p:cNvSpPr/>
          <p:nvPr/>
        </p:nvSpPr>
        <p:spPr>
          <a:xfrm>
            <a:off x="9875154" y="2056486"/>
            <a:ext cx="727131" cy="289956"/>
          </a:xfrm>
          <a:prstGeom prst="line">
            <a:avLst/>
          </a:prstGeom>
          <a:noFill/>
          <a:ln w="40640">
            <a:solidFill>
              <a:srgbClr val="21C7F6"/>
            </a:solidFill>
            <a:prstDash val="solid"/>
          </a:ln>
        </p:spPr>
      </p:sp>
      <p:sp>
        <p:nvSpPr>
          <p:cNvPr id="40" name="Shape 38"/>
          <p:cNvSpPr/>
          <p:nvPr/>
        </p:nvSpPr>
        <p:spPr>
          <a:xfrm>
            <a:off x="10238720" y="2346442"/>
            <a:ext cx="363565" cy="994136"/>
          </a:xfrm>
          <a:prstGeom prst="lineInv">
            <a:avLst/>
          </a:prstGeom>
          <a:noFill/>
          <a:ln w="40640">
            <a:solidFill>
              <a:srgbClr val="21C7F6"/>
            </a:solidFill>
            <a:prstDash val="solid"/>
          </a:ln>
        </p:spPr>
      </p:sp>
      <p:sp>
        <p:nvSpPr>
          <p:cNvPr id="41" name="Shape 39"/>
          <p:cNvSpPr/>
          <p:nvPr/>
        </p:nvSpPr>
        <p:spPr>
          <a:xfrm>
            <a:off x="9375252" y="3340578"/>
            <a:ext cx="863468" cy="455646"/>
          </a:xfrm>
          <a:prstGeom prst="lineInv">
            <a:avLst/>
          </a:prstGeom>
          <a:noFill/>
          <a:ln w="40640">
            <a:solidFill>
              <a:srgbClr val="21C7F6"/>
            </a:solidFill>
            <a:prstDash val="solid"/>
          </a:ln>
        </p:spPr>
      </p:sp>
      <p:sp>
        <p:nvSpPr>
          <p:cNvPr id="42" name="Shape 40"/>
          <p:cNvSpPr/>
          <p:nvPr/>
        </p:nvSpPr>
        <p:spPr>
          <a:xfrm>
            <a:off x="8420892" y="3547689"/>
            <a:ext cx="954359" cy="248534"/>
          </a:xfrm>
          <a:prstGeom prst="line">
            <a:avLst/>
          </a:prstGeom>
          <a:noFill/>
          <a:ln w="40640">
            <a:solidFill>
              <a:srgbClr val="21C7F6"/>
            </a:solidFill>
            <a:prstDash val="solid"/>
          </a:ln>
        </p:spPr>
      </p:sp>
      <p:sp>
        <p:nvSpPr>
          <p:cNvPr id="43" name="Shape 41"/>
          <p:cNvSpPr/>
          <p:nvPr/>
        </p:nvSpPr>
        <p:spPr>
          <a:xfrm>
            <a:off x="7284750" y="3547689"/>
            <a:ext cx="1136142" cy="497068"/>
          </a:xfrm>
          <a:prstGeom prst="lineInv">
            <a:avLst/>
          </a:prstGeom>
          <a:noFill/>
          <a:ln w="40640">
            <a:solidFill>
              <a:srgbClr val="21C7F6"/>
            </a:solidFill>
            <a:prstDash val="solid"/>
          </a:ln>
        </p:spPr>
      </p:sp>
      <p:sp>
        <p:nvSpPr>
          <p:cNvPr id="44" name="Shape 42"/>
          <p:cNvSpPr/>
          <p:nvPr/>
        </p:nvSpPr>
        <p:spPr>
          <a:xfrm>
            <a:off x="7579462" y="3267700"/>
            <a:ext cx="228600" cy="228600"/>
          </a:xfrm>
          <a:prstGeom prst="ellipse">
            <a:avLst/>
          </a:prstGeom>
          <a:solidFill>
            <a:srgbClr val="C64045"/>
          </a:solidFill>
          <a:ln w="16510">
            <a:solidFill>
              <a:srgbClr val="FFFFFF"/>
            </a:solidFill>
            <a:prstDash val="solid"/>
          </a:ln>
        </p:spPr>
      </p:sp>
      <p:sp>
        <p:nvSpPr>
          <p:cNvPr id="45" name="Shape 43"/>
          <p:cNvSpPr/>
          <p:nvPr/>
        </p:nvSpPr>
        <p:spPr>
          <a:xfrm>
            <a:off x="8715604" y="2729210"/>
            <a:ext cx="228600" cy="228600"/>
          </a:xfrm>
          <a:prstGeom prst="ellipse">
            <a:avLst/>
          </a:prstGeom>
          <a:solidFill>
            <a:srgbClr val="C64045"/>
          </a:solidFill>
          <a:ln w="16510">
            <a:solidFill>
              <a:srgbClr val="FFFFFF"/>
            </a:solidFill>
            <a:prstDash val="solid"/>
          </a:ln>
        </p:spPr>
      </p:sp>
      <p:sp>
        <p:nvSpPr>
          <p:cNvPr id="46" name="Shape 44"/>
          <p:cNvSpPr/>
          <p:nvPr/>
        </p:nvSpPr>
        <p:spPr>
          <a:xfrm>
            <a:off x="9760854" y="1942186"/>
            <a:ext cx="228600" cy="228600"/>
          </a:xfrm>
          <a:prstGeom prst="ellipse">
            <a:avLst/>
          </a:prstGeom>
          <a:solidFill>
            <a:srgbClr val="C64045"/>
          </a:solidFill>
          <a:ln w="16510">
            <a:solidFill>
              <a:srgbClr val="FFFFFF"/>
            </a:solidFill>
            <a:prstDash val="solid"/>
          </a:ln>
        </p:spPr>
      </p:sp>
      <p:sp>
        <p:nvSpPr>
          <p:cNvPr id="47" name="Shape 45"/>
          <p:cNvSpPr/>
          <p:nvPr/>
        </p:nvSpPr>
        <p:spPr>
          <a:xfrm>
            <a:off x="10487985" y="2232142"/>
            <a:ext cx="228600" cy="228600"/>
          </a:xfrm>
          <a:prstGeom prst="ellipse">
            <a:avLst/>
          </a:prstGeom>
          <a:solidFill>
            <a:srgbClr val="C64045"/>
          </a:solidFill>
          <a:ln w="16510">
            <a:solidFill>
              <a:srgbClr val="FFFFFF"/>
            </a:solidFill>
            <a:prstDash val="solid"/>
          </a:ln>
        </p:spPr>
      </p:sp>
      <p:sp>
        <p:nvSpPr>
          <p:cNvPr id="48" name="Shape 46"/>
          <p:cNvSpPr/>
          <p:nvPr/>
        </p:nvSpPr>
        <p:spPr>
          <a:xfrm>
            <a:off x="10124420" y="3226278"/>
            <a:ext cx="228600" cy="228600"/>
          </a:xfrm>
          <a:prstGeom prst="ellipse">
            <a:avLst/>
          </a:prstGeom>
          <a:solidFill>
            <a:srgbClr val="C64045"/>
          </a:solidFill>
          <a:ln w="16510">
            <a:solidFill>
              <a:srgbClr val="FFFFFF"/>
            </a:solidFill>
            <a:prstDash val="solid"/>
          </a:ln>
        </p:spPr>
      </p:sp>
      <p:sp>
        <p:nvSpPr>
          <p:cNvPr id="49" name="Shape 47"/>
          <p:cNvSpPr/>
          <p:nvPr/>
        </p:nvSpPr>
        <p:spPr>
          <a:xfrm>
            <a:off x="9260952" y="3681923"/>
            <a:ext cx="228600" cy="228600"/>
          </a:xfrm>
          <a:prstGeom prst="ellipse">
            <a:avLst/>
          </a:prstGeom>
          <a:solidFill>
            <a:srgbClr val="C64045"/>
          </a:solidFill>
          <a:ln w="16510">
            <a:solidFill>
              <a:srgbClr val="FFFFFF"/>
            </a:solidFill>
            <a:prstDash val="solid"/>
          </a:ln>
        </p:spPr>
      </p:sp>
      <p:sp>
        <p:nvSpPr>
          <p:cNvPr id="50" name="Shape 48"/>
          <p:cNvSpPr/>
          <p:nvPr/>
        </p:nvSpPr>
        <p:spPr>
          <a:xfrm>
            <a:off x="7138446" y="3898453"/>
            <a:ext cx="292608" cy="292608"/>
          </a:xfrm>
          <a:prstGeom prst="ellipse">
            <a:avLst/>
          </a:prstGeom>
          <a:solidFill>
            <a:srgbClr val="2F7D5B"/>
          </a:solidFill>
          <a:ln w="19050">
            <a:solidFill>
              <a:srgbClr val="FFFFFF"/>
            </a:solidFill>
            <a:prstDash val="solid"/>
          </a:ln>
        </p:spPr>
      </p:sp>
      <p:sp>
        <p:nvSpPr>
          <p:cNvPr id="51" name="Text 49"/>
          <p:cNvSpPr/>
          <p:nvPr/>
        </p:nvSpPr>
        <p:spPr>
          <a:xfrm>
            <a:off x="7138446" y="3898453"/>
            <a:ext cx="292608" cy="292608"/>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52" name="Shape 50"/>
          <p:cNvSpPr/>
          <p:nvPr/>
        </p:nvSpPr>
        <p:spPr>
          <a:xfrm>
            <a:off x="6949440" y="960120"/>
            <a:ext cx="1737360" cy="292608"/>
          </a:xfrm>
          <a:prstGeom prst="roundRect">
            <a:avLst>
              <a:gd name="adj" fmla="val 21875"/>
            </a:avLst>
          </a:prstGeom>
          <a:solidFill>
            <a:srgbClr val="FFFFFF"/>
          </a:solidFill>
          <a:ln w="12700">
            <a:solidFill>
              <a:srgbClr val="FFFFFF"/>
            </a:solidFill>
            <a:prstDash val="solid"/>
          </a:ln>
        </p:spPr>
      </p:sp>
      <p:sp>
        <p:nvSpPr>
          <p:cNvPr id="53" name="Text 51"/>
          <p:cNvSpPr/>
          <p:nvPr/>
        </p:nvSpPr>
        <p:spPr>
          <a:xfrm>
            <a:off x="7022592" y="969264"/>
            <a:ext cx="1591056" cy="265176"/>
          </a:xfrm>
          <a:prstGeom prst="rect">
            <a:avLst/>
          </a:prstGeom>
          <a:noFill/>
          <a:ln/>
        </p:spPr>
        <p:txBody>
          <a:bodyPr wrap="square" lIns="0" tIns="0" rIns="0" bIns="0" rtlCol="0" anchor="ctr">
            <a:normAutofit/>
          </a:bodyPr>
          <a:lstStyle/>
          <a:p>
            <a:pPr algn="ctr" indent="0" marL="0">
              <a:buNone/>
            </a:pPr>
            <a:r>
              <a:rPr lang="en-US" sz="1050" b="1" dirty="0">
                <a:solidFill>
                  <a:srgbClr val="00527F"/>
                </a:solidFill>
                <a:latin typeface="Calibri" pitchFamily="34" charset="0"/>
                <a:ea typeface="Calibri" pitchFamily="34" charset="-122"/>
                <a:cs typeface="Calibri" pitchFamily="34" charset="-120"/>
              </a:rPr>
              <a:t>ROUTE DECISION VIEW</a:t>
            </a:r>
            <a:endParaRPr lang="en-US" sz="1050" dirty="0"/>
          </a:p>
        </p:txBody>
      </p:sp>
      <p:sp>
        <p:nvSpPr>
          <p:cNvPr id="54" name="Text 52"/>
          <p:cNvSpPr/>
          <p:nvPr/>
        </p:nvSpPr>
        <p:spPr>
          <a:xfrm>
            <a:off x="10030968" y="4645152"/>
            <a:ext cx="1078992" cy="182880"/>
          </a:xfrm>
          <a:prstGeom prst="rect">
            <a:avLst/>
          </a:prstGeom>
          <a:noFill/>
          <a:ln/>
        </p:spPr>
        <p:txBody>
          <a:bodyPr wrap="square" lIns="0" tIns="0" rIns="0" bIns="0" rtlCol="0" anchor="ctr">
            <a:normAutofit/>
          </a:bodyPr>
          <a:lstStyle/>
          <a:p>
            <a:pPr algn="r" indent="0" marL="0">
              <a:buNone/>
            </a:pPr>
            <a:r>
              <a:rPr lang="en-US" sz="850" b="1" dirty="0">
                <a:solidFill>
                  <a:srgbClr val="5F6B70"/>
                </a:solidFill>
                <a:latin typeface="Calibri" pitchFamily="34" charset="0"/>
                <a:ea typeface="Calibri" pitchFamily="34" charset="-122"/>
                <a:cs typeface="Calibri" pitchFamily="34" charset="-120"/>
              </a:rPr>
              <a:t>No live map tiles</a:t>
            </a:r>
            <a:endParaRPr lang="en-US" sz="850" dirty="0"/>
          </a:p>
        </p:txBody>
      </p:sp>
      <p:sp>
        <p:nvSpPr>
          <p:cNvPr id="55" name="Text 53"/>
          <p:cNvSpPr/>
          <p:nvPr/>
        </p:nvSpPr>
        <p:spPr>
          <a:xfrm>
            <a:off x="6903720" y="5138928"/>
            <a:ext cx="4297680" cy="594360"/>
          </a:xfrm>
          <a:prstGeom prst="rect">
            <a:avLst/>
          </a:prstGeom>
          <a:noFill/>
          <a:ln/>
        </p:spPr>
        <p:txBody>
          <a:bodyPr wrap="square" lIns="0" tIns="0" rIns="0" bIns="0" rtlCol="0" anchor="ctr">
            <a:normAutofit/>
          </a:bodyPr>
          <a:lstStyle/>
          <a:p>
            <a:pPr algn="ctr" indent="0" marL="0">
              <a:buNone/>
            </a:pPr>
            <a:r>
              <a:rPr lang="en-US" sz="1450" b="1" dirty="0">
                <a:solidFill>
                  <a:srgbClr val="D8E4E9"/>
                </a:solidFill>
                <a:latin typeface="Calibri" pitchFamily="34" charset="0"/>
                <a:ea typeface="Calibri" pitchFamily="34" charset="-122"/>
                <a:cs typeface="Calibri" pitchFamily="34" charset="-120"/>
              </a:rPr>
              <a:t>The output is a capacity-feasible route proposal — not an automatic truck command.</a:t>
            </a:r>
            <a:endParaRPr lang="en-US" sz="1450" dirty="0"/>
          </a:p>
        </p:txBody>
      </p:sp>
      <p:sp>
        <p:nvSpPr>
          <p:cNvPr id="56" name="Text 54"/>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9FB4BE"/>
                </a:solidFill>
                <a:latin typeface="Calibri" pitchFamily="34" charset="0"/>
                <a:ea typeface="Calibri" pitchFamily="34" charset="-122"/>
                <a:cs typeface="Calibri" pitchFamily="34" charset="-120"/>
              </a:rPr>
              <a:t>BinSight  |  routing decision support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SCOPE</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We start with an already-received snapshot</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The routing engine owns the decisions after this point — not sensor acquisition or transmission.</a:t>
            </a:r>
            <a:endParaRPr lang="en-US" sz="1400" dirty="0"/>
          </a:p>
        </p:txBody>
      </p:sp>
      <p:sp>
        <p:nvSpPr>
          <p:cNvPr id="5" name="Shape 3"/>
          <p:cNvSpPr/>
          <p:nvPr/>
        </p:nvSpPr>
        <p:spPr>
          <a:xfrm>
            <a:off x="594360" y="1783080"/>
            <a:ext cx="2926080" cy="3977640"/>
          </a:xfrm>
          <a:prstGeom prst="roundRect">
            <a:avLst>
              <a:gd name="adj" fmla="val 2500"/>
            </a:avLst>
          </a:prstGeom>
          <a:solidFill>
            <a:srgbClr val="E7F2F8"/>
          </a:solidFill>
          <a:ln w="12700">
            <a:solidFill>
              <a:srgbClr val="B9D8E8"/>
            </a:solidFill>
            <a:prstDash val="solid"/>
          </a:ln>
          <a:effectLst>
            <a:outerShdw sx="100000" sy="100000" kx="0" ky="0" algn="bl" rotWithShape="0" blurRad="19050" dist="50800" dir="2700000">
              <a:srgbClr val="000000">
                <a:alpha val="10000"/>
              </a:srgbClr>
            </a:outerShdw>
          </a:effectLst>
        </p:spPr>
      </p:sp>
      <p:sp>
        <p:nvSpPr>
          <p:cNvPr id="6" name="Text 4"/>
          <p:cNvSpPr/>
          <p:nvPr/>
        </p:nvSpPr>
        <p:spPr>
          <a:xfrm>
            <a:off x="868680" y="2048256"/>
            <a:ext cx="2331720" cy="274320"/>
          </a:xfrm>
          <a:prstGeom prst="rect">
            <a:avLst/>
          </a:prstGeom>
          <a:noFill/>
          <a:ln/>
        </p:spPr>
        <p:txBody>
          <a:bodyPr wrap="square" lIns="0" tIns="0" rIns="0" bIns="0" rtlCol="0" anchor="ctr">
            <a:normAutofit/>
          </a:bodyPr>
          <a:lstStyle/>
          <a:p>
            <a:pPr indent="0" marL="0">
              <a:buNone/>
            </a:pPr>
            <a:r>
              <a:rPr lang="en-US" sz="1200" b="1" spc="100" kern="0" dirty="0">
                <a:solidFill>
                  <a:srgbClr val="00527F"/>
                </a:solidFill>
                <a:latin typeface="Calibri" pitchFamily="34" charset="0"/>
                <a:ea typeface="Calibri" pitchFamily="34" charset="-122"/>
                <a:cs typeface="Calibri" pitchFamily="34" charset="-120"/>
              </a:rPr>
              <a:t>GIVEN TO ROUTING</a:t>
            </a:r>
            <a:endParaRPr lang="en-US" sz="1200" dirty="0"/>
          </a:p>
        </p:txBody>
      </p:sp>
      <p:sp>
        <p:nvSpPr>
          <p:cNvPr id="7" name="Text 5"/>
          <p:cNvSpPr/>
          <p:nvPr/>
        </p:nvSpPr>
        <p:spPr>
          <a:xfrm>
            <a:off x="868680" y="2450592"/>
            <a:ext cx="2331720" cy="749808"/>
          </a:xfrm>
          <a:prstGeom prst="rect">
            <a:avLst/>
          </a:prstGeom>
          <a:noFill/>
          <a:ln/>
        </p:spPr>
        <p:txBody>
          <a:bodyPr wrap="square" lIns="0" tIns="0" rIns="0" bIns="0" rtlCol="0" anchor="t">
            <a:normAutofit/>
          </a:bodyPr>
          <a:lstStyle/>
          <a:p>
            <a:pPr indent="0" marL="0">
              <a:buNone/>
            </a:pPr>
            <a:r>
              <a:rPr lang="en-US" sz="2300" b="1" dirty="0">
                <a:solidFill>
                  <a:srgbClr val="172126"/>
                </a:solidFill>
                <a:latin typeface="Calibri" pitchFamily="34" charset="0"/>
                <a:ea typeface="Calibri" pitchFamily="34" charset="-122"/>
                <a:cs typeface="Calibri" pitchFamily="34" charset="-120"/>
              </a:rPr>
              <a:t>A complete record</a:t>
            </a:r>
            <a:endParaRPr lang="en-US" sz="2300" dirty="0"/>
          </a:p>
          <a:p>
            <a:pPr indent="0" marL="0">
              <a:buNone/>
            </a:pPr>
            <a:r>
              <a:rPr lang="en-US" sz="2300" b="1" dirty="0">
                <a:solidFill>
                  <a:srgbClr val="172126"/>
                </a:solidFill>
                <a:latin typeface="Calibri" pitchFamily="34" charset="0"/>
                <a:ea typeface="Calibri" pitchFamily="34" charset="-122"/>
                <a:cs typeface="Calibri" pitchFamily="34" charset="-120"/>
              </a:rPr>
              <a:t>for every bin</a:t>
            </a:r>
            <a:endParaRPr lang="en-US" sz="2300" dirty="0"/>
          </a:p>
        </p:txBody>
      </p:sp>
      <p:sp>
        <p:nvSpPr>
          <p:cNvPr id="8" name="Text 6"/>
          <p:cNvSpPr/>
          <p:nvPr/>
        </p:nvSpPr>
        <p:spPr>
          <a:xfrm>
            <a:off x="896112" y="3273552"/>
            <a:ext cx="2267712" cy="1965960"/>
          </a:xfrm>
          <a:prstGeom prst="rect">
            <a:avLst/>
          </a:prstGeom>
          <a:noFill/>
          <a:ln/>
        </p:spPr>
        <p:txBody>
          <a:bodyPr wrap="square" lIns="0" tIns="0" rIns="0" bIns="0" rtlCol="0" anchor="t">
            <a:normAutofit/>
          </a:bodyPr>
          <a:lstStyle/>
          <a:p>
            <a:pPr marL="203200" indent="-203200">
              <a:buSzPct val="100000"/>
              <a:buChar char="•"/>
            </a:pPr>
            <a:r>
              <a:rPr lang="en-US" sz="1320" dirty="0">
                <a:solidFill>
                  <a:srgbClr val="172126"/>
                </a:solidFill>
                <a:latin typeface="Calibri" pitchFamily="34" charset="0"/>
                <a:ea typeface="Calibri" pitchFamily="34" charset="-122"/>
                <a:cs typeface="Calibri" pitchFamily="34" charset="-120"/>
              </a:rPr>
              <a:t>Material: general, plastic cups or glass bottles</a:t>
            </a:r>
            <a:endParaRPr lang="en-US" sz="1320" dirty="0"/>
          </a:p>
          <a:p>
            <a:pPr marL="203200" indent="-203200">
              <a:buSzPct val="100000"/>
              <a:buChar char="•"/>
            </a:pPr>
            <a:r>
              <a:rPr lang="en-US" sz="1320" dirty="0">
                <a:solidFill>
                  <a:srgbClr val="172126"/>
                </a:solidFill>
                <a:latin typeface="Calibri" pitchFamily="34" charset="0"/>
                <a:ea typeface="Calibri" pitchFamily="34" charset="-122"/>
                <a:cs typeface="Calibri" pitchFamily="34" charset="-120"/>
              </a:rPr>
              <a:t>Current fill estimate</a:t>
            </a:r>
            <a:endParaRPr lang="en-US" sz="1320" dirty="0"/>
          </a:p>
          <a:p>
            <a:pPr marL="203200" indent="-203200">
              <a:buSzPct val="100000"/>
              <a:buChar char="•"/>
            </a:pPr>
            <a:r>
              <a:rPr lang="en-US" sz="1320" dirty="0">
                <a:solidFill>
                  <a:srgbClr val="172126"/>
                </a:solidFill>
                <a:latin typeface="Calibri" pitchFamily="34" charset="0"/>
                <a:ea typeface="Calibri" pitchFamily="34" charset="-122"/>
                <a:cs typeface="Calibri" pitchFamily="34" charset="-120"/>
              </a:rPr>
              <a:t>Time-to-overflow and probability</a:t>
            </a:r>
            <a:endParaRPr lang="en-US" sz="1320" dirty="0"/>
          </a:p>
          <a:p>
            <a:pPr marL="203200" indent="-203200">
              <a:buSzPct val="100000"/>
              <a:buChar char="•"/>
            </a:pPr>
            <a:r>
              <a:rPr lang="en-US" sz="1320" dirty="0">
                <a:solidFill>
                  <a:srgbClr val="172126"/>
                </a:solidFill>
                <a:latin typeface="Calibri" pitchFamily="34" charset="0"/>
                <a:ea typeface="Calibri" pitchFamily="34" charset="-122"/>
                <a:cs typeface="Calibri" pitchFamily="34" charset="-120"/>
              </a:rPr>
              <a:t>Risk and confidence</a:t>
            </a:r>
            <a:endParaRPr lang="en-US" sz="1320" dirty="0"/>
          </a:p>
          <a:p>
            <a:pPr marL="203200" indent="-203200">
              <a:buSzPct val="100000"/>
              <a:buChar char="•"/>
            </a:pPr>
            <a:r>
              <a:rPr lang="en-US" sz="1320" dirty="0">
                <a:solidFill>
                  <a:srgbClr val="172126"/>
                </a:solidFill>
                <a:latin typeface="Calibri" pitchFamily="34" charset="0"/>
                <a:ea typeface="Calibri" pitchFamily="34" charset="-122"/>
                <a:cs typeface="Calibri" pitchFamily="34" charset="-120"/>
              </a:rPr>
              <a:t>Observation age and quality</a:t>
            </a:r>
            <a:endParaRPr lang="en-US" sz="1320" dirty="0"/>
          </a:p>
        </p:txBody>
      </p:sp>
      <p:sp>
        <p:nvSpPr>
          <p:cNvPr id="9" name="Text 7"/>
          <p:cNvSpPr/>
          <p:nvPr/>
        </p:nvSpPr>
        <p:spPr>
          <a:xfrm>
            <a:off x="896112" y="5285232"/>
            <a:ext cx="2258568" cy="329184"/>
          </a:xfrm>
          <a:prstGeom prst="rect">
            <a:avLst/>
          </a:prstGeom>
          <a:noFill/>
          <a:ln/>
        </p:spPr>
        <p:txBody>
          <a:bodyPr wrap="square" lIns="0" tIns="0" rIns="0" bIns="0" rtlCol="0" anchor="ctr">
            <a:normAutofit/>
          </a:bodyPr>
          <a:lstStyle/>
          <a:p>
            <a:pPr indent="0" marL="0">
              <a:buNone/>
            </a:pPr>
            <a:r>
              <a:rPr lang="en-US" sz="1150" b="1" dirty="0">
                <a:solidFill>
                  <a:srgbClr val="C64045"/>
                </a:solidFill>
                <a:latin typeface="Calibri" pitchFamily="34" charset="0"/>
                <a:ea typeface="Calibri" pitchFamily="34" charset="-122"/>
                <a:cs typeface="Calibri" pitchFamily="34" charset="-120"/>
              </a:rPr>
              <a:t>Missing evidence stays null — never a reassuring zero.</a:t>
            </a:r>
            <a:endParaRPr lang="en-US" sz="1150" dirty="0"/>
          </a:p>
        </p:txBody>
      </p:sp>
      <p:sp>
        <p:nvSpPr>
          <p:cNvPr id="10" name="Shape 8"/>
          <p:cNvSpPr/>
          <p:nvPr/>
        </p:nvSpPr>
        <p:spPr>
          <a:xfrm>
            <a:off x="3639312" y="3730752"/>
            <a:ext cx="731520" cy="0"/>
          </a:xfrm>
          <a:prstGeom prst="line">
            <a:avLst/>
          </a:prstGeom>
          <a:noFill/>
          <a:ln w="38100">
            <a:solidFill>
              <a:srgbClr val="006DAE"/>
            </a:solidFill>
            <a:prstDash val="solid"/>
            <a:tailEnd type="triangle"/>
          </a:ln>
        </p:spPr>
      </p:sp>
      <p:sp>
        <p:nvSpPr>
          <p:cNvPr id="11" name="Shape 9"/>
          <p:cNvSpPr/>
          <p:nvPr/>
        </p:nvSpPr>
        <p:spPr>
          <a:xfrm>
            <a:off x="4526280" y="1783080"/>
            <a:ext cx="7059168" cy="3977640"/>
          </a:xfrm>
          <a:prstGeom prst="roundRect">
            <a:avLst>
              <a:gd name="adj" fmla="val 1839"/>
            </a:avLst>
          </a:prstGeom>
          <a:solidFill>
            <a:srgbClr val="FFFFFF"/>
          </a:solidFill>
          <a:ln w="12700">
            <a:solidFill>
              <a:srgbClr val="D7DDDC"/>
            </a:solidFill>
            <a:prstDash val="solid"/>
          </a:ln>
          <a:effectLst>
            <a:outerShdw sx="100000" sy="100000" kx="0" ky="0" algn="bl" rotWithShape="0" blurRad="19050" dist="50800" dir="2700000">
              <a:srgbClr val="000000">
                <a:alpha val="10000"/>
              </a:srgbClr>
            </a:outerShdw>
          </a:effectLst>
        </p:spPr>
      </p:sp>
      <p:sp>
        <p:nvSpPr>
          <p:cNvPr id="12" name="Text 10"/>
          <p:cNvSpPr/>
          <p:nvPr/>
        </p:nvSpPr>
        <p:spPr>
          <a:xfrm>
            <a:off x="4828032" y="2048256"/>
            <a:ext cx="1920240" cy="274320"/>
          </a:xfrm>
          <a:prstGeom prst="rect">
            <a:avLst/>
          </a:prstGeom>
          <a:noFill/>
          <a:ln/>
        </p:spPr>
        <p:txBody>
          <a:bodyPr wrap="square" lIns="0" tIns="0" rIns="0" bIns="0" rtlCol="0" anchor="ctr">
            <a:normAutofit/>
          </a:bodyPr>
          <a:lstStyle/>
          <a:p>
            <a:pPr indent="0" marL="0">
              <a:buNone/>
            </a:pPr>
            <a:r>
              <a:rPr lang="en-US" sz="1200" b="1" spc="100" kern="0" dirty="0">
                <a:solidFill>
                  <a:srgbClr val="006DAE"/>
                </a:solidFill>
                <a:latin typeface="Calibri" pitchFamily="34" charset="0"/>
                <a:ea typeface="Calibri" pitchFamily="34" charset="-122"/>
                <a:cs typeface="Calibri" pitchFamily="34" charset="-120"/>
              </a:rPr>
              <a:t>WHAT WE DO</a:t>
            </a:r>
            <a:endParaRPr lang="en-US" sz="1200" dirty="0"/>
          </a:p>
        </p:txBody>
      </p:sp>
      <p:sp>
        <p:nvSpPr>
          <p:cNvPr id="13" name="Shape 11"/>
          <p:cNvSpPr/>
          <p:nvPr/>
        </p:nvSpPr>
        <p:spPr>
          <a:xfrm>
            <a:off x="4828032" y="2542032"/>
            <a:ext cx="384048" cy="384048"/>
          </a:xfrm>
          <a:prstGeom prst="ellipse">
            <a:avLst/>
          </a:prstGeom>
          <a:solidFill>
            <a:srgbClr val="006DAE"/>
          </a:solidFill>
          <a:ln w="12700">
            <a:solidFill>
              <a:srgbClr val="006DAE"/>
            </a:solidFill>
            <a:prstDash val="solid"/>
          </a:ln>
        </p:spPr>
      </p:sp>
      <p:sp>
        <p:nvSpPr>
          <p:cNvPr id="14" name="Text 12"/>
          <p:cNvSpPr/>
          <p:nvPr/>
        </p:nvSpPr>
        <p:spPr>
          <a:xfrm>
            <a:off x="4828032" y="2546604"/>
            <a:ext cx="384048" cy="37490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3"/>
          <p:cNvSpPr/>
          <p:nvPr/>
        </p:nvSpPr>
        <p:spPr>
          <a:xfrm>
            <a:off x="5376672" y="2532888"/>
            <a:ext cx="1115568" cy="274320"/>
          </a:xfrm>
          <a:prstGeom prst="rect">
            <a:avLst/>
          </a:prstGeom>
          <a:noFill/>
          <a:ln/>
        </p:spPr>
        <p:txBody>
          <a:bodyPr wrap="square" lIns="0" tIns="0" rIns="0" bIns="0" rtlCol="0" anchor="ctr">
            <a:normAutofit/>
          </a:bodyPr>
          <a:lstStyle/>
          <a:p>
            <a:pPr indent="0" marL="0">
              <a:buNone/>
            </a:pPr>
            <a:r>
              <a:rPr lang="en-US" sz="1500" b="1" dirty="0">
                <a:solidFill>
                  <a:srgbClr val="172126"/>
                </a:solidFill>
                <a:latin typeface="Calibri" pitchFamily="34" charset="0"/>
                <a:ea typeface="Calibri" pitchFamily="34" charset="-122"/>
                <a:cs typeface="Calibri" pitchFamily="34" charset="-120"/>
              </a:rPr>
              <a:t>Validate</a:t>
            </a:r>
            <a:endParaRPr lang="en-US" sz="1500" dirty="0"/>
          </a:p>
        </p:txBody>
      </p:sp>
      <p:sp>
        <p:nvSpPr>
          <p:cNvPr id="16" name="Text 14"/>
          <p:cNvSpPr/>
          <p:nvPr/>
        </p:nvSpPr>
        <p:spPr>
          <a:xfrm>
            <a:off x="6510528" y="2532888"/>
            <a:ext cx="4498848" cy="310896"/>
          </a:xfrm>
          <a:prstGeom prst="rect">
            <a:avLst/>
          </a:prstGeom>
          <a:noFill/>
          <a:ln/>
        </p:spPr>
        <p:txBody>
          <a:bodyPr wrap="square" lIns="0" tIns="0" rIns="0" bIns="0" rtlCol="0" anchor="ctr">
            <a:normAutofit/>
          </a:bodyPr>
          <a:lstStyle/>
          <a:p>
            <a:pPr indent="0" marL="0">
              <a:buNone/>
            </a:pPr>
            <a:r>
              <a:rPr lang="en-US" sz="1350" dirty="0">
                <a:solidFill>
                  <a:srgbClr val="5F6B70"/>
                </a:solidFill>
                <a:latin typeface="Calibri" pitchFamily="34" charset="0"/>
                <a:ea typeface="Calibri" pitchFamily="34" charset="-122"/>
                <a:cs typeface="Calibri" pitchFamily="34" charset="-120"/>
              </a:rPr>
              <a:t>Can this evidence be trusted and compared?</a:t>
            </a:r>
            <a:endParaRPr lang="en-US" sz="1350" dirty="0"/>
          </a:p>
        </p:txBody>
      </p:sp>
      <p:sp>
        <p:nvSpPr>
          <p:cNvPr id="17" name="Shape 15"/>
          <p:cNvSpPr/>
          <p:nvPr/>
        </p:nvSpPr>
        <p:spPr>
          <a:xfrm>
            <a:off x="4828032" y="3090672"/>
            <a:ext cx="384048" cy="384048"/>
          </a:xfrm>
          <a:prstGeom prst="ellipse">
            <a:avLst/>
          </a:prstGeom>
          <a:solidFill>
            <a:srgbClr val="C64045"/>
          </a:solidFill>
          <a:ln w="12700">
            <a:solidFill>
              <a:srgbClr val="C64045"/>
            </a:solidFill>
            <a:prstDash val="solid"/>
          </a:ln>
        </p:spPr>
      </p:sp>
      <p:sp>
        <p:nvSpPr>
          <p:cNvPr id="18" name="Text 16"/>
          <p:cNvSpPr/>
          <p:nvPr/>
        </p:nvSpPr>
        <p:spPr>
          <a:xfrm>
            <a:off x="4828032" y="3095244"/>
            <a:ext cx="384048" cy="37490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p:nvPr/>
        </p:nvSpPr>
        <p:spPr>
          <a:xfrm>
            <a:off x="5376672" y="3081528"/>
            <a:ext cx="1115568" cy="274320"/>
          </a:xfrm>
          <a:prstGeom prst="rect">
            <a:avLst/>
          </a:prstGeom>
          <a:noFill/>
          <a:ln/>
        </p:spPr>
        <p:txBody>
          <a:bodyPr wrap="square" lIns="0" tIns="0" rIns="0" bIns="0" rtlCol="0" anchor="ctr">
            <a:normAutofit/>
          </a:bodyPr>
          <a:lstStyle/>
          <a:p>
            <a:pPr indent="0" marL="0">
              <a:buNone/>
            </a:pPr>
            <a:r>
              <a:rPr lang="en-US" sz="1500" b="1" dirty="0">
                <a:solidFill>
                  <a:srgbClr val="172126"/>
                </a:solidFill>
                <a:latin typeface="Calibri" pitchFamily="34" charset="0"/>
                <a:ea typeface="Calibri" pitchFamily="34" charset="-122"/>
                <a:cs typeface="Calibri" pitchFamily="34" charset="-120"/>
              </a:rPr>
              <a:t>Prioritize</a:t>
            </a:r>
            <a:endParaRPr lang="en-US" sz="1500" dirty="0"/>
          </a:p>
        </p:txBody>
      </p:sp>
      <p:sp>
        <p:nvSpPr>
          <p:cNvPr id="20" name="Text 18"/>
          <p:cNvSpPr/>
          <p:nvPr/>
        </p:nvSpPr>
        <p:spPr>
          <a:xfrm>
            <a:off x="6510528" y="3081528"/>
            <a:ext cx="4498848" cy="310896"/>
          </a:xfrm>
          <a:prstGeom prst="rect">
            <a:avLst/>
          </a:prstGeom>
          <a:noFill/>
          <a:ln/>
        </p:spPr>
        <p:txBody>
          <a:bodyPr wrap="square" lIns="0" tIns="0" rIns="0" bIns="0" rtlCol="0" anchor="ctr">
            <a:normAutofit/>
          </a:bodyPr>
          <a:lstStyle/>
          <a:p>
            <a:pPr indent="0" marL="0">
              <a:buNone/>
            </a:pPr>
            <a:r>
              <a:rPr lang="en-US" sz="1350" dirty="0">
                <a:solidFill>
                  <a:srgbClr val="5F6B70"/>
                </a:solidFill>
                <a:latin typeface="Calibri" pitchFamily="34" charset="0"/>
                <a:ea typeface="Calibri" pitchFamily="34" charset="-122"/>
                <a:cs typeface="Calibri" pitchFamily="34" charset="-120"/>
              </a:rPr>
              <a:t>Which bins are urgent, uncertain, or safe to wait?</a:t>
            </a:r>
            <a:endParaRPr lang="en-US" sz="1350" dirty="0"/>
          </a:p>
        </p:txBody>
      </p:sp>
      <p:sp>
        <p:nvSpPr>
          <p:cNvPr id="21" name="Shape 19"/>
          <p:cNvSpPr/>
          <p:nvPr/>
        </p:nvSpPr>
        <p:spPr>
          <a:xfrm>
            <a:off x="4828032" y="3639312"/>
            <a:ext cx="384048" cy="384048"/>
          </a:xfrm>
          <a:prstGeom prst="ellipse">
            <a:avLst/>
          </a:prstGeom>
          <a:solidFill>
            <a:srgbClr val="D99A24"/>
          </a:solidFill>
          <a:ln w="12700">
            <a:solidFill>
              <a:srgbClr val="D99A24"/>
            </a:solidFill>
            <a:prstDash val="solid"/>
          </a:ln>
        </p:spPr>
      </p:sp>
      <p:sp>
        <p:nvSpPr>
          <p:cNvPr id="22" name="Text 20"/>
          <p:cNvSpPr/>
          <p:nvPr/>
        </p:nvSpPr>
        <p:spPr>
          <a:xfrm>
            <a:off x="4828032" y="3643884"/>
            <a:ext cx="384048" cy="37490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p:nvPr/>
        </p:nvSpPr>
        <p:spPr>
          <a:xfrm>
            <a:off x="5376672" y="3630168"/>
            <a:ext cx="1115568" cy="274320"/>
          </a:xfrm>
          <a:prstGeom prst="rect">
            <a:avLst/>
          </a:prstGeom>
          <a:noFill/>
          <a:ln/>
        </p:spPr>
        <p:txBody>
          <a:bodyPr wrap="square" lIns="0" tIns="0" rIns="0" bIns="0" rtlCol="0" anchor="ctr">
            <a:normAutofit/>
          </a:bodyPr>
          <a:lstStyle/>
          <a:p>
            <a:pPr indent="0" marL="0">
              <a:buNone/>
            </a:pPr>
            <a:r>
              <a:rPr lang="en-US" sz="1500" b="1" dirty="0">
                <a:solidFill>
                  <a:srgbClr val="172126"/>
                </a:solidFill>
                <a:latin typeface="Calibri" pitchFamily="34" charset="0"/>
                <a:ea typeface="Calibri" pitchFamily="34" charset="-122"/>
                <a:cs typeface="Calibri" pitchFamily="34" charset="-120"/>
              </a:rPr>
              <a:t>Value the trip</a:t>
            </a:r>
            <a:endParaRPr lang="en-US" sz="1500" dirty="0"/>
          </a:p>
        </p:txBody>
      </p:sp>
      <p:sp>
        <p:nvSpPr>
          <p:cNvPr id="24" name="Text 22"/>
          <p:cNvSpPr/>
          <p:nvPr/>
        </p:nvSpPr>
        <p:spPr>
          <a:xfrm>
            <a:off x="6510528" y="3630168"/>
            <a:ext cx="4498848" cy="310896"/>
          </a:xfrm>
          <a:prstGeom prst="rect">
            <a:avLst/>
          </a:prstGeom>
          <a:noFill/>
          <a:ln/>
        </p:spPr>
        <p:txBody>
          <a:bodyPr wrap="square" lIns="0" tIns="0" rIns="0" bIns="0" rtlCol="0" anchor="ctr">
            <a:normAutofit/>
          </a:bodyPr>
          <a:lstStyle/>
          <a:p>
            <a:pPr indent="0" marL="0">
              <a:buNone/>
            </a:pPr>
            <a:r>
              <a:rPr lang="en-US" sz="1350" dirty="0">
                <a:solidFill>
                  <a:srgbClr val="5F6B70"/>
                </a:solidFill>
                <a:latin typeface="Calibri" pitchFamily="34" charset="0"/>
                <a:ea typeface="Calibri" pitchFamily="34" charset="-122"/>
                <a:cs typeface="Calibri" pitchFamily="34" charset="-120"/>
              </a:rPr>
              <a:t>Does collecting now beat waiting or merging?</a:t>
            </a:r>
            <a:endParaRPr lang="en-US" sz="1350" dirty="0"/>
          </a:p>
        </p:txBody>
      </p:sp>
      <p:sp>
        <p:nvSpPr>
          <p:cNvPr id="25" name="Shape 23"/>
          <p:cNvSpPr/>
          <p:nvPr/>
        </p:nvSpPr>
        <p:spPr>
          <a:xfrm>
            <a:off x="4828032" y="4187952"/>
            <a:ext cx="384048" cy="384048"/>
          </a:xfrm>
          <a:prstGeom prst="ellipse">
            <a:avLst/>
          </a:prstGeom>
          <a:solidFill>
            <a:srgbClr val="287F83"/>
          </a:solidFill>
          <a:ln w="12700">
            <a:solidFill>
              <a:srgbClr val="287F83"/>
            </a:solidFill>
            <a:prstDash val="solid"/>
          </a:ln>
        </p:spPr>
      </p:sp>
      <p:sp>
        <p:nvSpPr>
          <p:cNvPr id="26" name="Text 24"/>
          <p:cNvSpPr/>
          <p:nvPr/>
        </p:nvSpPr>
        <p:spPr>
          <a:xfrm>
            <a:off x="4828032" y="4192524"/>
            <a:ext cx="384048" cy="37490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5376672" y="4178808"/>
            <a:ext cx="1115568" cy="274320"/>
          </a:xfrm>
          <a:prstGeom prst="rect">
            <a:avLst/>
          </a:prstGeom>
          <a:noFill/>
          <a:ln/>
        </p:spPr>
        <p:txBody>
          <a:bodyPr wrap="square" lIns="0" tIns="0" rIns="0" bIns="0" rtlCol="0" anchor="ctr">
            <a:normAutofit/>
          </a:bodyPr>
          <a:lstStyle/>
          <a:p>
            <a:pPr indent="0" marL="0">
              <a:buNone/>
            </a:pPr>
            <a:r>
              <a:rPr lang="en-US" sz="1500" b="1" dirty="0">
                <a:solidFill>
                  <a:srgbClr val="172126"/>
                </a:solidFill>
                <a:latin typeface="Calibri" pitchFamily="34" charset="0"/>
                <a:ea typeface="Calibri" pitchFamily="34" charset="-122"/>
                <a:cs typeface="Calibri" pitchFamily="34" charset="-120"/>
              </a:rPr>
              <a:t>Optimize</a:t>
            </a:r>
            <a:endParaRPr lang="en-US" sz="1500" dirty="0"/>
          </a:p>
        </p:txBody>
      </p:sp>
      <p:sp>
        <p:nvSpPr>
          <p:cNvPr id="28" name="Text 26"/>
          <p:cNvSpPr/>
          <p:nvPr/>
        </p:nvSpPr>
        <p:spPr>
          <a:xfrm>
            <a:off x="6510528" y="4178808"/>
            <a:ext cx="4498848" cy="310896"/>
          </a:xfrm>
          <a:prstGeom prst="rect">
            <a:avLst/>
          </a:prstGeom>
          <a:noFill/>
          <a:ln/>
        </p:spPr>
        <p:txBody>
          <a:bodyPr wrap="square" lIns="0" tIns="0" rIns="0" bIns="0" rtlCol="0" anchor="ctr">
            <a:normAutofit/>
          </a:bodyPr>
          <a:lstStyle/>
          <a:p>
            <a:pPr indent="0" marL="0">
              <a:buNone/>
            </a:pPr>
            <a:r>
              <a:rPr lang="en-US" sz="1350" dirty="0">
                <a:solidFill>
                  <a:srgbClr val="5F6B70"/>
                </a:solidFill>
                <a:latin typeface="Calibri" pitchFamily="34" charset="0"/>
                <a:ea typeface="Calibri" pitchFamily="34" charset="-122"/>
                <a:cs typeface="Calibri" pitchFamily="34" charset="-120"/>
              </a:rPr>
              <a:t>Which feasible stop order minimizes road effort?</a:t>
            </a:r>
            <a:endParaRPr lang="en-US" sz="1350" dirty="0"/>
          </a:p>
        </p:txBody>
      </p:sp>
      <p:sp>
        <p:nvSpPr>
          <p:cNvPr id="29" name="Shape 27"/>
          <p:cNvSpPr/>
          <p:nvPr/>
        </p:nvSpPr>
        <p:spPr>
          <a:xfrm>
            <a:off x="4828032" y="4736592"/>
            <a:ext cx="384048" cy="384048"/>
          </a:xfrm>
          <a:prstGeom prst="ellipse">
            <a:avLst/>
          </a:prstGeom>
          <a:solidFill>
            <a:srgbClr val="2F7D5B"/>
          </a:solidFill>
          <a:ln w="12700">
            <a:solidFill>
              <a:srgbClr val="2F7D5B"/>
            </a:solidFill>
            <a:prstDash val="solid"/>
          </a:ln>
        </p:spPr>
      </p:sp>
      <p:sp>
        <p:nvSpPr>
          <p:cNvPr id="30" name="Text 28"/>
          <p:cNvSpPr/>
          <p:nvPr/>
        </p:nvSpPr>
        <p:spPr>
          <a:xfrm>
            <a:off x="4828032" y="4741164"/>
            <a:ext cx="384048" cy="374904"/>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5376672" y="4727448"/>
            <a:ext cx="1115568" cy="274320"/>
          </a:xfrm>
          <a:prstGeom prst="rect">
            <a:avLst/>
          </a:prstGeom>
          <a:noFill/>
          <a:ln/>
        </p:spPr>
        <p:txBody>
          <a:bodyPr wrap="square" lIns="0" tIns="0" rIns="0" bIns="0" rtlCol="0" anchor="ctr">
            <a:normAutofit/>
          </a:bodyPr>
          <a:lstStyle/>
          <a:p>
            <a:pPr indent="0" marL="0">
              <a:buNone/>
            </a:pPr>
            <a:r>
              <a:rPr lang="en-US" sz="1500" b="1" dirty="0">
                <a:solidFill>
                  <a:srgbClr val="172126"/>
                </a:solidFill>
                <a:latin typeface="Calibri" pitchFamily="34" charset="0"/>
                <a:ea typeface="Calibri" pitchFamily="34" charset="-122"/>
                <a:cs typeface="Calibri" pitchFamily="34" charset="-120"/>
              </a:rPr>
              <a:t>Propose</a:t>
            </a:r>
            <a:endParaRPr lang="en-US" sz="1500" dirty="0"/>
          </a:p>
        </p:txBody>
      </p:sp>
      <p:sp>
        <p:nvSpPr>
          <p:cNvPr id="32" name="Text 30"/>
          <p:cNvSpPr/>
          <p:nvPr/>
        </p:nvSpPr>
        <p:spPr>
          <a:xfrm>
            <a:off x="6510528" y="4727448"/>
            <a:ext cx="4498848" cy="310896"/>
          </a:xfrm>
          <a:prstGeom prst="rect">
            <a:avLst/>
          </a:prstGeom>
          <a:noFill/>
          <a:ln/>
        </p:spPr>
        <p:txBody>
          <a:bodyPr wrap="square" lIns="0" tIns="0" rIns="0" bIns="0" rtlCol="0" anchor="ctr">
            <a:normAutofit/>
          </a:bodyPr>
          <a:lstStyle/>
          <a:p>
            <a:pPr indent="0" marL="0">
              <a:buNone/>
            </a:pPr>
            <a:r>
              <a:rPr lang="en-US" sz="1350" dirty="0">
                <a:solidFill>
                  <a:srgbClr val="5F6B70"/>
                </a:solidFill>
                <a:latin typeface="Calibri" pitchFamily="34" charset="0"/>
                <a:ea typeface="Calibri" pitchFamily="34" charset="-122"/>
                <a:cs typeface="Calibri" pitchFamily="34" charset="-120"/>
              </a:rPr>
              <a:t>Give the operator an auditable draft decision.</a:t>
            </a:r>
            <a:endParaRPr lang="en-US" sz="1350" dirty="0"/>
          </a:p>
        </p:txBody>
      </p:sp>
      <p:sp>
        <p:nvSpPr>
          <p:cNvPr id="33" name="Shape 31"/>
          <p:cNvSpPr/>
          <p:nvPr/>
        </p:nvSpPr>
        <p:spPr>
          <a:xfrm>
            <a:off x="4828032" y="5248656"/>
            <a:ext cx="6172200" cy="502920"/>
          </a:xfrm>
          <a:prstGeom prst="roundRect">
            <a:avLst>
              <a:gd name="adj" fmla="val 14545"/>
            </a:avLst>
          </a:prstGeom>
          <a:solidFill>
            <a:srgbClr val="F3F5F3"/>
          </a:solidFill>
          <a:ln w="19050">
            <a:solidFill>
              <a:srgbClr val="5F6B70"/>
            </a:solidFill>
            <a:prstDash val="solid"/>
          </a:ln>
        </p:spPr>
      </p:sp>
      <p:sp>
        <p:nvSpPr>
          <p:cNvPr id="34" name="Text 32"/>
          <p:cNvSpPr/>
          <p:nvPr/>
        </p:nvSpPr>
        <p:spPr>
          <a:xfrm>
            <a:off x="4937760" y="5303520"/>
            <a:ext cx="5952744" cy="384048"/>
          </a:xfrm>
          <a:prstGeom prst="rect">
            <a:avLst/>
          </a:prstGeom>
          <a:noFill/>
          <a:ln/>
        </p:spPr>
        <p:txBody>
          <a:bodyPr wrap="square" lIns="0" tIns="0" rIns="0" bIns="0" rtlCol="0" anchor="ctr">
            <a:normAutofit/>
          </a:bodyPr>
          <a:lstStyle/>
          <a:p>
            <a:pPr algn="ctr" indent="0" marL="0">
              <a:buNone/>
            </a:pPr>
            <a:r>
              <a:rPr lang="en-US" sz="1250" b="1" dirty="0">
                <a:solidFill>
                  <a:srgbClr val="5F6B70"/>
                </a:solidFill>
                <a:latin typeface="Calibri" pitchFamily="34" charset="0"/>
                <a:ea typeface="Calibri" pitchFamily="34" charset="-122"/>
                <a:cs typeface="Calibri" pitchFamily="34" charset="-120"/>
              </a:rPr>
              <a:t>OUT OF SCOPE: how sensors obtain or transmit data</a:t>
            </a:r>
            <a:endParaRPr lang="en-US" sz="1250" dirty="0"/>
          </a:p>
        </p:txBody>
      </p:sp>
      <p:sp>
        <p:nvSpPr>
          <p:cNvPr id="35" name="Text 33"/>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ROUTING WORKFLOW</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Six decisions turn a snapshot into a route proposal</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Forecasting estimates what may happen; routing separately decides whether a trip makes operational sense.</a:t>
            </a:r>
            <a:endParaRPr lang="en-US" sz="1400" dirty="0"/>
          </a:p>
        </p:txBody>
      </p:sp>
      <p:sp>
        <p:nvSpPr>
          <p:cNvPr id="5" name="Shape 3"/>
          <p:cNvSpPr/>
          <p:nvPr/>
        </p:nvSpPr>
        <p:spPr>
          <a:xfrm>
            <a:off x="621792" y="1783080"/>
            <a:ext cx="3429000" cy="1572768"/>
          </a:xfrm>
          <a:prstGeom prst="roundRect">
            <a:avLst>
              <a:gd name="adj" fmla="val 4651"/>
            </a:avLst>
          </a:prstGeom>
          <a:solidFill>
            <a:srgbClr val="E7F2F8"/>
          </a:solidFill>
          <a:ln w="12700">
            <a:solidFill>
              <a:srgbClr val="006DAE"/>
            </a:solidFill>
            <a:prstDash val="solid"/>
          </a:ln>
        </p:spPr>
      </p:sp>
      <p:sp>
        <p:nvSpPr>
          <p:cNvPr id="6" name="Shape 4"/>
          <p:cNvSpPr/>
          <p:nvPr/>
        </p:nvSpPr>
        <p:spPr>
          <a:xfrm>
            <a:off x="850392" y="2011680"/>
            <a:ext cx="457200" cy="457200"/>
          </a:xfrm>
          <a:prstGeom prst="ellipse">
            <a:avLst/>
          </a:prstGeom>
          <a:solidFill>
            <a:srgbClr val="006DAE"/>
          </a:solidFill>
          <a:ln w="12700">
            <a:solidFill>
              <a:srgbClr val="006DAE"/>
            </a:solidFill>
            <a:prstDash val="solid"/>
          </a:ln>
        </p:spPr>
      </p:sp>
      <p:sp>
        <p:nvSpPr>
          <p:cNvPr id="7" name="Text 5"/>
          <p:cNvSpPr/>
          <p:nvPr/>
        </p:nvSpPr>
        <p:spPr>
          <a:xfrm>
            <a:off x="850392" y="2016252"/>
            <a:ext cx="457200" cy="4480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72184" y="1993392"/>
            <a:ext cx="2240280" cy="301752"/>
          </a:xfrm>
          <a:prstGeom prst="rect">
            <a:avLst/>
          </a:prstGeom>
          <a:noFill/>
          <a:ln/>
        </p:spPr>
        <p:txBody>
          <a:bodyPr wrap="square" lIns="0" tIns="0" rIns="0" bIns="0" rtlCol="0" anchor="ctr">
            <a:normAutofit/>
          </a:bodyPr>
          <a:lstStyle/>
          <a:p>
            <a:pPr indent="0" marL="0">
              <a:buNone/>
            </a:pPr>
            <a:r>
              <a:rPr lang="en-US" sz="1500" b="1" spc="70" kern="0" dirty="0">
                <a:solidFill>
                  <a:srgbClr val="006DAE"/>
                </a:solidFill>
                <a:latin typeface="Calibri" pitchFamily="34" charset="0"/>
                <a:ea typeface="Calibri" pitchFamily="34" charset="-122"/>
                <a:cs typeface="Calibri" pitchFamily="34" charset="-120"/>
              </a:rPr>
              <a:t>VALIDATE</a:t>
            </a:r>
            <a:endParaRPr lang="en-US" sz="1500" dirty="0"/>
          </a:p>
        </p:txBody>
      </p:sp>
      <p:sp>
        <p:nvSpPr>
          <p:cNvPr id="9" name="Text 7"/>
          <p:cNvSpPr/>
          <p:nvPr/>
        </p:nvSpPr>
        <p:spPr>
          <a:xfrm>
            <a:off x="868680" y="2551176"/>
            <a:ext cx="2907792" cy="530352"/>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Reject future, stale, conflicting or unmapped evidence</a:t>
            </a:r>
            <a:endParaRPr lang="en-US" sz="1400" dirty="0"/>
          </a:p>
        </p:txBody>
      </p:sp>
      <p:sp>
        <p:nvSpPr>
          <p:cNvPr id="10" name="Shape 8"/>
          <p:cNvSpPr/>
          <p:nvPr/>
        </p:nvSpPr>
        <p:spPr>
          <a:xfrm>
            <a:off x="4489704" y="1783080"/>
            <a:ext cx="3429000" cy="1572768"/>
          </a:xfrm>
          <a:prstGeom prst="roundRect">
            <a:avLst>
              <a:gd name="adj" fmla="val 4651"/>
            </a:avLst>
          </a:prstGeom>
          <a:solidFill>
            <a:srgbClr val="E3F1F1"/>
          </a:solidFill>
          <a:ln w="12700">
            <a:solidFill>
              <a:srgbClr val="287F83"/>
            </a:solidFill>
            <a:prstDash val="solid"/>
          </a:ln>
        </p:spPr>
      </p:sp>
      <p:sp>
        <p:nvSpPr>
          <p:cNvPr id="11" name="Shape 9"/>
          <p:cNvSpPr/>
          <p:nvPr/>
        </p:nvSpPr>
        <p:spPr>
          <a:xfrm>
            <a:off x="4718304" y="2011680"/>
            <a:ext cx="457200" cy="457200"/>
          </a:xfrm>
          <a:prstGeom prst="ellipse">
            <a:avLst/>
          </a:prstGeom>
          <a:solidFill>
            <a:srgbClr val="287F83"/>
          </a:solidFill>
          <a:ln w="12700">
            <a:solidFill>
              <a:srgbClr val="287F83"/>
            </a:solidFill>
            <a:prstDash val="solid"/>
          </a:ln>
        </p:spPr>
      </p:sp>
      <p:sp>
        <p:nvSpPr>
          <p:cNvPr id="12" name="Text 10"/>
          <p:cNvSpPr/>
          <p:nvPr/>
        </p:nvSpPr>
        <p:spPr>
          <a:xfrm>
            <a:off x="4718304" y="2016252"/>
            <a:ext cx="457200" cy="4480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5340096" y="1993392"/>
            <a:ext cx="2240280" cy="301752"/>
          </a:xfrm>
          <a:prstGeom prst="rect">
            <a:avLst/>
          </a:prstGeom>
          <a:noFill/>
          <a:ln/>
        </p:spPr>
        <p:txBody>
          <a:bodyPr wrap="square" lIns="0" tIns="0" rIns="0" bIns="0" rtlCol="0" anchor="ctr">
            <a:normAutofit/>
          </a:bodyPr>
          <a:lstStyle/>
          <a:p>
            <a:pPr indent="0" marL="0">
              <a:buNone/>
            </a:pPr>
            <a:r>
              <a:rPr lang="en-US" sz="1500" b="1" spc="70" kern="0" dirty="0">
                <a:solidFill>
                  <a:srgbClr val="287F83"/>
                </a:solidFill>
                <a:latin typeface="Calibri" pitchFamily="34" charset="0"/>
                <a:ea typeface="Calibri" pitchFamily="34" charset="-122"/>
                <a:cs typeface="Calibri" pitchFamily="34" charset="-120"/>
              </a:rPr>
              <a:t>FUSE</a:t>
            </a:r>
            <a:endParaRPr lang="en-US" sz="1500" dirty="0"/>
          </a:p>
        </p:txBody>
      </p:sp>
      <p:sp>
        <p:nvSpPr>
          <p:cNvPr id="14" name="Text 12"/>
          <p:cNvSpPr/>
          <p:nvPr/>
        </p:nvSpPr>
        <p:spPr>
          <a:xfrm>
            <a:off x="4736592" y="2551176"/>
            <a:ext cx="2907792" cy="530352"/>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Build conservative fill, load and uncertainty</a:t>
            </a:r>
            <a:endParaRPr lang="en-US" sz="1400" dirty="0"/>
          </a:p>
        </p:txBody>
      </p:sp>
      <p:sp>
        <p:nvSpPr>
          <p:cNvPr id="15" name="Shape 13"/>
          <p:cNvSpPr/>
          <p:nvPr/>
        </p:nvSpPr>
        <p:spPr>
          <a:xfrm>
            <a:off x="8357616" y="1783080"/>
            <a:ext cx="3429000" cy="1572768"/>
          </a:xfrm>
          <a:prstGeom prst="roundRect">
            <a:avLst>
              <a:gd name="adj" fmla="val 4651"/>
            </a:avLst>
          </a:prstGeom>
          <a:solidFill>
            <a:srgbClr val="DDECF4"/>
          </a:solidFill>
          <a:ln w="12700">
            <a:solidFill>
              <a:srgbClr val="00527F"/>
            </a:solidFill>
            <a:prstDash val="solid"/>
          </a:ln>
        </p:spPr>
      </p:sp>
      <p:sp>
        <p:nvSpPr>
          <p:cNvPr id="16" name="Shape 14"/>
          <p:cNvSpPr/>
          <p:nvPr/>
        </p:nvSpPr>
        <p:spPr>
          <a:xfrm>
            <a:off x="8586216" y="2011680"/>
            <a:ext cx="457200" cy="457200"/>
          </a:xfrm>
          <a:prstGeom prst="ellipse">
            <a:avLst/>
          </a:prstGeom>
          <a:solidFill>
            <a:srgbClr val="00527F"/>
          </a:solidFill>
          <a:ln w="12700">
            <a:solidFill>
              <a:srgbClr val="00527F"/>
            </a:solidFill>
            <a:prstDash val="solid"/>
          </a:ln>
        </p:spPr>
      </p:sp>
      <p:sp>
        <p:nvSpPr>
          <p:cNvPr id="17" name="Text 15"/>
          <p:cNvSpPr/>
          <p:nvPr/>
        </p:nvSpPr>
        <p:spPr>
          <a:xfrm>
            <a:off x="8586216" y="2016252"/>
            <a:ext cx="457200" cy="4480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9208008" y="1993392"/>
            <a:ext cx="2240280" cy="301752"/>
          </a:xfrm>
          <a:prstGeom prst="rect">
            <a:avLst/>
          </a:prstGeom>
          <a:noFill/>
          <a:ln/>
        </p:spPr>
        <p:txBody>
          <a:bodyPr wrap="square" lIns="0" tIns="0" rIns="0" bIns="0" rtlCol="0" anchor="ctr">
            <a:normAutofit/>
          </a:bodyPr>
          <a:lstStyle/>
          <a:p>
            <a:pPr indent="0" marL="0">
              <a:buNone/>
            </a:pPr>
            <a:r>
              <a:rPr lang="en-US" sz="1500" b="1" spc="70" kern="0" dirty="0">
                <a:solidFill>
                  <a:srgbClr val="00527F"/>
                </a:solidFill>
                <a:latin typeface="Calibri" pitchFamily="34" charset="0"/>
                <a:ea typeface="Calibri" pitchFamily="34" charset="-122"/>
                <a:cs typeface="Calibri" pitchFamily="34" charset="-120"/>
              </a:rPr>
              <a:t>FORECAST</a:t>
            </a:r>
            <a:endParaRPr lang="en-US" sz="1500" dirty="0"/>
          </a:p>
        </p:txBody>
      </p:sp>
      <p:sp>
        <p:nvSpPr>
          <p:cNvPr id="19" name="Text 17"/>
          <p:cNvSpPr/>
          <p:nvPr/>
        </p:nvSpPr>
        <p:spPr>
          <a:xfrm>
            <a:off x="8604504" y="2551176"/>
            <a:ext cx="2907792" cy="530352"/>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Estimate overflow probability and crossing time</a:t>
            </a:r>
            <a:endParaRPr lang="en-US" sz="1400" dirty="0"/>
          </a:p>
        </p:txBody>
      </p:sp>
      <p:sp>
        <p:nvSpPr>
          <p:cNvPr id="20" name="Shape 18"/>
          <p:cNvSpPr/>
          <p:nvPr/>
        </p:nvSpPr>
        <p:spPr>
          <a:xfrm>
            <a:off x="8357616" y="3931920"/>
            <a:ext cx="3429000" cy="1572768"/>
          </a:xfrm>
          <a:prstGeom prst="roundRect">
            <a:avLst>
              <a:gd name="adj" fmla="val 4651"/>
            </a:avLst>
          </a:prstGeom>
          <a:solidFill>
            <a:srgbClr val="FBE9EA"/>
          </a:solidFill>
          <a:ln w="12700">
            <a:solidFill>
              <a:srgbClr val="C64045"/>
            </a:solidFill>
            <a:prstDash val="solid"/>
          </a:ln>
        </p:spPr>
      </p:sp>
      <p:sp>
        <p:nvSpPr>
          <p:cNvPr id="21" name="Shape 19"/>
          <p:cNvSpPr/>
          <p:nvPr/>
        </p:nvSpPr>
        <p:spPr>
          <a:xfrm>
            <a:off x="8586216" y="4160520"/>
            <a:ext cx="457200" cy="457200"/>
          </a:xfrm>
          <a:prstGeom prst="ellipse">
            <a:avLst/>
          </a:prstGeom>
          <a:solidFill>
            <a:srgbClr val="C64045"/>
          </a:solidFill>
          <a:ln w="12700">
            <a:solidFill>
              <a:srgbClr val="C64045"/>
            </a:solidFill>
            <a:prstDash val="solid"/>
          </a:ln>
        </p:spPr>
      </p:sp>
      <p:sp>
        <p:nvSpPr>
          <p:cNvPr id="22" name="Text 20"/>
          <p:cNvSpPr/>
          <p:nvPr/>
        </p:nvSpPr>
        <p:spPr>
          <a:xfrm>
            <a:off x="8586216" y="4165092"/>
            <a:ext cx="457200" cy="4480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9208008" y="4142232"/>
            <a:ext cx="2240280" cy="301752"/>
          </a:xfrm>
          <a:prstGeom prst="rect">
            <a:avLst/>
          </a:prstGeom>
          <a:noFill/>
          <a:ln/>
        </p:spPr>
        <p:txBody>
          <a:bodyPr wrap="square" lIns="0" tIns="0" rIns="0" bIns="0" rtlCol="0" anchor="ctr">
            <a:normAutofit/>
          </a:bodyPr>
          <a:lstStyle/>
          <a:p>
            <a:pPr indent="0" marL="0">
              <a:buNone/>
            </a:pPr>
            <a:r>
              <a:rPr lang="en-US" sz="1500" b="1" spc="70" kern="0" dirty="0">
                <a:solidFill>
                  <a:srgbClr val="C64045"/>
                </a:solidFill>
                <a:latin typeface="Calibri" pitchFamily="34" charset="0"/>
                <a:ea typeface="Calibri" pitchFamily="34" charset="-122"/>
                <a:cs typeface="Calibri" pitchFamily="34" charset="-120"/>
              </a:rPr>
              <a:t>CLASSIFY</a:t>
            </a:r>
            <a:endParaRPr lang="en-US" sz="1500" dirty="0"/>
          </a:p>
        </p:txBody>
      </p:sp>
      <p:sp>
        <p:nvSpPr>
          <p:cNvPr id="24" name="Text 22"/>
          <p:cNvSpPr/>
          <p:nvPr/>
        </p:nvSpPr>
        <p:spPr>
          <a:xfrm>
            <a:off x="8604504" y="4700016"/>
            <a:ext cx="2907792" cy="530352"/>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Separate required, inspect, optional and wait</a:t>
            </a:r>
            <a:endParaRPr lang="en-US" sz="1400" dirty="0"/>
          </a:p>
        </p:txBody>
      </p:sp>
      <p:sp>
        <p:nvSpPr>
          <p:cNvPr id="25" name="Shape 23"/>
          <p:cNvSpPr/>
          <p:nvPr/>
        </p:nvSpPr>
        <p:spPr>
          <a:xfrm>
            <a:off x="4489704" y="3931920"/>
            <a:ext cx="3429000" cy="1572768"/>
          </a:xfrm>
          <a:prstGeom prst="roundRect">
            <a:avLst>
              <a:gd name="adj" fmla="val 4651"/>
            </a:avLst>
          </a:prstGeom>
          <a:solidFill>
            <a:srgbClr val="FFF3DA"/>
          </a:solidFill>
          <a:ln w="12700">
            <a:solidFill>
              <a:srgbClr val="D99A24"/>
            </a:solidFill>
            <a:prstDash val="solid"/>
          </a:ln>
        </p:spPr>
      </p:sp>
      <p:sp>
        <p:nvSpPr>
          <p:cNvPr id="26" name="Shape 24"/>
          <p:cNvSpPr/>
          <p:nvPr/>
        </p:nvSpPr>
        <p:spPr>
          <a:xfrm>
            <a:off x="4718304" y="4160520"/>
            <a:ext cx="457200" cy="457200"/>
          </a:xfrm>
          <a:prstGeom prst="ellipse">
            <a:avLst/>
          </a:prstGeom>
          <a:solidFill>
            <a:srgbClr val="D99A24"/>
          </a:solidFill>
          <a:ln w="12700">
            <a:solidFill>
              <a:srgbClr val="D99A24"/>
            </a:solidFill>
            <a:prstDash val="solid"/>
          </a:ln>
        </p:spPr>
      </p:sp>
      <p:sp>
        <p:nvSpPr>
          <p:cNvPr id="27" name="Text 25"/>
          <p:cNvSpPr/>
          <p:nvPr/>
        </p:nvSpPr>
        <p:spPr>
          <a:xfrm>
            <a:off x="4718304" y="4165092"/>
            <a:ext cx="457200" cy="4480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5340096" y="4142232"/>
            <a:ext cx="2240280" cy="301752"/>
          </a:xfrm>
          <a:prstGeom prst="rect">
            <a:avLst/>
          </a:prstGeom>
          <a:noFill/>
          <a:ln/>
        </p:spPr>
        <p:txBody>
          <a:bodyPr wrap="square" lIns="0" tIns="0" rIns="0" bIns="0" rtlCol="0" anchor="ctr">
            <a:normAutofit/>
          </a:bodyPr>
          <a:lstStyle/>
          <a:p>
            <a:pPr indent="0" marL="0">
              <a:buNone/>
            </a:pPr>
            <a:r>
              <a:rPr lang="en-US" sz="1500" b="1" spc="70" kern="0" dirty="0">
                <a:solidFill>
                  <a:srgbClr val="D99A24"/>
                </a:solidFill>
                <a:latin typeface="Calibri" pitchFamily="34" charset="0"/>
                <a:ea typeface="Calibri" pitchFamily="34" charset="-122"/>
                <a:cs typeface="Calibri" pitchFamily="34" charset="-120"/>
              </a:rPr>
              <a:t>VALUE + SOLVE</a:t>
            </a:r>
            <a:endParaRPr lang="en-US" sz="1500" dirty="0"/>
          </a:p>
        </p:txBody>
      </p:sp>
      <p:sp>
        <p:nvSpPr>
          <p:cNvPr id="29" name="Text 27"/>
          <p:cNvSpPr/>
          <p:nvPr/>
        </p:nvSpPr>
        <p:spPr>
          <a:xfrm>
            <a:off x="4736592" y="4700016"/>
            <a:ext cx="2907792" cy="530352"/>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Compare dispatch cost, then optimize the route</a:t>
            </a:r>
            <a:endParaRPr lang="en-US" sz="1400" dirty="0"/>
          </a:p>
        </p:txBody>
      </p:sp>
      <p:sp>
        <p:nvSpPr>
          <p:cNvPr id="30" name="Shape 28"/>
          <p:cNvSpPr/>
          <p:nvPr/>
        </p:nvSpPr>
        <p:spPr>
          <a:xfrm>
            <a:off x="621792" y="3931920"/>
            <a:ext cx="3429000" cy="1572768"/>
          </a:xfrm>
          <a:prstGeom prst="roundRect">
            <a:avLst>
              <a:gd name="adj" fmla="val 4651"/>
            </a:avLst>
          </a:prstGeom>
          <a:solidFill>
            <a:srgbClr val="E7F2EC"/>
          </a:solidFill>
          <a:ln w="12700">
            <a:solidFill>
              <a:srgbClr val="2F7D5B"/>
            </a:solidFill>
            <a:prstDash val="solid"/>
          </a:ln>
        </p:spPr>
      </p:sp>
      <p:sp>
        <p:nvSpPr>
          <p:cNvPr id="31" name="Shape 29"/>
          <p:cNvSpPr/>
          <p:nvPr/>
        </p:nvSpPr>
        <p:spPr>
          <a:xfrm>
            <a:off x="850392" y="4160520"/>
            <a:ext cx="457200" cy="457200"/>
          </a:xfrm>
          <a:prstGeom prst="ellipse">
            <a:avLst/>
          </a:prstGeom>
          <a:solidFill>
            <a:srgbClr val="2F7D5B"/>
          </a:solidFill>
          <a:ln w="12700">
            <a:solidFill>
              <a:srgbClr val="2F7D5B"/>
            </a:solidFill>
            <a:prstDash val="solid"/>
          </a:ln>
        </p:spPr>
      </p:sp>
      <p:sp>
        <p:nvSpPr>
          <p:cNvPr id="32" name="Text 30"/>
          <p:cNvSpPr/>
          <p:nvPr/>
        </p:nvSpPr>
        <p:spPr>
          <a:xfrm>
            <a:off x="850392" y="4165092"/>
            <a:ext cx="457200" cy="4480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1"/>
          <p:cNvSpPr/>
          <p:nvPr/>
        </p:nvSpPr>
        <p:spPr>
          <a:xfrm>
            <a:off x="1472184" y="4142232"/>
            <a:ext cx="2240280" cy="301752"/>
          </a:xfrm>
          <a:prstGeom prst="rect">
            <a:avLst/>
          </a:prstGeom>
          <a:noFill/>
          <a:ln/>
        </p:spPr>
        <p:txBody>
          <a:bodyPr wrap="square" lIns="0" tIns="0" rIns="0" bIns="0" rtlCol="0" anchor="ctr">
            <a:normAutofit/>
          </a:bodyPr>
          <a:lstStyle/>
          <a:p>
            <a:pPr indent="0" marL="0">
              <a:buNone/>
            </a:pPr>
            <a:r>
              <a:rPr lang="en-US" sz="1500" b="1" spc="70" kern="0" dirty="0">
                <a:solidFill>
                  <a:srgbClr val="2F7D5B"/>
                </a:solidFill>
                <a:latin typeface="Calibri" pitchFamily="34" charset="0"/>
                <a:ea typeface="Calibri" pitchFamily="34" charset="-122"/>
                <a:cs typeface="Calibri" pitchFamily="34" charset="-120"/>
              </a:rPr>
              <a:t>PROPOSE</a:t>
            </a:r>
            <a:endParaRPr lang="en-US" sz="1500" dirty="0"/>
          </a:p>
        </p:txBody>
      </p:sp>
      <p:sp>
        <p:nvSpPr>
          <p:cNvPr id="34" name="Text 32"/>
          <p:cNvSpPr/>
          <p:nvPr/>
        </p:nvSpPr>
        <p:spPr>
          <a:xfrm>
            <a:off x="868680" y="4700016"/>
            <a:ext cx="2907792" cy="530352"/>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Create an auditable operator-controlled draft</a:t>
            </a:r>
            <a:endParaRPr lang="en-US" sz="1400" dirty="0"/>
          </a:p>
        </p:txBody>
      </p:sp>
      <p:sp>
        <p:nvSpPr>
          <p:cNvPr id="35" name="Shape 33"/>
          <p:cNvSpPr/>
          <p:nvPr/>
        </p:nvSpPr>
        <p:spPr>
          <a:xfrm>
            <a:off x="4078224" y="2569464"/>
            <a:ext cx="301752" cy="0"/>
          </a:xfrm>
          <a:prstGeom prst="line">
            <a:avLst/>
          </a:prstGeom>
          <a:noFill/>
          <a:ln w="25400">
            <a:solidFill>
              <a:srgbClr val="AAB5B4"/>
            </a:solidFill>
            <a:prstDash val="solid"/>
            <a:tailEnd type="triangle"/>
          </a:ln>
        </p:spPr>
      </p:sp>
      <p:sp>
        <p:nvSpPr>
          <p:cNvPr id="36" name="Shape 34"/>
          <p:cNvSpPr/>
          <p:nvPr/>
        </p:nvSpPr>
        <p:spPr>
          <a:xfrm>
            <a:off x="7946136" y="2569464"/>
            <a:ext cx="301752" cy="0"/>
          </a:xfrm>
          <a:prstGeom prst="line">
            <a:avLst/>
          </a:prstGeom>
          <a:noFill/>
          <a:ln w="25400">
            <a:solidFill>
              <a:srgbClr val="AAB5B4"/>
            </a:solidFill>
            <a:prstDash val="solid"/>
            <a:tailEnd type="triangle"/>
          </a:ln>
        </p:spPr>
      </p:sp>
      <p:sp>
        <p:nvSpPr>
          <p:cNvPr id="37" name="Shape 35"/>
          <p:cNvSpPr/>
          <p:nvPr/>
        </p:nvSpPr>
        <p:spPr>
          <a:xfrm>
            <a:off x="11036808" y="3355848"/>
            <a:ext cx="0" cy="493776"/>
          </a:xfrm>
          <a:prstGeom prst="line">
            <a:avLst/>
          </a:prstGeom>
          <a:noFill/>
          <a:ln w="25400">
            <a:solidFill>
              <a:srgbClr val="AAB5B4"/>
            </a:solidFill>
            <a:prstDash val="solid"/>
            <a:tailEnd type="triangle"/>
          </a:ln>
        </p:spPr>
      </p:sp>
      <p:sp>
        <p:nvSpPr>
          <p:cNvPr id="38" name="Shape 36"/>
          <p:cNvSpPr/>
          <p:nvPr/>
        </p:nvSpPr>
        <p:spPr>
          <a:xfrm>
            <a:off x="8019288" y="4718304"/>
            <a:ext cx="301752" cy="0"/>
          </a:xfrm>
          <a:prstGeom prst="line">
            <a:avLst/>
          </a:prstGeom>
          <a:noFill/>
          <a:ln w="25400">
            <a:solidFill>
              <a:srgbClr val="AAB5B4"/>
            </a:solidFill>
            <a:prstDash val="solid"/>
            <a:headEnd type="triangle"/>
          </a:ln>
        </p:spPr>
      </p:sp>
      <p:sp>
        <p:nvSpPr>
          <p:cNvPr id="39" name="Shape 37"/>
          <p:cNvSpPr/>
          <p:nvPr/>
        </p:nvSpPr>
        <p:spPr>
          <a:xfrm>
            <a:off x="4151376" y="4718304"/>
            <a:ext cx="301752" cy="0"/>
          </a:xfrm>
          <a:prstGeom prst="line">
            <a:avLst/>
          </a:prstGeom>
          <a:noFill/>
          <a:ln w="25400">
            <a:solidFill>
              <a:srgbClr val="AAB5B4"/>
            </a:solidFill>
            <a:prstDash val="solid"/>
            <a:headEnd type="triangle"/>
          </a:ln>
        </p:spPr>
      </p:sp>
      <p:sp>
        <p:nvSpPr>
          <p:cNvPr id="40" name="Text 38"/>
          <p:cNvSpPr/>
          <p:nvPr/>
        </p:nvSpPr>
        <p:spPr>
          <a:xfrm>
            <a:off x="2194560" y="6053328"/>
            <a:ext cx="7772400" cy="256032"/>
          </a:xfrm>
          <a:prstGeom prst="rect">
            <a:avLst/>
          </a:prstGeom>
          <a:noFill/>
          <a:ln/>
        </p:spPr>
        <p:txBody>
          <a:bodyPr wrap="square" lIns="0" tIns="0" rIns="0" bIns="0" rtlCol="0" anchor="ctr">
            <a:normAutofit/>
          </a:bodyPr>
          <a:lstStyle/>
          <a:p>
            <a:pPr algn="ctr" indent="0" marL="0">
              <a:buNone/>
            </a:pPr>
            <a:r>
              <a:rPr lang="en-US" sz="1250" b="1" dirty="0">
                <a:solidFill>
                  <a:srgbClr val="5F6B70"/>
                </a:solidFill>
                <a:latin typeface="Calibri" pitchFamily="34" charset="0"/>
                <a:ea typeface="Calibri" pitchFamily="34" charset="-122"/>
                <a:cs typeface="Calibri" pitchFamily="34" charset="-120"/>
              </a:rPr>
              <a:t>Each new valid snapshot can trigger a new evaluation; accepted routes are never silently overwritten.</a:t>
            </a:r>
            <a:endParaRPr lang="en-US" sz="1250" dirty="0"/>
          </a:p>
        </p:txBody>
      </p:sp>
      <p:sp>
        <p:nvSpPr>
          <p:cNvPr id="41" name="Text 39"/>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STEP 1 · VALIDATE</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We refuse to turn uncertain data into a safe answer</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The validator preserves uncertainty, enforces one decision cutoff, and covers every configured bin.</a:t>
            </a:r>
            <a:endParaRPr lang="en-US" sz="1400" dirty="0"/>
          </a:p>
        </p:txBody>
      </p:sp>
      <p:sp>
        <p:nvSpPr>
          <p:cNvPr id="5" name="Shape 3"/>
          <p:cNvSpPr/>
          <p:nvPr/>
        </p:nvSpPr>
        <p:spPr>
          <a:xfrm>
            <a:off x="621792" y="1783080"/>
            <a:ext cx="3063240" cy="4069080"/>
          </a:xfrm>
          <a:prstGeom prst="roundRect">
            <a:avLst>
              <a:gd name="adj" fmla="val 2388"/>
            </a:avLst>
          </a:prstGeom>
          <a:solidFill>
            <a:srgbClr val="FFFFFF"/>
          </a:solidFill>
          <a:ln w="12700">
            <a:solidFill>
              <a:srgbClr val="D7DDDC"/>
            </a:solidFill>
            <a:prstDash val="solid"/>
          </a:ln>
          <a:effectLst>
            <a:outerShdw sx="100000" sy="100000" kx="0" ky="0" algn="bl" rotWithShape="0" blurRad="19050" dist="50800" dir="2700000">
              <a:srgbClr val="000000">
                <a:alpha val="10000"/>
              </a:srgbClr>
            </a:outerShdw>
          </a:effectLst>
        </p:spPr>
      </p:sp>
      <p:sp>
        <p:nvSpPr>
          <p:cNvPr id="6" name="Text 4"/>
          <p:cNvSpPr/>
          <p:nvPr/>
        </p:nvSpPr>
        <p:spPr>
          <a:xfrm>
            <a:off x="896112" y="2048256"/>
            <a:ext cx="2331720" cy="274320"/>
          </a:xfrm>
          <a:prstGeom prst="rect">
            <a:avLst/>
          </a:prstGeom>
          <a:noFill/>
          <a:ln/>
        </p:spPr>
        <p:txBody>
          <a:bodyPr wrap="square" lIns="0" tIns="0" rIns="0" bIns="0" rtlCol="0" anchor="ctr">
            <a:normAutofit/>
          </a:bodyPr>
          <a:lstStyle/>
          <a:p>
            <a:pPr indent="0" marL="0">
              <a:buNone/>
            </a:pPr>
            <a:r>
              <a:rPr lang="en-US" sz="1200" b="1" spc="100" kern="0" dirty="0">
                <a:solidFill>
                  <a:srgbClr val="006DAE"/>
                </a:solidFill>
                <a:latin typeface="Calibri" pitchFamily="34" charset="0"/>
                <a:ea typeface="Calibri" pitchFamily="34" charset="-122"/>
                <a:cs typeface="Calibri" pitchFamily="34" charset="-120"/>
              </a:rPr>
              <a:t>SNAPSHOT CHECKS</a:t>
            </a:r>
            <a:endParaRPr lang="en-US" sz="1200" dirty="0"/>
          </a:p>
        </p:txBody>
      </p:sp>
      <p:sp>
        <p:nvSpPr>
          <p:cNvPr id="7" name="Shape 5"/>
          <p:cNvSpPr/>
          <p:nvPr/>
        </p:nvSpPr>
        <p:spPr>
          <a:xfrm>
            <a:off x="896112" y="2596896"/>
            <a:ext cx="530352" cy="347472"/>
          </a:xfrm>
          <a:prstGeom prst="roundRect">
            <a:avLst>
              <a:gd name="adj" fmla="val 13158"/>
            </a:avLst>
          </a:prstGeom>
          <a:solidFill>
            <a:srgbClr val="E7F2F8"/>
          </a:solidFill>
          <a:ln w="12700">
            <a:solidFill>
              <a:srgbClr val="B9D8E8"/>
            </a:solidFill>
            <a:prstDash val="solid"/>
          </a:ln>
        </p:spPr>
      </p:sp>
      <p:sp>
        <p:nvSpPr>
          <p:cNvPr id="8" name="Text 6"/>
          <p:cNvSpPr/>
          <p:nvPr/>
        </p:nvSpPr>
        <p:spPr>
          <a:xfrm>
            <a:off x="896112" y="2606040"/>
            <a:ext cx="530352" cy="310896"/>
          </a:xfrm>
          <a:prstGeom prst="rect">
            <a:avLst/>
          </a:prstGeom>
          <a:noFill/>
          <a:ln/>
        </p:spPr>
        <p:txBody>
          <a:bodyPr wrap="square" lIns="0" tIns="0" rIns="0" bIns="0" rtlCol="0" anchor="ctr">
            <a:normAutofit/>
          </a:bodyPr>
          <a:lstStyle/>
          <a:p>
            <a:pPr algn="ctr" indent="0" marL="0">
              <a:buNone/>
            </a:pPr>
            <a:r>
              <a:rPr lang="en-US" sz="1000" b="1" dirty="0">
                <a:solidFill>
                  <a:srgbClr val="00527F"/>
                </a:solidFill>
                <a:latin typeface="Calibri" pitchFamily="34" charset="0"/>
                <a:ea typeface="Calibri" pitchFamily="34" charset="-122"/>
                <a:cs typeface="Calibri" pitchFamily="34" charset="-120"/>
              </a:rPr>
              <a:t>ID</a:t>
            </a:r>
            <a:endParaRPr lang="en-US" sz="1000" dirty="0"/>
          </a:p>
        </p:txBody>
      </p:sp>
      <p:sp>
        <p:nvSpPr>
          <p:cNvPr id="9" name="Text 7"/>
          <p:cNvSpPr/>
          <p:nvPr/>
        </p:nvSpPr>
        <p:spPr>
          <a:xfrm>
            <a:off x="1609344" y="2587752"/>
            <a:ext cx="1719072" cy="365760"/>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Explicit bin mapping</a:t>
            </a:r>
            <a:endParaRPr lang="en-US" sz="1400" dirty="0"/>
          </a:p>
        </p:txBody>
      </p:sp>
      <p:sp>
        <p:nvSpPr>
          <p:cNvPr id="10" name="Shape 8"/>
          <p:cNvSpPr/>
          <p:nvPr/>
        </p:nvSpPr>
        <p:spPr>
          <a:xfrm>
            <a:off x="896112" y="3163824"/>
            <a:ext cx="530352" cy="347472"/>
          </a:xfrm>
          <a:prstGeom prst="roundRect">
            <a:avLst>
              <a:gd name="adj" fmla="val 13158"/>
            </a:avLst>
          </a:prstGeom>
          <a:solidFill>
            <a:srgbClr val="E7F2F8"/>
          </a:solidFill>
          <a:ln w="12700">
            <a:solidFill>
              <a:srgbClr val="B9D8E8"/>
            </a:solidFill>
            <a:prstDash val="solid"/>
          </a:ln>
        </p:spPr>
      </p:sp>
      <p:sp>
        <p:nvSpPr>
          <p:cNvPr id="11" name="Text 9"/>
          <p:cNvSpPr/>
          <p:nvPr/>
        </p:nvSpPr>
        <p:spPr>
          <a:xfrm>
            <a:off x="896112" y="3172968"/>
            <a:ext cx="530352" cy="310896"/>
          </a:xfrm>
          <a:prstGeom prst="rect">
            <a:avLst/>
          </a:prstGeom>
          <a:noFill/>
          <a:ln/>
        </p:spPr>
        <p:txBody>
          <a:bodyPr wrap="square" lIns="0" tIns="0" rIns="0" bIns="0" rtlCol="0" anchor="ctr">
            <a:normAutofit/>
          </a:bodyPr>
          <a:lstStyle/>
          <a:p>
            <a:pPr algn="ctr" indent="0" marL="0">
              <a:buNone/>
            </a:pPr>
            <a:r>
              <a:rPr lang="en-US" sz="1000" b="1" dirty="0">
                <a:solidFill>
                  <a:srgbClr val="00527F"/>
                </a:solidFill>
                <a:latin typeface="Calibri" pitchFamily="34" charset="0"/>
                <a:ea typeface="Calibri" pitchFamily="34" charset="-122"/>
                <a:cs typeface="Calibri" pitchFamily="34" charset="-120"/>
              </a:rPr>
              <a:t>UTC</a:t>
            </a:r>
            <a:endParaRPr lang="en-US" sz="1000" dirty="0"/>
          </a:p>
        </p:txBody>
      </p:sp>
      <p:sp>
        <p:nvSpPr>
          <p:cNvPr id="12" name="Text 10"/>
          <p:cNvSpPr/>
          <p:nvPr/>
        </p:nvSpPr>
        <p:spPr>
          <a:xfrm>
            <a:off x="1609344" y="3154680"/>
            <a:ext cx="1719072" cy="365760"/>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One shared decision time</a:t>
            </a:r>
            <a:endParaRPr lang="en-US" sz="1400" dirty="0"/>
          </a:p>
        </p:txBody>
      </p:sp>
      <p:sp>
        <p:nvSpPr>
          <p:cNvPr id="13" name="Shape 11"/>
          <p:cNvSpPr/>
          <p:nvPr/>
        </p:nvSpPr>
        <p:spPr>
          <a:xfrm>
            <a:off x="896112" y="3730752"/>
            <a:ext cx="530352" cy="347472"/>
          </a:xfrm>
          <a:prstGeom prst="roundRect">
            <a:avLst>
              <a:gd name="adj" fmla="val 13158"/>
            </a:avLst>
          </a:prstGeom>
          <a:solidFill>
            <a:srgbClr val="E7F2F8"/>
          </a:solidFill>
          <a:ln w="12700">
            <a:solidFill>
              <a:srgbClr val="B9D8E8"/>
            </a:solidFill>
            <a:prstDash val="solid"/>
          </a:ln>
        </p:spPr>
      </p:sp>
      <p:sp>
        <p:nvSpPr>
          <p:cNvPr id="14" name="Text 12"/>
          <p:cNvSpPr/>
          <p:nvPr/>
        </p:nvSpPr>
        <p:spPr>
          <a:xfrm>
            <a:off x="896112" y="3739896"/>
            <a:ext cx="530352" cy="310896"/>
          </a:xfrm>
          <a:prstGeom prst="rect">
            <a:avLst/>
          </a:prstGeom>
          <a:noFill/>
          <a:ln/>
        </p:spPr>
        <p:txBody>
          <a:bodyPr wrap="square" lIns="0" tIns="0" rIns="0" bIns="0" rtlCol="0" anchor="ctr">
            <a:normAutofit/>
          </a:bodyPr>
          <a:lstStyle/>
          <a:p>
            <a:pPr algn="ctr" indent="0" marL="0">
              <a:buNone/>
            </a:pPr>
            <a:r>
              <a:rPr lang="en-US" sz="1000" b="1" dirty="0">
                <a:solidFill>
                  <a:srgbClr val="00527F"/>
                </a:solidFill>
                <a:latin typeface="Calibri" pitchFamily="34" charset="0"/>
                <a:ea typeface="Calibri" pitchFamily="34" charset="-122"/>
                <a:cs typeface="Calibri" pitchFamily="34" charset="-120"/>
              </a:rPr>
              <a:t>AGE</a:t>
            </a:r>
            <a:endParaRPr lang="en-US" sz="1000" dirty="0"/>
          </a:p>
        </p:txBody>
      </p:sp>
      <p:sp>
        <p:nvSpPr>
          <p:cNvPr id="15" name="Text 13"/>
          <p:cNvSpPr/>
          <p:nvPr/>
        </p:nvSpPr>
        <p:spPr>
          <a:xfrm>
            <a:off x="1609344" y="3721608"/>
            <a:ext cx="1719072" cy="365760"/>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Observation freshness</a:t>
            </a:r>
            <a:endParaRPr lang="en-US" sz="1400" dirty="0"/>
          </a:p>
        </p:txBody>
      </p:sp>
      <p:sp>
        <p:nvSpPr>
          <p:cNvPr id="16" name="Shape 14"/>
          <p:cNvSpPr/>
          <p:nvPr/>
        </p:nvSpPr>
        <p:spPr>
          <a:xfrm>
            <a:off x="896112" y="4297680"/>
            <a:ext cx="530352" cy="347472"/>
          </a:xfrm>
          <a:prstGeom prst="roundRect">
            <a:avLst>
              <a:gd name="adj" fmla="val 13158"/>
            </a:avLst>
          </a:prstGeom>
          <a:solidFill>
            <a:srgbClr val="E7F2F8"/>
          </a:solidFill>
          <a:ln w="12700">
            <a:solidFill>
              <a:srgbClr val="B9D8E8"/>
            </a:solidFill>
            <a:prstDash val="solid"/>
          </a:ln>
        </p:spPr>
      </p:sp>
      <p:sp>
        <p:nvSpPr>
          <p:cNvPr id="17" name="Text 15"/>
          <p:cNvSpPr/>
          <p:nvPr/>
        </p:nvSpPr>
        <p:spPr>
          <a:xfrm>
            <a:off x="896112" y="4306824"/>
            <a:ext cx="530352" cy="310896"/>
          </a:xfrm>
          <a:prstGeom prst="rect">
            <a:avLst/>
          </a:prstGeom>
          <a:noFill/>
          <a:ln/>
        </p:spPr>
        <p:txBody>
          <a:bodyPr wrap="square" lIns="0" tIns="0" rIns="0" bIns="0" rtlCol="0" anchor="ctr">
            <a:normAutofit/>
          </a:bodyPr>
          <a:lstStyle/>
          <a:p>
            <a:pPr algn="ctr" indent="0" marL="0">
              <a:buNone/>
            </a:pPr>
            <a:r>
              <a:rPr lang="en-US" sz="1000" b="1" dirty="0">
                <a:solidFill>
                  <a:srgbClr val="00527F"/>
                </a:solidFill>
                <a:latin typeface="Calibri" pitchFamily="34" charset="0"/>
                <a:ea typeface="Calibri" pitchFamily="34" charset="-122"/>
                <a:cs typeface="Calibri" pitchFamily="34" charset="-120"/>
              </a:rPr>
              <a:t>Q</a:t>
            </a:r>
            <a:endParaRPr lang="en-US" sz="1000" dirty="0"/>
          </a:p>
        </p:txBody>
      </p:sp>
      <p:sp>
        <p:nvSpPr>
          <p:cNvPr id="18" name="Text 16"/>
          <p:cNvSpPr/>
          <p:nvPr/>
        </p:nvSpPr>
        <p:spPr>
          <a:xfrm>
            <a:off x="1609344" y="4288536"/>
            <a:ext cx="1719072" cy="365760"/>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Confidence and quality flags</a:t>
            </a:r>
            <a:endParaRPr lang="en-US" sz="1400" dirty="0"/>
          </a:p>
        </p:txBody>
      </p:sp>
      <p:sp>
        <p:nvSpPr>
          <p:cNvPr id="19" name="Shape 17"/>
          <p:cNvSpPr/>
          <p:nvPr/>
        </p:nvSpPr>
        <p:spPr>
          <a:xfrm>
            <a:off x="896112" y="4864608"/>
            <a:ext cx="530352" cy="347472"/>
          </a:xfrm>
          <a:prstGeom prst="roundRect">
            <a:avLst>
              <a:gd name="adj" fmla="val 13158"/>
            </a:avLst>
          </a:prstGeom>
          <a:solidFill>
            <a:srgbClr val="E7F2F8"/>
          </a:solidFill>
          <a:ln w="12700">
            <a:solidFill>
              <a:srgbClr val="B9D8E8"/>
            </a:solidFill>
            <a:prstDash val="solid"/>
          </a:ln>
        </p:spPr>
      </p:sp>
      <p:sp>
        <p:nvSpPr>
          <p:cNvPr id="20" name="Text 18"/>
          <p:cNvSpPr/>
          <p:nvPr/>
        </p:nvSpPr>
        <p:spPr>
          <a:xfrm>
            <a:off x="896112" y="4873752"/>
            <a:ext cx="530352" cy="310896"/>
          </a:xfrm>
          <a:prstGeom prst="rect">
            <a:avLst/>
          </a:prstGeom>
          <a:noFill/>
          <a:ln/>
        </p:spPr>
        <p:txBody>
          <a:bodyPr wrap="square" lIns="0" tIns="0" rIns="0" bIns="0" rtlCol="0" anchor="ctr">
            <a:normAutofit/>
          </a:bodyPr>
          <a:lstStyle/>
          <a:p>
            <a:pPr algn="ctr" indent="0" marL="0">
              <a:buNone/>
            </a:pPr>
            <a:r>
              <a:rPr lang="en-US" sz="1000" b="1" dirty="0">
                <a:solidFill>
                  <a:srgbClr val="00527F"/>
                </a:solidFill>
                <a:latin typeface="Calibri" pitchFamily="34" charset="0"/>
                <a:ea typeface="Calibri" pitchFamily="34" charset="-122"/>
                <a:cs typeface="Calibri" pitchFamily="34" charset="-120"/>
              </a:rPr>
              <a:t>ALL</a:t>
            </a:r>
            <a:endParaRPr lang="en-US" sz="1000" dirty="0"/>
          </a:p>
        </p:txBody>
      </p:sp>
      <p:sp>
        <p:nvSpPr>
          <p:cNvPr id="21" name="Text 19"/>
          <p:cNvSpPr/>
          <p:nvPr/>
        </p:nvSpPr>
        <p:spPr>
          <a:xfrm>
            <a:off x="1609344" y="4855464"/>
            <a:ext cx="1719072" cy="365760"/>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One record per configured bin</a:t>
            </a:r>
            <a:endParaRPr lang="en-US" sz="1400" dirty="0"/>
          </a:p>
        </p:txBody>
      </p:sp>
      <p:sp>
        <p:nvSpPr>
          <p:cNvPr id="22" name="Shape 20"/>
          <p:cNvSpPr/>
          <p:nvPr/>
        </p:nvSpPr>
        <p:spPr>
          <a:xfrm>
            <a:off x="3822192" y="3794760"/>
            <a:ext cx="795528" cy="0"/>
          </a:xfrm>
          <a:prstGeom prst="line">
            <a:avLst/>
          </a:prstGeom>
          <a:noFill/>
          <a:ln w="38100">
            <a:solidFill>
              <a:srgbClr val="006DAE"/>
            </a:solidFill>
            <a:prstDash val="solid"/>
            <a:tailEnd type="triangle"/>
          </a:ln>
        </p:spPr>
      </p:sp>
      <p:sp>
        <p:nvSpPr>
          <p:cNvPr id="23" name="Shape 21"/>
          <p:cNvSpPr/>
          <p:nvPr/>
        </p:nvSpPr>
        <p:spPr>
          <a:xfrm>
            <a:off x="4663440" y="2286000"/>
            <a:ext cx="2011680" cy="2971800"/>
          </a:xfrm>
          <a:prstGeom prst="hexagon">
            <a:avLst/>
          </a:prstGeom>
          <a:solidFill>
            <a:srgbClr val="171D20"/>
          </a:solidFill>
          <a:ln w="12700">
            <a:solidFill>
              <a:srgbClr val="171D20"/>
            </a:solidFill>
            <a:prstDash val="solid"/>
          </a:ln>
          <a:effectLst>
            <a:outerShdw sx="100000" sy="100000" kx="0" ky="0" algn="bl" rotWithShape="0" blurRad="31750" dist="50800" dir="2700000">
              <a:srgbClr val="000000">
                <a:alpha val="18000"/>
              </a:srgbClr>
            </a:outerShdw>
          </a:effectLst>
        </p:spPr>
      </p:sp>
      <p:sp>
        <p:nvSpPr>
          <p:cNvPr id="24" name="Text 22"/>
          <p:cNvSpPr/>
          <p:nvPr/>
        </p:nvSpPr>
        <p:spPr>
          <a:xfrm>
            <a:off x="4983480" y="3072384"/>
            <a:ext cx="1371600" cy="749808"/>
          </a:xfrm>
          <a:prstGeom prst="rect">
            <a:avLst/>
          </a:prstGeom>
          <a:noFill/>
          <a:ln/>
        </p:spPr>
        <p:txBody>
          <a:bodyPr wrap="square" lIns="0" tIns="0" rIns="0" bIns="0" rtlCol="0" anchor="ctr">
            <a:normAutofit/>
          </a:bodyPr>
          <a:lstStyle/>
          <a:p>
            <a:pPr algn="ctr" indent="0" marL="0">
              <a:buNone/>
            </a:pPr>
            <a:r>
              <a:rPr lang="en-US" sz="2300" b="1" dirty="0">
                <a:solidFill>
                  <a:srgbClr val="FFFFFF"/>
                </a:solidFill>
                <a:latin typeface="Calibri" pitchFamily="34" charset="0"/>
                <a:ea typeface="Calibri" pitchFamily="34" charset="-122"/>
                <a:cs typeface="Calibri" pitchFamily="34" charset="-120"/>
              </a:rPr>
              <a:t>QUALITY</a:t>
            </a:r>
            <a:endParaRPr lang="en-US" sz="2300" dirty="0"/>
          </a:p>
          <a:p>
            <a:pPr algn="ctr" indent="0" marL="0">
              <a:buNone/>
            </a:pPr>
            <a:r>
              <a:rPr lang="en-US" sz="2300" b="1" dirty="0">
                <a:solidFill>
                  <a:srgbClr val="FFFFFF"/>
                </a:solidFill>
                <a:latin typeface="Calibri" pitchFamily="34" charset="0"/>
                <a:ea typeface="Calibri" pitchFamily="34" charset="-122"/>
                <a:cs typeface="Calibri" pitchFamily="34" charset="-120"/>
              </a:rPr>
              <a:t>GATE</a:t>
            </a:r>
            <a:endParaRPr lang="en-US" sz="2300" dirty="0"/>
          </a:p>
        </p:txBody>
      </p:sp>
      <p:sp>
        <p:nvSpPr>
          <p:cNvPr id="25" name="Text 23"/>
          <p:cNvSpPr/>
          <p:nvPr/>
        </p:nvSpPr>
        <p:spPr>
          <a:xfrm>
            <a:off x="4956048" y="4114800"/>
            <a:ext cx="1417320" cy="320040"/>
          </a:xfrm>
          <a:prstGeom prst="rect">
            <a:avLst/>
          </a:prstGeom>
          <a:noFill/>
          <a:ln/>
        </p:spPr>
        <p:txBody>
          <a:bodyPr wrap="square" lIns="0" tIns="0" rIns="0" bIns="0" rtlCol="0" anchor="ctr">
            <a:normAutofit/>
          </a:bodyPr>
          <a:lstStyle/>
          <a:p>
            <a:pPr algn="ctr" indent="0" marL="0">
              <a:buNone/>
            </a:pPr>
            <a:r>
              <a:rPr lang="en-US" sz="1100" b="1" dirty="0">
                <a:solidFill>
                  <a:srgbClr val="21C7F6"/>
                </a:solidFill>
                <a:latin typeface="Calibri" pitchFamily="34" charset="0"/>
                <a:ea typeface="Calibri" pitchFamily="34" charset="-122"/>
                <a:cs typeface="Calibri" pitchFamily="34" charset="-120"/>
              </a:rPr>
              <a:t>No silent repair</a:t>
            </a:r>
            <a:endParaRPr lang="en-US" sz="1100" dirty="0"/>
          </a:p>
        </p:txBody>
      </p:sp>
      <p:sp>
        <p:nvSpPr>
          <p:cNvPr id="26" name="Shape 24"/>
          <p:cNvSpPr/>
          <p:nvPr/>
        </p:nvSpPr>
        <p:spPr>
          <a:xfrm>
            <a:off x="6784848" y="2359152"/>
            <a:ext cx="548640" cy="548640"/>
          </a:xfrm>
          <a:prstGeom prst="lineInv">
            <a:avLst/>
          </a:prstGeom>
          <a:noFill/>
          <a:ln w="31750">
            <a:solidFill>
              <a:srgbClr val="C64045"/>
            </a:solidFill>
            <a:prstDash val="solid"/>
            <a:tailEnd type="triangle"/>
          </a:ln>
        </p:spPr>
      </p:sp>
      <p:sp>
        <p:nvSpPr>
          <p:cNvPr id="27" name="Shape 25"/>
          <p:cNvSpPr/>
          <p:nvPr/>
        </p:nvSpPr>
        <p:spPr>
          <a:xfrm>
            <a:off x="6784848" y="3776472"/>
            <a:ext cx="548640" cy="0"/>
          </a:xfrm>
          <a:prstGeom prst="line">
            <a:avLst/>
          </a:prstGeom>
          <a:noFill/>
          <a:ln w="31750">
            <a:solidFill>
              <a:srgbClr val="D99A24"/>
            </a:solidFill>
            <a:prstDash val="solid"/>
            <a:tailEnd type="triangle"/>
          </a:ln>
        </p:spPr>
      </p:sp>
      <p:sp>
        <p:nvSpPr>
          <p:cNvPr id="28" name="Shape 26"/>
          <p:cNvSpPr/>
          <p:nvPr/>
        </p:nvSpPr>
        <p:spPr>
          <a:xfrm>
            <a:off x="6784848" y="4645152"/>
            <a:ext cx="548640" cy="548640"/>
          </a:xfrm>
          <a:prstGeom prst="line">
            <a:avLst/>
          </a:prstGeom>
          <a:noFill/>
          <a:ln w="31750">
            <a:solidFill>
              <a:srgbClr val="2F7D5B"/>
            </a:solidFill>
            <a:prstDash val="solid"/>
            <a:tailEnd type="triangle"/>
          </a:ln>
        </p:spPr>
      </p:sp>
      <p:sp>
        <p:nvSpPr>
          <p:cNvPr id="29" name="Shape 27"/>
          <p:cNvSpPr/>
          <p:nvPr/>
        </p:nvSpPr>
        <p:spPr>
          <a:xfrm>
            <a:off x="7479792" y="1856232"/>
            <a:ext cx="3977640" cy="1143000"/>
          </a:xfrm>
          <a:prstGeom prst="roundRect">
            <a:avLst>
              <a:gd name="adj" fmla="val 6400"/>
            </a:avLst>
          </a:prstGeom>
          <a:solidFill>
            <a:srgbClr val="FBE9EA"/>
          </a:solidFill>
          <a:ln w="12700">
            <a:solidFill>
              <a:srgbClr val="C64045"/>
            </a:solidFill>
            <a:prstDash val="solid"/>
          </a:ln>
        </p:spPr>
      </p:sp>
      <p:sp>
        <p:nvSpPr>
          <p:cNvPr id="30" name="Text 28"/>
          <p:cNvSpPr/>
          <p:nvPr/>
        </p:nvSpPr>
        <p:spPr>
          <a:xfrm>
            <a:off x="7772400" y="2057400"/>
            <a:ext cx="2148840" cy="274320"/>
          </a:xfrm>
          <a:prstGeom prst="rect">
            <a:avLst/>
          </a:prstGeom>
          <a:noFill/>
          <a:ln/>
        </p:spPr>
        <p:txBody>
          <a:bodyPr wrap="square" lIns="0" tIns="0" rIns="0" bIns="0" rtlCol="0" anchor="ctr">
            <a:normAutofit/>
          </a:bodyPr>
          <a:lstStyle/>
          <a:p>
            <a:pPr indent="0" marL="0">
              <a:buNone/>
            </a:pPr>
            <a:r>
              <a:rPr lang="en-US" sz="1400" b="1" dirty="0">
                <a:solidFill>
                  <a:srgbClr val="C64045"/>
                </a:solidFill>
                <a:latin typeface="Calibri" pitchFamily="34" charset="0"/>
                <a:ea typeface="Calibri" pitchFamily="34" charset="-122"/>
                <a:cs typeface="Calibri" pitchFamily="34" charset="-120"/>
              </a:rPr>
              <a:t>COLLECTION-RELEVANT</a:t>
            </a:r>
            <a:endParaRPr lang="en-US" sz="1400" dirty="0"/>
          </a:p>
        </p:txBody>
      </p:sp>
      <p:sp>
        <p:nvSpPr>
          <p:cNvPr id="31" name="Text 29"/>
          <p:cNvSpPr/>
          <p:nvPr/>
        </p:nvSpPr>
        <p:spPr>
          <a:xfrm>
            <a:off x="7772400" y="2414016"/>
            <a:ext cx="3154680" cy="320040"/>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Urgent evidence survives review flags.</a:t>
            </a:r>
            <a:endParaRPr lang="en-US" sz="1300" dirty="0"/>
          </a:p>
        </p:txBody>
      </p:sp>
      <p:sp>
        <p:nvSpPr>
          <p:cNvPr id="32" name="Shape 30"/>
          <p:cNvSpPr/>
          <p:nvPr/>
        </p:nvSpPr>
        <p:spPr>
          <a:xfrm>
            <a:off x="7479792" y="3227832"/>
            <a:ext cx="3977640" cy="1143000"/>
          </a:xfrm>
          <a:prstGeom prst="roundRect">
            <a:avLst>
              <a:gd name="adj" fmla="val 6400"/>
            </a:avLst>
          </a:prstGeom>
          <a:solidFill>
            <a:srgbClr val="FFF3DA"/>
          </a:solidFill>
          <a:ln w="12700">
            <a:solidFill>
              <a:srgbClr val="D99A24"/>
            </a:solidFill>
            <a:prstDash val="solid"/>
          </a:ln>
        </p:spPr>
      </p:sp>
      <p:sp>
        <p:nvSpPr>
          <p:cNvPr id="33" name="Text 31"/>
          <p:cNvSpPr/>
          <p:nvPr/>
        </p:nvSpPr>
        <p:spPr>
          <a:xfrm>
            <a:off x="7772400" y="3429000"/>
            <a:ext cx="2148840" cy="274320"/>
          </a:xfrm>
          <a:prstGeom prst="rect">
            <a:avLst/>
          </a:prstGeom>
          <a:noFill/>
          <a:ln/>
        </p:spPr>
        <p:txBody>
          <a:bodyPr wrap="square" lIns="0" tIns="0" rIns="0" bIns="0" rtlCol="0" anchor="ctr">
            <a:normAutofit/>
          </a:bodyPr>
          <a:lstStyle/>
          <a:p>
            <a:pPr indent="0" marL="0">
              <a:buNone/>
            </a:pPr>
            <a:r>
              <a:rPr lang="en-US" sz="1400" b="1" dirty="0">
                <a:solidFill>
                  <a:srgbClr val="8A5C00"/>
                </a:solidFill>
                <a:latin typeface="Calibri" pitchFamily="34" charset="0"/>
                <a:ea typeface="Calibri" pitchFamily="34" charset="-122"/>
                <a:cs typeface="Calibri" pitchFamily="34" charset="-120"/>
              </a:rPr>
              <a:t>INSPECTION REQUIRED</a:t>
            </a:r>
            <a:endParaRPr lang="en-US" sz="1400" dirty="0"/>
          </a:p>
        </p:txBody>
      </p:sp>
      <p:sp>
        <p:nvSpPr>
          <p:cNvPr id="34" name="Text 32"/>
          <p:cNvSpPr/>
          <p:nvPr/>
        </p:nvSpPr>
        <p:spPr>
          <a:xfrm>
            <a:off x="7772400" y="3785616"/>
            <a:ext cx="3246120" cy="320040"/>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Missing, stale or conflicting evidence is visible.</a:t>
            </a:r>
            <a:endParaRPr lang="en-US" sz="1300" dirty="0"/>
          </a:p>
        </p:txBody>
      </p:sp>
      <p:sp>
        <p:nvSpPr>
          <p:cNvPr id="35" name="Shape 33"/>
          <p:cNvSpPr/>
          <p:nvPr/>
        </p:nvSpPr>
        <p:spPr>
          <a:xfrm>
            <a:off x="7479792" y="4599432"/>
            <a:ext cx="3977640" cy="1143000"/>
          </a:xfrm>
          <a:prstGeom prst="roundRect">
            <a:avLst>
              <a:gd name="adj" fmla="val 6400"/>
            </a:avLst>
          </a:prstGeom>
          <a:solidFill>
            <a:srgbClr val="E7F2EC"/>
          </a:solidFill>
          <a:ln w="12700">
            <a:solidFill>
              <a:srgbClr val="2F7D5B"/>
            </a:solidFill>
            <a:prstDash val="solid"/>
          </a:ln>
        </p:spPr>
      </p:sp>
      <p:sp>
        <p:nvSpPr>
          <p:cNvPr id="36" name="Text 34"/>
          <p:cNvSpPr/>
          <p:nvPr/>
        </p:nvSpPr>
        <p:spPr>
          <a:xfrm>
            <a:off x="7772400" y="4800600"/>
            <a:ext cx="2148840" cy="274320"/>
          </a:xfrm>
          <a:prstGeom prst="rect">
            <a:avLst/>
          </a:prstGeom>
          <a:noFill/>
          <a:ln/>
        </p:spPr>
        <p:txBody>
          <a:bodyPr wrap="square" lIns="0" tIns="0" rIns="0" bIns="0" rtlCol="0" anchor="ctr">
            <a:normAutofit/>
          </a:bodyPr>
          <a:lstStyle/>
          <a:p>
            <a:pPr indent="0" marL="0">
              <a:buNone/>
            </a:pPr>
            <a:r>
              <a:rPr lang="en-US" sz="1400" b="1" dirty="0">
                <a:solidFill>
                  <a:srgbClr val="2F7D5B"/>
                </a:solidFill>
                <a:latin typeface="Calibri" pitchFamily="34" charset="0"/>
                <a:ea typeface="Calibri" pitchFamily="34" charset="-122"/>
                <a:cs typeface="Calibri" pitchFamily="34" charset="-120"/>
              </a:rPr>
              <a:t>SAFE TO EVALUATE</a:t>
            </a:r>
            <a:endParaRPr lang="en-US" sz="1400" dirty="0"/>
          </a:p>
        </p:txBody>
      </p:sp>
      <p:sp>
        <p:nvSpPr>
          <p:cNvPr id="37" name="Text 35"/>
          <p:cNvSpPr/>
          <p:nvPr/>
        </p:nvSpPr>
        <p:spPr>
          <a:xfrm>
            <a:off x="7772400" y="5157216"/>
            <a:ext cx="3154680" cy="320040"/>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Only then can waiting be considered.</a:t>
            </a:r>
            <a:endParaRPr lang="en-US" sz="1300" dirty="0"/>
          </a:p>
        </p:txBody>
      </p:sp>
      <p:sp>
        <p:nvSpPr>
          <p:cNvPr id="38" name="Text 36"/>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STEP 2 · FORECAST</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We estimate when overflow becomes plausible</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The model produces a distribution: an expected path, a conservative upper path, and overflow probabilities.</a:t>
            </a:r>
            <a:endParaRPr lang="en-US" sz="1400" dirty="0"/>
          </a:p>
        </p:txBody>
      </p:sp>
      <p:sp>
        <p:nvSpPr>
          <p:cNvPr id="5" name="Shape 3"/>
          <p:cNvSpPr/>
          <p:nvPr/>
        </p:nvSpPr>
        <p:spPr>
          <a:xfrm>
            <a:off x="612648" y="1755648"/>
            <a:ext cx="6812280" cy="4251960"/>
          </a:xfrm>
          <a:prstGeom prst="roundRect">
            <a:avLst>
              <a:gd name="adj" fmla="val 1720"/>
            </a:avLst>
          </a:prstGeom>
          <a:solidFill>
            <a:srgbClr val="FFFFFF"/>
          </a:solidFill>
          <a:ln w="12700">
            <a:solidFill>
              <a:srgbClr val="D7DDDC"/>
            </a:solidFill>
            <a:prstDash val="solid"/>
          </a:ln>
          <a:effectLst>
            <a:outerShdw sx="100000" sy="100000" kx="0" ky="0" algn="bl" rotWithShape="0" blurRad="19050" dist="50800" dir="2700000">
              <a:srgbClr val="000000">
                <a:alpha val="10000"/>
              </a:srgbClr>
            </a:outerShdw>
          </a:effectLst>
        </p:spPr>
      </p:sp>
      <p:graphicFrame>
        <p:nvGraphicFramePr>
          <p:cNvPr id="6" name="Chart 0" descr=""/>
          <p:cNvGraphicFramePr/>
          <p:nvPr/>
        </p:nvGraphicFramePr>
        <p:xfrm>
          <a:off x="896112" y="2048256"/>
          <a:ext cx="6236208" cy="3429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1399032" y="2907792"/>
            <a:ext cx="5394960" cy="0"/>
          </a:xfrm>
          <a:prstGeom prst="line">
            <a:avLst/>
          </a:prstGeom>
          <a:noFill/>
          <a:ln w="19050">
            <a:solidFill>
              <a:srgbClr val="C64045"/>
            </a:solidFill>
            <a:prstDash val="solid"/>
          </a:ln>
        </p:spPr>
      </p:sp>
      <p:sp>
        <p:nvSpPr>
          <p:cNvPr id="8" name="Shape 5"/>
          <p:cNvSpPr/>
          <p:nvPr/>
        </p:nvSpPr>
        <p:spPr>
          <a:xfrm>
            <a:off x="4956048" y="2697480"/>
            <a:ext cx="1874520" cy="292608"/>
          </a:xfrm>
          <a:prstGeom prst="roundRect">
            <a:avLst>
              <a:gd name="adj" fmla="val 21875"/>
            </a:avLst>
          </a:prstGeom>
          <a:solidFill>
            <a:srgbClr val="FBE9EA"/>
          </a:solidFill>
          <a:ln w="12700">
            <a:solidFill>
              <a:srgbClr val="FBE9EA"/>
            </a:solidFill>
            <a:prstDash val="solid"/>
          </a:ln>
        </p:spPr>
      </p:sp>
      <p:sp>
        <p:nvSpPr>
          <p:cNvPr id="9" name="Text 6"/>
          <p:cNvSpPr/>
          <p:nvPr/>
        </p:nvSpPr>
        <p:spPr>
          <a:xfrm>
            <a:off x="5029200" y="2706624"/>
            <a:ext cx="1728216" cy="265176"/>
          </a:xfrm>
          <a:prstGeom prst="rect">
            <a:avLst/>
          </a:prstGeom>
          <a:noFill/>
          <a:ln/>
        </p:spPr>
        <p:txBody>
          <a:bodyPr wrap="square" lIns="0" tIns="0" rIns="0" bIns="0" rtlCol="0" anchor="ctr">
            <a:normAutofit/>
          </a:bodyPr>
          <a:lstStyle/>
          <a:p>
            <a:pPr algn="ctr" indent="0" marL="0">
              <a:buNone/>
            </a:pPr>
            <a:r>
              <a:rPr lang="en-US" sz="1050" b="1" dirty="0">
                <a:solidFill>
                  <a:srgbClr val="C64045"/>
                </a:solidFill>
                <a:latin typeface="Calibri" pitchFamily="34" charset="0"/>
                <a:ea typeface="Calibri" pitchFamily="34" charset="-122"/>
                <a:cs typeface="Calibri" pitchFamily="34" charset="-120"/>
              </a:rPr>
              <a:t>100% OVERFLOW THRESHOLD</a:t>
            </a:r>
            <a:endParaRPr lang="en-US" sz="1050" dirty="0"/>
          </a:p>
        </p:txBody>
      </p:sp>
      <p:sp>
        <p:nvSpPr>
          <p:cNvPr id="10" name="Shape 7"/>
          <p:cNvSpPr/>
          <p:nvPr/>
        </p:nvSpPr>
        <p:spPr>
          <a:xfrm>
            <a:off x="7726680" y="1755648"/>
            <a:ext cx="3840480" cy="4251960"/>
          </a:xfrm>
          <a:prstGeom prst="roundRect">
            <a:avLst>
              <a:gd name="adj" fmla="val 1905"/>
            </a:avLst>
          </a:prstGeom>
          <a:solidFill>
            <a:srgbClr val="171D20"/>
          </a:solidFill>
          <a:ln w="12700">
            <a:solidFill>
              <a:srgbClr val="171D20"/>
            </a:solidFill>
            <a:prstDash val="solid"/>
          </a:ln>
          <a:effectLst>
            <a:outerShdw sx="100000" sy="100000" kx="0" ky="0" algn="bl" rotWithShape="0" blurRad="19050" dist="50800" dir="2700000">
              <a:srgbClr val="000000">
                <a:alpha val="10000"/>
              </a:srgbClr>
            </a:outerShdw>
          </a:effectLst>
        </p:spPr>
      </p:sp>
      <p:sp>
        <p:nvSpPr>
          <p:cNvPr id="11" name="Text 8"/>
          <p:cNvSpPr/>
          <p:nvPr/>
        </p:nvSpPr>
        <p:spPr>
          <a:xfrm>
            <a:off x="8046720" y="2029968"/>
            <a:ext cx="2971800" cy="292608"/>
          </a:xfrm>
          <a:prstGeom prst="rect">
            <a:avLst/>
          </a:prstGeom>
          <a:noFill/>
          <a:ln/>
        </p:spPr>
        <p:txBody>
          <a:bodyPr wrap="square" lIns="0" tIns="0" rIns="0" bIns="0" rtlCol="0" anchor="ctr">
            <a:normAutofit/>
          </a:bodyPr>
          <a:lstStyle/>
          <a:p>
            <a:pPr indent="0" marL="0">
              <a:buNone/>
            </a:pPr>
            <a:r>
              <a:rPr lang="en-US" sz="1200" b="1" spc="100" kern="0" dirty="0">
                <a:solidFill>
                  <a:srgbClr val="21C7F6"/>
                </a:solidFill>
                <a:latin typeface="Calibri" pitchFamily="34" charset="0"/>
                <a:ea typeface="Calibri" pitchFamily="34" charset="-122"/>
                <a:cs typeface="Calibri" pitchFamily="34" charset="-120"/>
              </a:rPr>
              <a:t>WHAT SHAPES THE PATH</a:t>
            </a:r>
            <a:endParaRPr lang="en-US" sz="1200" dirty="0"/>
          </a:p>
        </p:txBody>
      </p:sp>
      <p:sp>
        <p:nvSpPr>
          <p:cNvPr id="12" name="Text 9"/>
          <p:cNvSpPr/>
          <p:nvPr/>
        </p:nvSpPr>
        <p:spPr>
          <a:xfrm>
            <a:off x="8065008" y="2542032"/>
            <a:ext cx="2999232" cy="2057400"/>
          </a:xfrm>
          <a:prstGeom prst="rect">
            <a:avLst/>
          </a:prstGeom>
          <a:noFill/>
          <a:ln/>
        </p:spPr>
        <p:txBody>
          <a:bodyPr wrap="square" lIns="0" tIns="0" rIns="0" bIns="0" rtlCol="0" anchor="t">
            <a:normAutofit/>
          </a:bodyPr>
          <a:lstStyle/>
          <a:p>
            <a:pPr marL="203200" indent="-203200">
              <a:buSzPct val="100000"/>
              <a:buChar char="•"/>
            </a:pPr>
            <a:r>
              <a:rPr lang="en-US" sz="1400" dirty="0">
                <a:solidFill>
                  <a:srgbClr val="FFFFFF"/>
                </a:solidFill>
                <a:latin typeface="Calibri" pitchFamily="34" charset="0"/>
                <a:ea typeface="Calibri" pitchFamily="34" charset="-122"/>
                <a:cs typeface="Calibri" pitchFamily="34" charset="-120"/>
              </a:rPr>
              <a:t>Current fill and robust recent rates</a:t>
            </a:r>
            <a:endParaRPr lang="en-US" sz="1400" dirty="0"/>
          </a:p>
          <a:p>
            <a:pPr marL="203200" indent="-203200">
              <a:buSzPct val="100000"/>
              <a:buChar char="•"/>
            </a:pPr>
            <a:r>
              <a:rPr lang="en-US" sz="1400" dirty="0">
                <a:solidFill>
                  <a:srgbClr val="FFFFFF"/>
                </a:solidFill>
                <a:latin typeface="Calibri" pitchFamily="34" charset="0"/>
                <a:ea typeface="Calibri" pitchFamily="34" charset="-122"/>
                <a:cs typeface="Calibri" pitchFamily="34" charset="-120"/>
              </a:rPr>
              <a:t>Hour, weekday and longer seasonal patterns</a:t>
            </a:r>
            <a:endParaRPr lang="en-US" sz="1400" dirty="0"/>
          </a:p>
          <a:p>
            <a:pPr marL="203200" indent="-203200">
              <a:buSzPct val="100000"/>
              <a:buChar char="•"/>
            </a:pPr>
            <a:r>
              <a:rPr lang="en-US" sz="1400" dirty="0">
                <a:solidFill>
                  <a:srgbClr val="FFFFFF"/>
                </a:solidFill>
                <a:latin typeface="Calibri" pitchFamily="34" charset="0"/>
                <a:ea typeface="Calibri" pitchFamily="34" charset="-122"/>
                <a:cs typeface="Calibri" pitchFamily="34" charset="-120"/>
              </a:rPr>
              <a:t>Time since the last confirmed collection</a:t>
            </a:r>
            <a:endParaRPr lang="en-US" sz="1400" dirty="0"/>
          </a:p>
          <a:p>
            <a:pPr marL="203200" indent="-203200">
              <a:buSzPct val="100000"/>
              <a:buChar char="•"/>
            </a:pPr>
            <a:r>
              <a:rPr lang="en-US" sz="1400" dirty="0">
                <a:solidFill>
                  <a:srgbClr val="FFFFFF"/>
                </a:solidFill>
                <a:latin typeface="Calibri" pitchFamily="34" charset="0"/>
                <a:ea typeface="Calibri" pitchFamily="34" charset="-122"/>
                <a:cs typeface="Calibri" pitchFamily="34" charset="-120"/>
              </a:rPr>
              <a:t>Known event type, timing, proximity and intensity</a:t>
            </a:r>
            <a:endParaRPr lang="en-US" sz="1400" dirty="0"/>
          </a:p>
          <a:p>
            <a:pPr marL="203200" indent="-203200">
              <a:buSzPct val="100000"/>
              <a:buChar char="•"/>
            </a:pPr>
            <a:r>
              <a:rPr lang="en-US" sz="1400" dirty="0">
                <a:solidFill>
                  <a:srgbClr val="FFFFFF"/>
                </a:solidFill>
                <a:latin typeface="Calibri" pitchFamily="34" charset="0"/>
                <a:ea typeface="Calibri" pitchFamily="34" charset="-122"/>
                <a:cs typeface="Calibri" pitchFamily="34" charset="-120"/>
              </a:rPr>
              <a:t>Residual error, missing gaps and concept drift</a:t>
            </a:r>
            <a:endParaRPr lang="en-US" sz="1400" dirty="0"/>
          </a:p>
        </p:txBody>
      </p:sp>
      <p:sp>
        <p:nvSpPr>
          <p:cNvPr id="13" name="Shape 10"/>
          <p:cNvSpPr/>
          <p:nvPr/>
        </p:nvSpPr>
        <p:spPr>
          <a:xfrm>
            <a:off x="8065008" y="4910328"/>
            <a:ext cx="2907792" cy="713232"/>
          </a:xfrm>
          <a:prstGeom prst="roundRect">
            <a:avLst>
              <a:gd name="adj" fmla="val 7692"/>
            </a:avLst>
          </a:prstGeom>
          <a:solidFill>
            <a:srgbClr val="242C30"/>
          </a:solidFill>
          <a:ln w="12700">
            <a:solidFill>
              <a:srgbClr val="405159"/>
            </a:solidFill>
            <a:prstDash val="solid"/>
          </a:ln>
        </p:spPr>
      </p:sp>
      <p:sp>
        <p:nvSpPr>
          <p:cNvPr id="14" name="Text 11"/>
          <p:cNvSpPr/>
          <p:nvPr/>
        </p:nvSpPr>
        <p:spPr>
          <a:xfrm>
            <a:off x="8247888" y="5020056"/>
            <a:ext cx="2532888" cy="4572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TTO = first conservative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threshold crossing</a:t>
            </a:r>
            <a:endParaRPr lang="en-US" sz="1400" dirty="0"/>
          </a:p>
        </p:txBody>
      </p:sp>
      <p:sp>
        <p:nvSpPr>
          <p:cNvPr id="15" name="Text 12"/>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STEP 3 · INTERPRET</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Risk says how soon; confidence says how much we trust it</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A high-risk prediction and a low-confidence reading are different problems and lead to different operator states.</a:t>
            </a:r>
            <a:endParaRPr lang="en-US" sz="1400" dirty="0"/>
          </a:p>
        </p:txBody>
      </p:sp>
      <p:sp>
        <p:nvSpPr>
          <p:cNvPr id="5" name="Shape 3"/>
          <p:cNvSpPr/>
          <p:nvPr/>
        </p:nvSpPr>
        <p:spPr>
          <a:xfrm>
            <a:off x="621792" y="1810512"/>
            <a:ext cx="5166360" cy="4160520"/>
          </a:xfrm>
          <a:prstGeom prst="roundRect">
            <a:avLst>
              <a:gd name="adj" fmla="val 1758"/>
            </a:avLst>
          </a:prstGeom>
          <a:solidFill>
            <a:srgbClr val="FFFFFF"/>
          </a:solidFill>
          <a:ln w="12700">
            <a:solidFill>
              <a:srgbClr val="D7DDDC"/>
            </a:solidFill>
            <a:prstDash val="solid"/>
          </a:ln>
          <a:effectLst>
            <a:outerShdw sx="100000" sy="100000" kx="0" ky="0" algn="bl" rotWithShape="0" blurRad="19050" dist="50800" dir="2700000">
              <a:srgbClr val="000000">
                <a:alpha val="10000"/>
              </a:srgbClr>
            </a:outerShdw>
          </a:effectLst>
        </p:spPr>
      </p:sp>
      <p:sp>
        <p:nvSpPr>
          <p:cNvPr id="6" name="Text 4"/>
          <p:cNvSpPr/>
          <p:nvPr/>
        </p:nvSpPr>
        <p:spPr>
          <a:xfrm>
            <a:off x="896112" y="2057400"/>
            <a:ext cx="2103120" cy="274320"/>
          </a:xfrm>
          <a:prstGeom prst="rect">
            <a:avLst/>
          </a:prstGeom>
          <a:noFill/>
          <a:ln/>
        </p:spPr>
        <p:txBody>
          <a:bodyPr wrap="square" lIns="0" tIns="0" rIns="0" bIns="0" rtlCol="0" anchor="ctr">
            <a:normAutofit/>
          </a:bodyPr>
          <a:lstStyle/>
          <a:p>
            <a:pPr indent="0" marL="0">
              <a:buNone/>
            </a:pPr>
            <a:r>
              <a:rPr lang="en-US" sz="1200" b="1" spc="100" kern="0" dirty="0">
                <a:solidFill>
                  <a:srgbClr val="006DAE"/>
                </a:solidFill>
                <a:latin typeface="Calibri" pitchFamily="34" charset="0"/>
                <a:ea typeface="Calibri" pitchFamily="34" charset="-122"/>
                <a:cs typeface="Calibri" pitchFamily="34" charset="-120"/>
              </a:rPr>
              <a:t>RISK LADDER</a:t>
            </a:r>
            <a:endParaRPr lang="en-US" sz="1200" dirty="0"/>
          </a:p>
        </p:txBody>
      </p:sp>
      <p:sp>
        <p:nvSpPr>
          <p:cNvPr id="7" name="Shape 5"/>
          <p:cNvSpPr/>
          <p:nvPr/>
        </p:nvSpPr>
        <p:spPr>
          <a:xfrm>
            <a:off x="896112" y="2542032"/>
            <a:ext cx="1234440" cy="475488"/>
          </a:xfrm>
          <a:prstGeom prst="roundRect">
            <a:avLst>
              <a:gd name="adj" fmla="val 11538"/>
            </a:avLst>
          </a:prstGeom>
          <a:solidFill>
            <a:srgbClr val="FBE9EA"/>
          </a:solidFill>
          <a:ln w="15240">
            <a:solidFill>
              <a:srgbClr val="C64045"/>
            </a:solidFill>
            <a:prstDash val="solid"/>
          </a:ln>
        </p:spPr>
      </p:sp>
      <p:sp>
        <p:nvSpPr>
          <p:cNvPr id="8" name="Text 6"/>
          <p:cNvSpPr/>
          <p:nvPr/>
        </p:nvSpPr>
        <p:spPr>
          <a:xfrm>
            <a:off x="960120" y="2578608"/>
            <a:ext cx="1097280" cy="365760"/>
          </a:xfrm>
          <a:prstGeom prst="rect">
            <a:avLst/>
          </a:prstGeom>
          <a:noFill/>
          <a:ln/>
        </p:spPr>
        <p:txBody>
          <a:bodyPr wrap="square" lIns="0" tIns="0" rIns="0" bIns="0" rtlCol="0" anchor="ctr">
            <a:normAutofit/>
          </a:bodyPr>
          <a:lstStyle/>
          <a:p>
            <a:pPr algn="ctr" indent="0" marL="0">
              <a:buNone/>
            </a:pPr>
            <a:r>
              <a:rPr lang="en-US" sz="1150" b="1" dirty="0">
                <a:solidFill>
                  <a:srgbClr val="C64045"/>
                </a:solidFill>
                <a:latin typeface="Calibri" pitchFamily="34" charset="0"/>
                <a:ea typeface="Calibri" pitchFamily="34" charset="-122"/>
                <a:cs typeface="Calibri" pitchFamily="34" charset="-120"/>
              </a:rPr>
              <a:t>CRITICAL</a:t>
            </a:r>
            <a:endParaRPr lang="en-US" sz="1150" dirty="0"/>
          </a:p>
        </p:txBody>
      </p:sp>
      <p:sp>
        <p:nvSpPr>
          <p:cNvPr id="9" name="Text 7"/>
          <p:cNvSpPr/>
          <p:nvPr/>
        </p:nvSpPr>
        <p:spPr>
          <a:xfrm>
            <a:off x="2359152" y="2532888"/>
            <a:ext cx="2880360" cy="502920"/>
          </a:xfrm>
          <a:prstGeom prst="rect">
            <a:avLst/>
          </a:prstGeom>
          <a:noFill/>
          <a:ln/>
        </p:spPr>
        <p:txBody>
          <a:bodyPr wrap="square" lIns="0" tIns="0" rIns="0" bIns="0" rtlCol="0" anchor="ctr">
            <a:normAutofit/>
          </a:bodyPr>
          <a:lstStyle/>
          <a:p>
            <a:pPr indent="0" marL="0">
              <a:buNone/>
            </a:pPr>
            <a:r>
              <a:rPr lang="en-US" sz="1330" dirty="0">
                <a:solidFill>
                  <a:srgbClr val="172126"/>
                </a:solidFill>
                <a:latin typeface="Calibri" pitchFamily="34" charset="0"/>
                <a:ea typeface="Calibri" pitchFamily="34" charset="-122"/>
                <a:cs typeface="Calibri" pitchFamily="34" charset="-120"/>
              </a:rPr>
              <a:t>Emergency fill, ≥50% chance by 6 h, or TTO ≤ 6 h</a:t>
            </a:r>
            <a:endParaRPr lang="en-US" sz="1330" dirty="0"/>
          </a:p>
        </p:txBody>
      </p:sp>
      <p:sp>
        <p:nvSpPr>
          <p:cNvPr id="10" name="Shape 8"/>
          <p:cNvSpPr/>
          <p:nvPr/>
        </p:nvSpPr>
        <p:spPr>
          <a:xfrm>
            <a:off x="896112" y="3291840"/>
            <a:ext cx="1234440" cy="475488"/>
          </a:xfrm>
          <a:prstGeom prst="roundRect">
            <a:avLst>
              <a:gd name="adj" fmla="val 11538"/>
            </a:avLst>
          </a:prstGeom>
          <a:solidFill>
            <a:srgbClr val="FFF3DA"/>
          </a:solidFill>
          <a:ln w="15240">
            <a:solidFill>
              <a:srgbClr val="9E5E00"/>
            </a:solidFill>
            <a:prstDash val="solid"/>
          </a:ln>
        </p:spPr>
      </p:sp>
      <p:sp>
        <p:nvSpPr>
          <p:cNvPr id="11" name="Text 9"/>
          <p:cNvSpPr/>
          <p:nvPr/>
        </p:nvSpPr>
        <p:spPr>
          <a:xfrm>
            <a:off x="960120" y="3328416"/>
            <a:ext cx="1097280" cy="365760"/>
          </a:xfrm>
          <a:prstGeom prst="rect">
            <a:avLst/>
          </a:prstGeom>
          <a:noFill/>
          <a:ln/>
        </p:spPr>
        <p:txBody>
          <a:bodyPr wrap="square" lIns="0" tIns="0" rIns="0" bIns="0" rtlCol="0" anchor="ctr">
            <a:normAutofit/>
          </a:bodyPr>
          <a:lstStyle/>
          <a:p>
            <a:pPr algn="ctr" indent="0" marL="0">
              <a:buNone/>
            </a:pPr>
            <a:r>
              <a:rPr lang="en-US" sz="1150" b="1" dirty="0">
                <a:solidFill>
                  <a:srgbClr val="9E5E00"/>
                </a:solidFill>
                <a:latin typeface="Calibri" pitchFamily="34" charset="0"/>
                <a:ea typeface="Calibri" pitchFamily="34" charset="-122"/>
                <a:cs typeface="Calibri" pitchFamily="34" charset="-120"/>
              </a:rPr>
              <a:t>HIGH</a:t>
            </a:r>
            <a:endParaRPr lang="en-US" sz="1150" dirty="0"/>
          </a:p>
        </p:txBody>
      </p:sp>
      <p:sp>
        <p:nvSpPr>
          <p:cNvPr id="12" name="Text 10"/>
          <p:cNvSpPr/>
          <p:nvPr/>
        </p:nvSpPr>
        <p:spPr>
          <a:xfrm>
            <a:off x="2359152" y="3282696"/>
            <a:ext cx="2880360" cy="502920"/>
          </a:xfrm>
          <a:prstGeom prst="rect">
            <a:avLst/>
          </a:prstGeom>
          <a:noFill/>
          <a:ln/>
        </p:spPr>
        <p:txBody>
          <a:bodyPr wrap="square" lIns="0" tIns="0" rIns="0" bIns="0" rtlCol="0" anchor="ctr">
            <a:normAutofit/>
          </a:bodyPr>
          <a:lstStyle/>
          <a:p>
            <a:pPr indent="0" marL="0">
              <a:buNone/>
            </a:pPr>
            <a:r>
              <a:rPr lang="en-US" sz="1330" dirty="0">
                <a:solidFill>
                  <a:srgbClr val="172126"/>
                </a:solidFill>
                <a:latin typeface="Calibri" pitchFamily="34" charset="0"/>
                <a:ea typeface="Calibri" pitchFamily="34" charset="-122"/>
                <a:cs typeface="Calibri" pitchFamily="34" charset="-120"/>
              </a:rPr>
              <a:t>≥50% chance by 48 h, or TTO ≤ 48 h</a:t>
            </a:r>
            <a:endParaRPr lang="en-US" sz="1330" dirty="0"/>
          </a:p>
        </p:txBody>
      </p:sp>
      <p:sp>
        <p:nvSpPr>
          <p:cNvPr id="13" name="Shape 11"/>
          <p:cNvSpPr/>
          <p:nvPr/>
        </p:nvSpPr>
        <p:spPr>
          <a:xfrm>
            <a:off x="896112" y="4041648"/>
            <a:ext cx="1234440" cy="475488"/>
          </a:xfrm>
          <a:prstGeom prst="roundRect">
            <a:avLst>
              <a:gd name="adj" fmla="val 11538"/>
            </a:avLst>
          </a:prstGeom>
          <a:solidFill>
            <a:srgbClr val="E3F1F1"/>
          </a:solidFill>
          <a:ln w="15240">
            <a:solidFill>
              <a:srgbClr val="287F83"/>
            </a:solidFill>
            <a:prstDash val="solid"/>
          </a:ln>
        </p:spPr>
      </p:sp>
      <p:sp>
        <p:nvSpPr>
          <p:cNvPr id="14" name="Text 12"/>
          <p:cNvSpPr/>
          <p:nvPr/>
        </p:nvSpPr>
        <p:spPr>
          <a:xfrm>
            <a:off x="960120" y="4078224"/>
            <a:ext cx="1097280" cy="365760"/>
          </a:xfrm>
          <a:prstGeom prst="rect">
            <a:avLst/>
          </a:prstGeom>
          <a:noFill/>
          <a:ln/>
        </p:spPr>
        <p:txBody>
          <a:bodyPr wrap="square" lIns="0" tIns="0" rIns="0" bIns="0" rtlCol="0" anchor="ctr">
            <a:normAutofit/>
          </a:bodyPr>
          <a:lstStyle/>
          <a:p>
            <a:pPr algn="ctr" indent="0" marL="0">
              <a:buNone/>
            </a:pPr>
            <a:r>
              <a:rPr lang="en-US" sz="1150" b="1" dirty="0">
                <a:solidFill>
                  <a:srgbClr val="287F83"/>
                </a:solidFill>
                <a:latin typeface="Calibri" pitchFamily="34" charset="0"/>
                <a:ea typeface="Calibri" pitchFamily="34" charset="-122"/>
                <a:cs typeface="Calibri" pitchFamily="34" charset="-120"/>
              </a:rPr>
              <a:t>MEDIUM</a:t>
            </a:r>
            <a:endParaRPr lang="en-US" sz="1150" dirty="0"/>
          </a:p>
        </p:txBody>
      </p:sp>
      <p:sp>
        <p:nvSpPr>
          <p:cNvPr id="15" name="Text 13"/>
          <p:cNvSpPr/>
          <p:nvPr/>
        </p:nvSpPr>
        <p:spPr>
          <a:xfrm>
            <a:off x="2359152" y="4032504"/>
            <a:ext cx="2880360" cy="502920"/>
          </a:xfrm>
          <a:prstGeom prst="rect">
            <a:avLst/>
          </a:prstGeom>
          <a:noFill/>
          <a:ln/>
        </p:spPr>
        <p:txBody>
          <a:bodyPr wrap="square" lIns="0" tIns="0" rIns="0" bIns="0" rtlCol="0" anchor="ctr">
            <a:normAutofit/>
          </a:bodyPr>
          <a:lstStyle/>
          <a:p>
            <a:pPr indent="0" marL="0">
              <a:buNone/>
            </a:pPr>
            <a:r>
              <a:rPr lang="en-US" sz="1330" dirty="0">
                <a:solidFill>
                  <a:srgbClr val="172126"/>
                </a:solidFill>
                <a:latin typeface="Calibri" pitchFamily="34" charset="0"/>
                <a:ea typeface="Calibri" pitchFamily="34" charset="-122"/>
                <a:cs typeface="Calibri" pitchFamily="34" charset="-120"/>
              </a:rPr>
              <a:t>Elevated 2–7 day risk or uncertainty</a:t>
            </a:r>
            <a:endParaRPr lang="en-US" sz="1330" dirty="0"/>
          </a:p>
        </p:txBody>
      </p:sp>
      <p:sp>
        <p:nvSpPr>
          <p:cNvPr id="16" name="Shape 14"/>
          <p:cNvSpPr/>
          <p:nvPr/>
        </p:nvSpPr>
        <p:spPr>
          <a:xfrm>
            <a:off x="896112" y="4791456"/>
            <a:ext cx="1234440" cy="475488"/>
          </a:xfrm>
          <a:prstGeom prst="roundRect">
            <a:avLst>
              <a:gd name="adj" fmla="val 11538"/>
            </a:avLst>
          </a:prstGeom>
          <a:solidFill>
            <a:srgbClr val="E7F2EC"/>
          </a:solidFill>
          <a:ln w="15240">
            <a:solidFill>
              <a:srgbClr val="2F7D5B"/>
            </a:solidFill>
            <a:prstDash val="solid"/>
          </a:ln>
        </p:spPr>
      </p:sp>
      <p:sp>
        <p:nvSpPr>
          <p:cNvPr id="17" name="Text 15"/>
          <p:cNvSpPr/>
          <p:nvPr/>
        </p:nvSpPr>
        <p:spPr>
          <a:xfrm>
            <a:off x="960120" y="4828032"/>
            <a:ext cx="1097280" cy="365760"/>
          </a:xfrm>
          <a:prstGeom prst="rect">
            <a:avLst/>
          </a:prstGeom>
          <a:noFill/>
          <a:ln/>
        </p:spPr>
        <p:txBody>
          <a:bodyPr wrap="square" lIns="0" tIns="0" rIns="0" bIns="0" rtlCol="0" anchor="ctr">
            <a:normAutofit/>
          </a:bodyPr>
          <a:lstStyle/>
          <a:p>
            <a:pPr algn="ctr" indent="0" marL="0">
              <a:buNone/>
            </a:pPr>
            <a:r>
              <a:rPr lang="en-US" sz="1150" b="1" dirty="0">
                <a:solidFill>
                  <a:srgbClr val="2F7D5B"/>
                </a:solidFill>
                <a:latin typeface="Calibri" pitchFamily="34" charset="0"/>
                <a:ea typeface="Calibri" pitchFamily="34" charset="-122"/>
                <a:cs typeface="Calibri" pitchFamily="34" charset="-120"/>
              </a:rPr>
              <a:t>LOW</a:t>
            </a:r>
            <a:endParaRPr lang="en-US" sz="1150" dirty="0"/>
          </a:p>
        </p:txBody>
      </p:sp>
      <p:sp>
        <p:nvSpPr>
          <p:cNvPr id="18" name="Text 16"/>
          <p:cNvSpPr/>
          <p:nvPr/>
        </p:nvSpPr>
        <p:spPr>
          <a:xfrm>
            <a:off x="2359152" y="4782312"/>
            <a:ext cx="2880360" cy="502920"/>
          </a:xfrm>
          <a:prstGeom prst="rect">
            <a:avLst/>
          </a:prstGeom>
          <a:noFill/>
          <a:ln/>
        </p:spPr>
        <p:txBody>
          <a:bodyPr wrap="square" lIns="0" tIns="0" rIns="0" bIns="0" rtlCol="0" anchor="ctr">
            <a:normAutofit/>
          </a:bodyPr>
          <a:lstStyle/>
          <a:p>
            <a:pPr indent="0" marL="0">
              <a:buNone/>
            </a:pPr>
            <a:r>
              <a:rPr lang="en-US" sz="1330" dirty="0">
                <a:solidFill>
                  <a:srgbClr val="172126"/>
                </a:solidFill>
                <a:latin typeface="Calibri" pitchFamily="34" charset="0"/>
                <a:ea typeface="Calibri" pitchFamily="34" charset="-122"/>
                <a:cs typeface="Calibri" pitchFamily="34" charset="-120"/>
              </a:rPr>
              <a:t>Unlikely to overflow within seven days</a:t>
            </a:r>
            <a:endParaRPr lang="en-US" sz="1330" dirty="0"/>
          </a:p>
        </p:txBody>
      </p:sp>
      <p:sp>
        <p:nvSpPr>
          <p:cNvPr id="19" name="Shape 17"/>
          <p:cNvSpPr/>
          <p:nvPr/>
        </p:nvSpPr>
        <p:spPr>
          <a:xfrm>
            <a:off x="6126480" y="1810512"/>
            <a:ext cx="5440680" cy="4160520"/>
          </a:xfrm>
          <a:prstGeom prst="roundRect">
            <a:avLst>
              <a:gd name="adj" fmla="val 1758"/>
            </a:avLst>
          </a:prstGeom>
          <a:solidFill>
            <a:srgbClr val="171D20"/>
          </a:solidFill>
          <a:ln w="12700">
            <a:solidFill>
              <a:srgbClr val="171D20"/>
            </a:solidFill>
            <a:prstDash val="solid"/>
          </a:ln>
          <a:effectLst>
            <a:outerShdw sx="100000" sy="100000" kx="0" ky="0" algn="bl" rotWithShape="0" blurRad="19050" dist="50800" dir="2700000">
              <a:srgbClr val="000000">
                <a:alpha val="10000"/>
              </a:srgbClr>
            </a:outerShdw>
          </a:effectLst>
        </p:spPr>
      </p:sp>
      <p:sp>
        <p:nvSpPr>
          <p:cNvPr id="20" name="Text 18"/>
          <p:cNvSpPr/>
          <p:nvPr/>
        </p:nvSpPr>
        <p:spPr>
          <a:xfrm>
            <a:off x="6419088" y="2057400"/>
            <a:ext cx="2560320" cy="274320"/>
          </a:xfrm>
          <a:prstGeom prst="rect">
            <a:avLst/>
          </a:prstGeom>
          <a:noFill/>
          <a:ln/>
        </p:spPr>
        <p:txBody>
          <a:bodyPr wrap="square" lIns="0" tIns="0" rIns="0" bIns="0" rtlCol="0" anchor="ctr">
            <a:normAutofit/>
          </a:bodyPr>
          <a:lstStyle/>
          <a:p>
            <a:pPr indent="0" marL="0">
              <a:buNone/>
            </a:pPr>
            <a:r>
              <a:rPr lang="en-US" sz="1200" b="1" spc="100" kern="0" dirty="0">
                <a:solidFill>
                  <a:srgbClr val="21C7F6"/>
                </a:solidFill>
                <a:latin typeface="Calibri" pitchFamily="34" charset="0"/>
                <a:ea typeface="Calibri" pitchFamily="34" charset="-122"/>
                <a:cs typeface="Calibri" pitchFamily="34" charset="-120"/>
              </a:rPr>
              <a:t>CONFIDENCE FLAG</a:t>
            </a:r>
            <a:endParaRPr lang="en-US" sz="1200" dirty="0"/>
          </a:p>
        </p:txBody>
      </p:sp>
      <p:sp>
        <p:nvSpPr>
          <p:cNvPr id="21" name="Shape 19"/>
          <p:cNvSpPr/>
          <p:nvPr/>
        </p:nvSpPr>
        <p:spPr>
          <a:xfrm>
            <a:off x="8110728" y="2788920"/>
            <a:ext cx="1417320" cy="1417320"/>
          </a:xfrm>
          <a:prstGeom prst="ellipse">
            <a:avLst/>
          </a:prstGeom>
          <a:solidFill>
            <a:srgbClr val="2F7D5B"/>
          </a:solidFill>
          <a:ln w="25400">
            <a:solidFill>
              <a:srgbClr val="FFFFFF"/>
            </a:solidFill>
            <a:prstDash val="solid"/>
          </a:ln>
        </p:spPr>
      </p:sp>
      <p:sp>
        <p:nvSpPr>
          <p:cNvPr id="22" name="Text 20"/>
          <p:cNvSpPr/>
          <p:nvPr/>
        </p:nvSpPr>
        <p:spPr>
          <a:xfrm>
            <a:off x="8110728" y="3145536"/>
            <a:ext cx="1417320" cy="384048"/>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Calibri" pitchFamily="34" charset="0"/>
                <a:ea typeface="Calibri" pitchFamily="34" charset="-122"/>
                <a:cs typeface="Calibri" pitchFamily="34" charset="-120"/>
              </a:rPr>
              <a:t>PASS</a:t>
            </a:r>
            <a:endParaRPr lang="en-US" sz="2100" dirty="0"/>
          </a:p>
        </p:txBody>
      </p:sp>
      <p:sp>
        <p:nvSpPr>
          <p:cNvPr id="23" name="Shape 21"/>
          <p:cNvSpPr/>
          <p:nvPr/>
        </p:nvSpPr>
        <p:spPr>
          <a:xfrm>
            <a:off x="6510528" y="2688336"/>
            <a:ext cx="1417320" cy="438912"/>
          </a:xfrm>
          <a:prstGeom prst="roundRect">
            <a:avLst>
              <a:gd name="adj" fmla="val 10417"/>
            </a:avLst>
          </a:prstGeom>
          <a:solidFill>
            <a:srgbClr val="242C30"/>
          </a:solidFill>
          <a:ln w="12700">
            <a:solidFill>
              <a:srgbClr val="4A5B62"/>
            </a:solidFill>
            <a:prstDash val="solid"/>
          </a:ln>
        </p:spPr>
      </p:sp>
      <p:sp>
        <p:nvSpPr>
          <p:cNvPr id="24" name="Text 22"/>
          <p:cNvSpPr/>
          <p:nvPr/>
        </p:nvSpPr>
        <p:spPr>
          <a:xfrm>
            <a:off x="6565392" y="2724912"/>
            <a:ext cx="1307592" cy="34747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Sensor</a:t>
            </a:r>
            <a:endParaRPr lang="en-US" sz="1150" dirty="0"/>
          </a:p>
        </p:txBody>
      </p:sp>
      <p:sp>
        <p:nvSpPr>
          <p:cNvPr id="25" name="Shape 23"/>
          <p:cNvSpPr/>
          <p:nvPr/>
        </p:nvSpPr>
        <p:spPr>
          <a:xfrm>
            <a:off x="7927848" y="2907792"/>
            <a:ext cx="164592" cy="585216"/>
          </a:xfrm>
          <a:prstGeom prst="line">
            <a:avLst/>
          </a:prstGeom>
          <a:noFill/>
          <a:ln w="15240">
            <a:solidFill>
              <a:srgbClr val="6E858F"/>
            </a:solidFill>
            <a:prstDash val="solid"/>
            <a:tailEnd type="triangle"/>
          </a:ln>
        </p:spPr>
      </p:sp>
      <p:sp>
        <p:nvSpPr>
          <p:cNvPr id="26" name="Shape 24"/>
          <p:cNvSpPr/>
          <p:nvPr/>
        </p:nvSpPr>
        <p:spPr>
          <a:xfrm>
            <a:off x="9811512" y="2688336"/>
            <a:ext cx="1417320" cy="438912"/>
          </a:xfrm>
          <a:prstGeom prst="roundRect">
            <a:avLst>
              <a:gd name="adj" fmla="val 10417"/>
            </a:avLst>
          </a:prstGeom>
          <a:solidFill>
            <a:srgbClr val="242C30"/>
          </a:solidFill>
          <a:ln w="12700">
            <a:solidFill>
              <a:srgbClr val="4A5B62"/>
            </a:solidFill>
            <a:prstDash val="solid"/>
          </a:ln>
        </p:spPr>
      </p:sp>
      <p:sp>
        <p:nvSpPr>
          <p:cNvPr id="27" name="Text 25"/>
          <p:cNvSpPr/>
          <p:nvPr/>
        </p:nvSpPr>
        <p:spPr>
          <a:xfrm>
            <a:off x="9866376" y="2724912"/>
            <a:ext cx="1307592" cy="34747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Freshness</a:t>
            </a:r>
            <a:endParaRPr lang="en-US" sz="1150" dirty="0"/>
          </a:p>
        </p:txBody>
      </p:sp>
      <p:sp>
        <p:nvSpPr>
          <p:cNvPr id="28" name="Shape 26"/>
          <p:cNvSpPr/>
          <p:nvPr/>
        </p:nvSpPr>
        <p:spPr>
          <a:xfrm>
            <a:off x="9546336" y="2907792"/>
            <a:ext cx="265176" cy="585216"/>
          </a:xfrm>
          <a:prstGeom prst="lineInv">
            <a:avLst/>
          </a:prstGeom>
          <a:noFill/>
          <a:ln w="15240">
            <a:solidFill>
              <a:srgbClr val="6E858F"/>
            </a:solidFill>
            <a:prstDash val="solid"/>
            <a:headEnd type="triangle"/>
          </a:ln>
        </p:spPr>
      </p:sp>
      <p:sp>
        <p:nvSpPr>
          <p:cNvPr id="29" name="Shape 27"/>
          <p:cNvSpPr/>
          <p:nvPr/>
        </p:nvSpPr>
        <p:spPr>
          <a:xfrm>
            <a:off x="6510528" y="3922776"/>
            <a:ext cx="1417320" cy="438912"/>
          </a:xfrm>
          <a:prstGeom prst="roundRect">
            <a:avLst>
              <a:gd name="adj" fmla="val 10417"/>
            </a:avLst>
          </a:prstGeom>
          <a:solidFill>
            <a:srgbClr val="242C30"/>
          </a:solidFill>
          <a:ln w="12700">
            <a:solidFill>
              <a:srgbClr val="4A5B62"/>
            </a:solidFill>
            <a:prstDash val="solid"/>
          </a:ln>
        </p:spPr>
      </p:sp>
      <p:sp>
        <p:nvSpPr>
          <p:cNvPr id="30" name="Text 28"/>
          <p:cNvSpPr/>
          <p:nvPr/>
        </p:nvSpPr>
        <p:spPr>
          <a:xfrm>
            <a:off x="6565392" y="3959352"/>
            <a:ext cx="1307592" cy="34747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History</a:t>
            </a:r>
            <a:endParaRPr lang="en-US" sz="1150" dirty="0"/>
          </a:p>
        </p:txBody>
      </p:sp>
      <p:sp>
        <p:nvSpPr>
          <p:cNvPr id="31" name="Shape 29"/>
          <p:cNvSpPr/>
          <p:nvPr/>
        </p:nvSpPr>
        <p:spPr>
          <a:xfrm>
            <a:off x="7927848" y="3493008"/>
            <a:ext cx="164592" cy="649224"/>
          </a:xfrm>
          <a:prstGeom prst="lineInv">
            <a:avLst/>
          </a:prstGeom>
          <a:noFill/>
          <a:ln w="15240">
            <a:solidFill>
              <a:srgbClr val="6E858F"/>
            </a:solidFill>
            <a:prstDash val="solid"/>
            <a:tailEnd type="triangle"/>
          </a:ln>
        </p:spPr>
      </p:sp>
      <p:sp>
        <p:nvSpPr>
          <p:cNvPr id="32" name="Shape 30"/>
          <p:cNvSpPr/>
          <p:nvPr/>
        </p:nvSpPr>
        <p:spPr>
          <a:xfrm>
            <a:off x="9811512" y="3922776"/>
            <a:ext cx="1417320" cy="438912"/>
          </a:xfrm>
          <a:prstGeom prst="roundRect">
            <a:avLst>
              <a:gd name="adj" fmla="val 10417"/>
            </a:avLst>
          </a:prstGeom>
          <a:solidFill>
            <a:srgbClr val="242C30"/>
          </a:solidFill>
          <a:ln w="12700">
            <a:solidFill>
              <a:srgbClr val="4A5B62"/>
            </a:solidFill>
            <a:prstDash val="solid"/>
          </a:ln>
        </p:spPr>
      </p:sp>
      <p:sp>
        <p:nvSpPr>
          <p:cNvPr id="33" name="Text 31"/>
          <p:cNvSpPr/>
          <p:nvPr/>
        </p:nvSpPr>
        <p:spPr>
          <a:xfrm>
            <a:off x="9866376" y="3959352"/>
            <a:ext cx="1307592" cy="34747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Interval width</a:t>
            </a:r>
            <a:endParaRPr lang="en-US" sz="1150" dirty="0"/>
          </a:p>
        </p:txBody>
      </p:sp>
      <p:sp>
        <p:nvSpPr>
          <p:cNvPr id="34" name="Shape 32"/>
          <p:cNvSpPr/>
          <p:nvPr/>
        </p:nvSpPr>
        <p:spPr>
          <a:xfrm>
            <a:off x="9546336" y="3493008"/>
            <a:ext cx="265176" cy="649224"/>
          </a:xfrm>
          <a:prstGeom prst="line">
            <a:avLst/>
          </a:prstGeom>
          <a:noFill/>
          <a:ln w="15240">
            <a:solidFill>
              <a:srgbClr val="6E858F"/>
            </a:solidFill>
            <a:prstDash val="solid"/>
            <a:headEnd type="triangle"/>
          </a:ln>
        </p:spPr>
      </p:sp>
      <p:sp>
        <p:nvSpPr>
          <p:cNvPr id="35" name="Shape 33"/>
          <p:cNvSpPr/>
          <p:nvPr/>
        </p:nvSpPr>
        <p:spPr>
          <a:xfrm>
            <a:off x="6903720" y="4818888"/>
            <a:ext cx="1417320" cy="438912"/>
          </a:xfrm>
          <a:prstGeom prst="roundRect">
            <a:avLst>
              <a:gd name="adj" fmla="val 10417"/>
            </a:avLst>
          </a:prstGeom>
          <a:solidFill>
            <a:srgbClr val="242C30"/>
          </a:solidFill>
          <a:ln w="12700">
            <a:solidFill>
              <a:srgbClr val="4A5B62"/>
            </a:solidFill>
            <a:prstDash val="solid"/>
          </a:ln>
        </p:spPr>
      </p:sp>
      <p:sp>
        <p:nvSpPr>
          <p:cNvPr id="36" name="Text 34"/>
          <p:cNvSpPr/>
          <p:nvPr/>
        </p:nvSpPr>
        <p:spPr>
          <a:xfrm>
            <a:off x="6958584" y="4855464"/>
            <a:ext cx="1307592" cy="34747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Residual error</a:t>
            </a:r>
            <a:endParaRPr lang="en-US" sz="1150" dirty="0"/>
          </a:p>
        </p:txBody>
      </p:sp>
      <p:sp>
        <p:nvSpPr>
          <p:cNvPr id="37" name="Shape 35"/>
          <p:cNvSpPr/>
          <p:nvPr/>
        </p:nvSpPr>
        <p:spPr>
          <a:xfrm>
            <a:off x="8092440" y="3493008"/>
            <a:ext cx="228600" cy="1545336"/>
          </a:xfrm>
          <a:prstGeom prst="line">
            <a:avLst/>
          </a:prstGeom>
          <a:noFill/>
          <a:ln w="15240">
            <a:solidFill>
              <a:srgbClr val="6E858F"/>
            </a:solidFill>
            <a:prstDash val="solid"/>
            <a:headEnd type="triangle"/>
          </a:ln>
        </p:spPr>
      </p:sp>
      <p:sp>
        <p:nvSpPr>
          <p:cNvPr id="38" name="Shape 36"/>
          <p:cNvSpPr/>
          <p:nvPr/>
        </p:nvSpPr>
        <p:spPr>
          <a:xfrm>
            <a:off x="9354312" y="4818888"/>
            <a:ext cx="1417320" cy="438912"/>
          </a:xfrm>
          <a:prstGeom prst="roundRect">
            <a:avLst>
              <a:gd name="adj" fmla="val 10417"/>
            </a:avLst>
          </a:prstGeom>
          <a:solidFill>
            <a:srgbClr val="242C30"/>
          </a:solidFill>
          <a:ln w="12700">
            <a:solidFill>
              <a:srgbClr val="4A5B62"/>
            </a:solidFill>
            <a:prstDash val="solid"/>
          </a:ln>
        </p:spPr>
      </p:sp>
      <p:sp>
        <p:nvSpPr>
          <p:cNvPr id="39" name="Text 37"/>
          <p:cNvSpPr/>
          <p:nvPr/>
        </p:nvSpPr>
        <p:spPr>
          <a:xfrm>
            <a:off x="9409176" y="4855464"/>
            <a:ext cx="1307592" cy="347472"/>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No active drift</a:t>
            </a:r>
            <a:endParaRPr lang="en-US" sz="1150" dirty="0"/>
          </a:p>
        </p:txBody>
      </p:sp>
      <p:sp>
        <p:nvSpPr>
          <p:cNvPr id="40" name="Shape 38"/>
          <p:cNvSpPr/>
          <p:nvPr/>
        </p:nvSpPr>
        <p:spPr>
          <a:xfrm>
            <a:off x="9354312" y="3493008"/>
            <a:ext cx="192024" cy="1545336"/>
          </a:xfrm>
          <a:prstGeom prst="lineInv">
            <a:avLst/>
          </a:prstGeom>
          <a:noFill/>
          <a:ln w="15240">
            <a:solidFill>
              <a:srgbClr val="6E858F"/>
            </a:solidFill>
            <a:prstDash val="solid"/>
            <a:tailEnd type="triangle"/>
          </a:ln>
        </p:spPr>
      </p:sp>
      <p:sp>
        <p:nvSpPr>
          <p:cNvPr id="41" name="Text 39"/>
          <p:cNvSpPr/>
          <p:nvPr/>
        </p:nvSpPr>
        <p:spPr>
          <a:xfrm>
            <a:off x="6629400" y="5486400"/>
            <a:ext cx="4434840" cy="384048"/>
          </a:xfrm>
          <a:prstGeom prst="rect">
            <a:avLst/>
          </a:prstGeom>
          <a:noFill/>
          <a:ln/>
        </p:spPr>
        <p:txBody>
          <a:bodyPr wrap="square" lIns="0" tIns="0" rIns="0" bIns="0" rtlCol="0" anchor="ctr">
            <a:normAutofit/>
          </a:bodyPr>
          <a:lstStyle/>
          <a:p>
            <a:pPr algn="ctr" indent="0" marL="0">
              <a:buNone/>
            </a:pPr>
            <a:r>
              <a:rPr lang="en-US" sz="1250" b="1" dirty="0">
                <a:solidFill>
                  <a:srgbClr val="C8D7DD"/>
                </a:solidFill>
                <a:latin typeface="Calibri" pitchFamily="34" charset="0"/>
                <a:ea typeface="Calibri" pitchFamily="34" charset="-122"/>
                <a:cs typeface="Calibri" pitchFamily="34" charset="-120"/>
              </a:rPr>
              <a:t>Low confidence cannot prove a bin is safe. It usually creates inspection — not automatic collection.</a:t>
            </a:r>
            <a:endParaRPr lang="en-US" sz="1250" dirty="0"/>
          </a:p>
        </p:txBody>
      </p:sp>
      <p:sp>
        <p:nvSpPr>
          <p:cNvPr id="42" name="Text 40"/>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STEP 4 · SELECT</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First protect service; then consider useful optional pickups</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Mandatory stops cannot be traded away. Optional stops must clear quality, fill and value gates.</a:t>
            </a:r>
            <a:endParaRPr lang="en-US" sz="1400" dirty="0"/>
          </a:p>
        </p:txBody>
      </p:sp>
      <p:sp>
        <p:nvSpPr>
          <p:cNvPr id="5" name="Shape 3"/>
          <p:cNvSpPr/>
          <p:nvPr/>
        </p:nvSpPr>
        <p:spPr>
          <a:xfrm>
            <a:off x="612648" y="1783080"/>
            <a:ext cx="5349240" cy="4343400"/>
          </a:xfrm>
          <a:prstGeom prst="roundRect">
            <a:avLst>
              <a:gd name="adj" fmla="val 1684"/>
            </a:avLst>
          </a:prstGeom>
          <a:solidFill>
            <a:srgbClr val="FBE9EA"/>
          </a:solidFill>
          <a:ln w="12700">
            <a:solidFill>
              <a:srgbClr val="C64045"/>
            </a:solidFill>
            <a:prstDash val="solid"/>
          </a:ln>
        </p:spPr>
      </p:sp>
      <p:sp>
        <p:nvSpPr>
          <p:cNvPr id="6" name="Text 4"/>
          <p:cNvSpPr/>
          <p:nvPr/>
        </p:nvSpPr>
        <p:spPr>
          <a:xfrm>
            <a:off x="914400" y="2048256"/>
            <a:ext cx="2926080" cy="320040"/>
          </a:xfrm>
          <a:prstGeom prst="rect">
            <a:avLst/>
          </a:prstGeom>
          <a:noFill/>
          <a:ln/>
        </p:spPr>
        <p:txBody>
          <a:bodyPr wrap="square" lIns="0" tIns="0" rIns="0" bIns="0" rtlCol="0" anchor="ctr">
            <a:normAutofit/>
          </a:bodyPr>
          <a:lstStyle/>
          <a:p>
            <a:pPr indent="0" marL="0">
              <a:buNone/>
            </a:pPr>
            <a:r>
              <a:rPr lang="en-US" sz="1800" b="1" dirty="0">
                <a:solidFill>
                  <a:srgbClr val="C64045"/>
                </a:solidFill>
                <a:latin typeface="Calibri" pitchFamily="34" charset="0"/>
                <a:ea typeface="Calibri" pitchFamily="34" charset="-122"/>
                <a:cs typeface="Calibri" pitchFamily="34" charset="-120"/>
              </a:rPr>
              <a:t>MANDATORY SERVICE</a:t>
            </a:r>
            <a:endParaRPr lang="en-US" sz="1800" dirty="0"/>
          </a:p>
        </p:txBody>
      </p:sp>
      <p:sp>
        <p:nvSpPr>
          <p:cNvPr id="7" name="Text 5"/>
          <p:cNvSpPr/>
          <p:nvPr/>
        </p:nvSpPr>
        <p:spPr>
          <a:xfrm>
            <a:off x="914400" y="2432304"/>
            <a:ext cx="4443984" cy="411480"/>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Collect even when the route's economic proxy is negative</a:t>
            </a:r>
            <a:endParaRPr lang="en-US" sz="1400" dirty="0"/>
          </a:p>
        </p:txBody>
      </p:sp>
      <p:sp>
        <p:nvSpPr>
          <p:cNvPr id="8" name="Shape 6"/>
          <p:cNvSpPr/>
          <p:nvPr/>
        </p:nvSpPr>
        <p:spPr>
          <a:xfrm>
            <a:off x="932688" y="3072384"/>
            <a:ext cx="292608" cy="292608"/>
          </a:xfrm>
          <a:prstGeom prst="ellipse">
            <a:avLst/>
          </a:prstGeom>
          <a:solidFill>
            <a:srgbClr val="C64045"/>
          </a:solidFill>
          <a:ln w="12700">
            <a:solidFill>
              <a:srgbClr val="C64045"/>
            </a:solidFill>
            <a:prstDash val="solid"/>
          </a:ln>
        </p:spPr>
      </p:sp>
      <p:sp>
        <p:nvSpPr>
          <p:cNvPr id="9" name="Text 7"/>
          <p:cNvSpPr/>
          <p:nvPr/>
        </p:nvSpPr>
        <p:spPr>
          <a:xfrm>
            <a:off x="932688" y="3072384"/>
            <a:ext cx="29260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417320" y="3044952"/>
            <a:ext cx="3886200" cy="384048"/>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Upstream risk is critical</a:t>
            </a:r>
            <a:endParaRPr lang="en-US" sz="1400" dirty="0"/>
          </a:p>
        </p:txBody>
      </p:sp>
      <p:sp>
        <p:nvSpPr>
          <p:cNvPr id="11" name="Shape 9"/>
          <p:cNvSpPr/>
          <p:nvPr/>
        </p:nvSpPr>
        <p:spPr>
          <a:xfrm>
            <a:off x="932688" y="3657600"/>
            <a:ext cx="292608" cy="292608"/>
          </a:xfrm>
          <a:prstGeom prst="ellipse">
            <a:avLst/>
          </a:prstGeom>
          <a:solidFill>
            <a:srgbClr val="C64045"/>
          </a:solidFill>
          <a:ln w="12700">
            <a:solidFill>
              <a:srgbClr val="C64045"/>
            </a:solidFill>
            <a:prstDash val="solid"/>
          </a:ln>
        </p:spPr>
      </p:sp>
      <p:sp>
        <p:nvSpPr>
          <p:cNvPr id="12" name="Text 10"/>
          <p:cNvSpPr/>
          <p:nvPr/>
        </p:nvSpPr>
        <p:spPr>
          <a:xfrm>
            <a:off x="932688" y="3657600"/>
            <a:ext cx="29260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417320" y="3630168"/>
            <a:ext cx="3886200" cy="384048"/>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Fresh, confident conservative fill ≥ 90%</a:t>
            </a:r>
            <a:endParaRPr lang="en-US" sz="1400" dirty="0"/>
          </a:p>
        </p:txBody>
      </p:sp>
      <p:sp>
        <p:nvSpPr>
          <p:cNvPr id="14" name="Shape 12"/>
          <p:cNvSpPr/>
          <p:nvPr/>
        </p:nvSpPr>
        <p:spPr>
          <a:xfrm>
            <a:off x="932688" y="4242816"/>
            <a:ext cx="292608" cy="292608"/>
          </a:xfrm>
          <a:prstGeom prst="ellipse">
            <a:avLst/>
          </a:prstGeom>
          <a:solidFill>
            <a:srgbClr val="C64045"/>
          </a:solidFill>
          <a:ln w="12700">
            <a:solidFill>
              <a:srgbClr val="C64045"/>
            </a:solidFill>
            <a:prstDash val="solid"/>
          </a:ln>
        </p:spPr>
      </p:sp>
      <p:sp>
        <p:nvSpPr>
          <p:cNvPr id="15" name="Text 13"/>
          <p:cNvSpPr/>
          <p:nvPr/>
        </p:nvSpPr>
        <p:spPr>
          <a:xfrm>
            <a:off x="932688" y="4242816"/>
            <a:ext cx="29260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417320" y="4215384"/>
            <a:ext cx="3886200" cy="384048"/>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 90% calibrated overflow chance before the next 6-hour opportunity</a:t>
            </a:r>
            <a:endParaRPr lang="en-US" sz="1400" dirty="0"/>
          </a:p>
        </p:txBody>
      </p:sp>
      <p:sp>
        <p:nvSpPr>
          <p:cNvPr id="17" name="Shape 15"/>
          <p:cNvSpPr/>
          <p:nvPr/>
        </p:nvSpPr>
        <p:spPr>
          <a:xfrm>
            <a:off x="932688" y="4828032"/>
            <a:ext cx="292608" cy="292608"/>
          </a:xfrm>
          <a:prstGeom prst="ellipse">
            <a:avLst/>
          </a:prstGeom>
          <a:solidFill>
            <a:srgbClr val="C64045"/>
          </a:solidFill>
          <a:ln w="12700">
            <a:solidFill>
              <a:srgbClr val="C64045"/>
            </a:solidFill>
            <a:prstDash val="solid"/>
          </a:ln>
        </p:spPr>
      </p:sp>
      <p:sp>
        <p:nvSpPr>
          <p:cNvPr id="18" name="Text 16"/>
          <p:cNvSpPr/>
          <p:nvPr/>
        </p:nvSpPr>
        <p:spPr>
          <a:xfrm>
            <a:off x="932688" y="4828032"/>
            <a:ext cx="29260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417320" y="4800600"/>
            <a:ext cx="3886200" cy="384048"/>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Fallback TTO ≤ 6 hours when probability is unavailable</a:t>
            </a:r>
            <a:endParaRPr lang="en-US" sz="1400" dirty="0"/>
          </a:p>
        </p:txBody>
      </p:sp>
      <p:sp>
        <p:nvSpPr>
          <p:cNvPr id="20" name="Shape 18"/>
          <p:cNvSpPr/>
          <p:nvPr/>
        </p:nvSpPr>
        <p:spPr>
          <a:xfrm>
            <a:off x="914400" y="5504688"/>
            <a:ext cx="4480560" cy="502920"/>
          </a:xfrm>
          <a:prstGeom prst="roundRect">
            <a:avLst>
              <a:gd name="adj" fmla="val 14545"/>
            </a:avLst>
          </a:prstGeom>
          <a:solidFill>
            <a:srgbClr val="FFFFFF"/>
          </a:solidFill>
          <a:ln w="19050">
            <a:solidFill>
              <a:srgbClr val="C64045"/>
            </a:solidFill>
            <a:prstDash val="solid"/>
          </a:ln>
        </p:spPr>
      </p:sp>
      <p:sp>
        <p:nvSpPr>
          <p:cNvPr id="21" name="Text 19"/>
          <p:cNvSpPr/>
          <p:nvPr/>
        </p:nvSpPr>
        <p:spPr>
          <a:xfrm>
            <a:off x="1024128" y="5559552"/>
            <a:ext cx="4261104" cy="384048"/>
          </a:xfrm>
          <a:prstGeom prst="rect">
            <a:avLst/>
          </a:prstGeom>
          <a:noFill/>
          <a:ln/>
        </p:spPr>
        <p:txBody>
          <a:bodyPr wrap="square" lIns="0" tIns="0" rIns="0" bIns="0" rtlCol="0" anchor="ctr">
            <a:normAutofit/>
          </a:bodyPr>
          <a:lstStyle/>
          <a:p>
            <a:pPr algn="ctr" indent="0" marL="0">
              <a:buNone/>
            </a:pPr>
            <a:r>
              <a:rPr lang="en-US" sz="1250" b="1" dirty="0">
                <a:solidFill>
                  <a:srgbClr val="C64045"/>
                </a:solidFill>
                <a:latin typeface="Calibri" pitchFamily="34" charset="0"/>
                <a:ea typeface="Calibri" pitchFamily="34" charset="-122"/>
                <a:cs typeface="Calibri" pitchFamily="34" charset="-120"/>
              </a:rPr>
              <a:t>If required work cannot fit → dispatch is blocked</a:t>
            </a:r>
            <a:endParaRPr lang="en-US" sz="1250" dirty="0"/>
          </a:p>
        </p:txBody>
      </p:sp>
      <p:sp>
        <p:nvSpPr>
          <p:cNvPr id="22" name="Shape 20"/>
          <p:cNvSpPr/>
          <p:nvPr/>
        </p:nvSpPr>
        <p:spPr>
          <a:xfrm>
            <a:off x="6236208" y="1783080"/>
            <a:ext cx="5330952" cy="4343400"/>
          </a:xfrm>
          <a:prstGeom prst="roundRect">
            <a:avLst>
              <a:gd name="adj" fmla="val 1684"/>
            </a:avLst>
          </a:prstGeom>
          <a:solidFill>
            <a:srgbClr val="E7F2F8"/>
          </a:solidFill>
          <a:ln w="12700">
            <a:solidFill>
              <a:srgbClr val="006DAE"/>
            </a:solidFill>
            <a:prstDash val="solid"/>
          </a:ln>
        </p:spPr>
      </p:sp>
      <p:sp>
        <p:nvSpPr>
          <p:cNvPr id="23" name="Text 21"/>
          <p:cNvSpPr/>
          <p:nvPr/>
        </p:nvSpPr>
        <p:spPr>
          <a:xfrm>
            <a:off x="6528816" y="2048256"/>
            <a:ext cx="2926080" cy="320040"/>
          </a:xfrm>
          <a:prstGeom prst="rect">
            <a:avLst/>
          </a:prstGeom>
          <a:noFill/>
          <a:ln/>
        </p:spPr>
        <p:txBody>
          <a:bodyPr wrap="square" lIns="0" tIns="0" rIns="0" bIns="0" rtlCol="0" anchor="ctr">
            <a:normAutofit/>
          </a:bodyPr>
          <a:lstStyle/>
          <a:p>
            <a:pPr indent="0" marL="0">
              <a:buNone/>
            </a:pPr>
            <a:r>
              <a:rPr lang="en-US" sz="1800" b="1" dirty="0">
                <a:solidFill>
                  <a:srgbClr val="00527F"/>
                </a:solidFill>
                <a:latin typeface="Calibri" pitchFamily="34" charset="0"/>
                <a:ea typeface="Calibri" pitchFamily="34" charset="-122"/>
                <a:cs typeface="Calibri" pitchFamily="34" charset="-120"/>
              </a:rPr>
              <a:t>OPTIONAL CANDIDATES</a:t>
            </a:r>
            <a:endParaRPr lang="en-US" sz="1800" dirty="0"/>
          </a:p>
        </p:txBody>
      </p:sp>
      <p:sp>
        <p:nvSpPr>
          <p:cNvPr id="24" name="Text 22"/>
          <p:cNvSpPr/>
          <p:nvPr/>
        </p:nvSpPr>
        <p:spPr>
          <a:xfrm>
            <a:off x="6528816" y="2432304"/>
            <a:ext cx="4389120" cy="411480"/>
          </a:xfrm>
          <a:prstGeom prst="rect">
            <a:avLst/>
          </a:prstGeom>
          <a:noFill/>
          <a:ln/>
        </p:spPr>
        <p:txBody>
          <a:bodyPr wrap="square" lIns="0" tIns="0" rIns="0" bIns="0" rtlCol="0" anchor="ctr">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A forecast alone never justifies a trip</a:t>
            </a:r>
            <a:endParaRPr lang="en-US" sz="1400" dirty="0"/>
          </a:p>
        </p:txBody>
      </p:sp>
      <p:sp>
        <p:nvSpPr>
          <p:cNvPr id="25" name="Shape 23"/>
          <p:cNvSpPr/>
          <p:nvPr/>
        </p:nvSpPr>
        <p:spPr>
          <a:xfrm>
            <a:off x="6528816" y="2907792"/>
            <a:ext cx="960120" cy="347472"/>
          </a:xfrm>
          <a:prstGeom prst="roundRect">
            <a:avLst>
              <a:gd name="adj" fmla="val 13158"/>
            </a:avLst>
          </a:prstGeom>
          <a:solidFill>
            <a:srgbClr val="FFFFFF"/>
          </a:solidFill>
          <a:ln w="12700">
            <a:solidFill>
              <a:srgbClr val="B9D8E8"/>
            </a:solidFill>
            <a:prstDash val="solid"/>
          </a:ln>
        </p:spPr>
      </p:sp>
      <p:sp>
        <p:nvSpPr>
          <p:cNvPr id="26" name="Text 24"/>
          <p:cNvSpPr/>
          <p:nvPr/>
        </p:nvSpPr>
        <p:spPr>
          <a:xfrm>
            <a:off x="6565392" y="2926080"/>
            <a:ext cx="886968" cy="292608"/>
          </a:xfrm>
          <a:prstGeom prst="rect">
            <a:avLst/>
          </a:prstGeom>
          <a:noFill/>
          <a:ln/>
        </p:spPr>
        <p:txBody>
          <a:bodyPr wrap="square" lIns="0" tIns="0" rIns="0" bIns="0" rtlCol="0" anchor="ctr">
            <a:normAutofit/>
          </a:bodyPr>
          <a:lstStyle/>
          <a:p>
            <a:pPr algn="ctr" indent="0" marL="0">
              <a:buNone/>
            </a:pPr>
            <a:r>
              <a:rPr lang="en-US" sz="980" b="1" dirty="0">
                <a:solidFill>
                  <a:srgbClr val="00527F"/>
                </a:solidFill>
                <a:latin typeface="Calibri" pitchFamily="34" charset="0"/>
                <a:ea typeface="Calibri" pitchFamily="34" charset="-122"/>
                <a:cs typeface="Calibri" pitchFamily="34" charset="-120"/>
              </a:rPr>
              <a:t>QUALITY</a:t>
            </a:r>
            <a:endParaRPr lang="en-US" sz="980" dirty="0"/>
          </a:p>
        </p:txBody>
      </p:sp>
      <p:sp>
        <p:nvSpPr>
          <p:cNvPr id="27" name="Text 25"/>
          <p:cNvSpPr/>
          <p:nvPr/>
        </p:nvSpPr>
        <p:spPr>
          <a:xfrm>
            <a:off x="7708392" y="2898648"/>
            <a:ext cx="3200400" cy="365760"/>
          </a:xfrm>
          <a:prstGeom prst="rect">
            <a:avLst/>
          </a:prstGeom>
          <a:noFill/>
          <a:ln/>
        </p:spPr>
        <p:txBody>
          <a:bodyPr wrap="square" lIns="0" tIns="0" rIns="0" bIns="0" rtlCol="0" anchor="ctr">
            <a:normAutofit/>
          </a:bodyPr>
          <a:lstStyle/>
          <a:p>
            <a:pPr indent="0" marL="0">
              <a:buNone/>
            </a:pPr>
            <a:r>
              <a:rPr lang="en-US" sz="1340" dirty="0">
                <a:solidFill>
                  <a:srgbClr val="172126"/>
                </a:solidFill>
                <a:latin typeface="Calibri" pitchFamily="34" charset="0"/>
                <a:ea typeface="Calibri" pitchFamily="34" charset="-122"/>
                <a:cs typeface="Calibri" pitchFamily="34" charset="-120"/>
              </a:rPr>
              <a:t>Fresh enough to evaluate</a:t>
            </a:r>
            <a:endParaRPr lang="en-US" sz="1340" dirty="0"/>
          </a:p>
        </p:txBody>
      </p:sp>
      <p:sp>
        <p:nvSpPr>
          <p:cNvPr id="28" name="Shape 26"/>
          <p:cNvSpPr/>
          <p:nvPr/>
        </p:nvSpPr>
        <p:spPr>
          <a:xfrm>
            <a:off x="6528816" y="3401568"/>
            <a:ext cx="960120" cy="347472"/>
          </a:xfrm>
          <a:prstGeom prst="roundRect">
            <a:avLst>
              <a:gd name="adj" fmla="val 13158"/>
            </a:avLst>
          </a:prstGeom>
          <a:solidFill>
            <a:srgbClr val="FFFFFF"/>
          </a:solidFill>
          <a:ln w="12700">
            <a:solidFill>
              <a:srgbClr val="B9D8E8"/>
            </a:solidFill>
            <a:prstDash val="solid"/>
          </a:ln>
        </p:spPr>
      </p:sp>
      <p:sp>
        <p:nvSpPr>
          <p:cNvPr id="29" name="Text 27"/>
          <p:cNvSpPr/>
          <p:nvPr/>
        </p:nvSpPr>
        <p:spPr>
          <a:xfrm>
            <a:off x="6565392" y="3419856"/>
            <a:ext cx="886968" cy="292608"/>
          </a:xfrm>
          <a:prstGeom prst="rect">
            <a:avLst/>
          </a:prstGeom>
          <a:noFill/>
          <a:ln/>
        </p:spPr>
        <p:txBody>
          <a:bodyPr wrap="square" lIns="0" tIns="0" rIns="0" bIns="0" rtlCol="0" anchor="ctr">
            <a:normAutofit/>
          </a:bodyPr>
          <a:lstStyle/>
          <a:p>
            <a:pPr algn="ctr" indent="0" marL="0">
              <a:buNone/>
            </a:pPr>
            <a:r>
              <a:rPr lang="en-US" sz="980" b="1" dirty="0">
                <a:solidFill>
                  <a:srgbClr val="00527F"/>
                </a:solidFill>
                <a:latin typeface="Calibri" pitchFamily="34" charset="0"/>
                <a:ea typeface="Calibri" pitchFamily="34" charset="-122"/>
                <a:cs typeface="Calibri" pitchFamily="34" charset="-120"/>
              </a:rPr>
              <a:t>FILL</a:t>
            </a:r>
            <a:endParaRPr lang="en-US" sz="980" dirty="0"/>
          </a:p>
        </p:txBody>
      </p:sp>
      <p:sp>
        <p:nvSpPr>
          <p:cNvPr id="30" name="Text 28"/>
          <p:cNvSpPr/>
          <p:nvPr/>
        </p:nvSpPr>
        <p:spPr>
          <a:xfrm>
            <a:off x="7708392" y="3392424"/>
            <a:ext cx="3200400" cy="365760"/>
          </a:xfrm>
          <a:prstGeom prst="rect">
            <a:avLst/>
          </a:prstGeom>
          <a:noFill/>
          <a:ln/>
        </p:spPr>
        <p:txBody>
          <a:bodyPr wrap="square" lIns="0" tIns="0" rIns="0" bIns="0" rtlCol="0" anchor="ctr">
            <a:normAutofit/>
          </a:bodyPr>
          <a:lstStyle/>
          <a:p>
            <a:pPr indent="0" marL="0">
              <a:buNone/>
            </a:pPr>
            <a:r>
              <a:rPr lang="en-US" sz="1340" dirty="0">
                <a:solidFill>
                  <a:srgbClr val="172126"/>
                </a:solidFill>
                <a:latin typeface="Calibri" pitchFamily="34" charset="0"/>
                <a:ea typeface="Calibri" pitchFamily="34" charset="-122"/>
                <a:cs typeface="Calibri" pitchFamily="34" charset="-120"/>
              </a:rPr>
              <a:t>Normally central fill ≥ 45%</a:t>
            </a:r>
            <a:endParaRPr lang="en-US" sz="1340" dirty="0"/>
          </a:p>
        </p:txBody>
      </p:sp>
      <p:sp>
        <p:nvSpPr>
          <p:cNvPr id="31" name="Shape 29"/>
          <p:cNvSpPr/>
          <p:nvPr/>
        </p:nvSpPr>
        <p:spPr>
          <a:xfrm>
            <a:off x="6528816" y="3895344"/>
            <a:ext cx="960120" cy="347472"/>
          </a:xfrm>
          <a:prstGeom prst="roundRect">
            <a:avLst>
              <a:gd name="adj" fmla="val 13158"/>
            </a:avLst>
          </a:prstGeom>
          <a:solidFill>
            <a:srgbClr val="FFFFFF"/>
          </a:solidFill>
          <a:ln w="12700">
            <a:solidFill>
              <a:srgbClr val="B9D8E8"/>
            </a:solidFill>
            <a:prstDash val="solid"/>
          </a:ln>
        </p:spPr>
      </p:sp>
      <p:sp>
        <p:nvSpPr>
          <p:cNvPr id="32" name="Text 30"/>
          <p:cNvSpPr/>
          <p:nvPr/>
        </p:nvSpPr>
        <p:spPr>
          <a:xfrm>
            <a:off x="6565392" y="3913632"/>
            <a:ext cx="886968" cy="292608"/>
          </a:xfrm>
          <a:prstGeom prst="rect">
            <a:avLst/>
          </a:prstGeom>
          <a:noFill/>
          <a:ln/>
        </p:spPr>
        <p:txBody>
          <a:bodyPr wrap="square" lIns="0" tIns="0" rIns="0" bIns="0" rtlCol="0" anchor="ctr">
            <a:normAutofit/>
          </a:bodyPr>
          <a:lstStyle/>
          <a:p>
            <a:pPr algn="ctr" indent="0" marL="0">
              <a:buNone/>
            </a:pPr>
            <a:r>
              <a:rPr lang="en-US" sz="980" b="1" dirty="0">
                <a:solidFill>
                  <a:srgbClr val="00527F"/>
                </a:solidFill>
                <a:latin typeface="Calibri" pitchFamily="34" charset="0"/>
                <a:ea typeface="Calibri" pitchFamily="34" charset="-122"/>
                <a:cs typeface="Calibri" pitchFamily="34" charset="-120"/>
              </a:rPr>
              <a:t>TIMING</a:t>
            </a:r>
            <a:endParaRPr lang="en-US" sz="980" dirty="0"/>
          </a:p>
        </p:txBody>
      </p:sp>
      <p:sp>
        <p:nvSpPr>
          <p:cNvPr id="33" name="Text 31"/>
          <p:cNvSpPr/>
          <p:nvPr/>
        </p:nvSpPr>
        <p:spPr>
          <a:xfrm>
            <a:off x="7708392" y="3886200"/>
            <a:ext cx="3200400" cy="365760"/>
          </a:xfrm>
          <a:prstGeom prst="rect">
            <a:avLst/>
          </a:prstGeom>
          <a:noFill/>
          <a:ln/>
        </p:spPr>
        <p:txBody>
          <a:bodyPr wrap="square" lIns="0" tIns="0" rIns="0" bIns="0" rtlCol="0" anchor="ctr">
            <a:normAutofit/>
          </a:bodyPr>
          <a:lstStyle/>
          <a:p>
            <a:pPr indent="0" marL="0">
              <a:buNone/>
            </a:pPr>
            <a:r>
              <a:rPr lang="en-US" sz="1340" dirty="0">
                <a:solidFill>
                  <a:srgbClr val="172126"/>
                </a:solidFill>
                <a:latin typeface="Calibri" pitchFamily="34" charset="0"/>
                <a:ea typeface="Calibri" pitchFamily="34" charset="-122"/>
                <a:cs typeface="Calibri" pitchFamily="34" charset="-120"/>
              </a:rPr>
              <a:t>Useful before the next 72-hour batch</a:t>
            </a:r>
            <a:endParaRPr lang="en-US" sz="1340" dirty="0"/>
          </a:p>
        </p:txBody>
      </p:sp>
      <p:sp>
        <p:nvSpPr>
          <p:cNvPr id="34" name="Shape 32"/>
          <p:cNvSpPr/>
          <p:nvPr/>
        </p:nvSpPr>
        <p:spPr>
          <a:xfrm>
            <a:off x="6528816" y="4389120"/>
            <a:ext cx="960120" cy="347472"/>
          </a:xfrm>
          <a:prstGeom prst="roundRect">
            <a:avLst>
              <a:gd name="adj" fmla="val 13158"/>
            </a:avLst>
          </a:prstGeom>
          <a:solidFill>
            <a:srgbClr val="FFFFFF"/>
          </a:solidFill>
          <a:ln w="12700">
            <a:solidFill>
              <a:srgbClr val="B9D8E8"/>
            </a:solidFill>
            <a:prstDash val="solid"/>
          </a:ln>
        </p:spPr>
      </p:sp>
      <p:sp>
        <p:nvSpPr>
          <p:cNvPr id="35" name="Text 33"/>
          <p:cNvSpPr/>
          <p:nvPr/>
        </p:nvSpPr>
        <p:spPr>
          <a:xfrm>
            <a:off x="6565392" y="4407408"/>
            <a:ext cx="886968" cy="292608"/>
          </a:xfrm>
          <a:prstGeom prst="rect">
            <a:avLst/>
          </a:prstGeom>
          <a:noFill/>
          <a:ln/>
        </p:spPr>
        <p:txBody>
          <a:bodyPr wrap="square" lIns="0" tIns="0" rIns="0" bIns="0" rtlCol="0" anchor="ctr">
            <a:normAutofit/>
          </a:bodyPr>
          <a:lstStyle/>
          <a:p>
            <a:pPr algn="ctr" indent="0" marL="0">
              <a:buNone/>
            </a:pPr>
            <a:r>
              <a:rPr lang="en-US" sz="980" b="1" dirty="0">
                <a:solidFill>
                  <a:srgbClr val="00527F"/>
                </a:solidFill>
                <a:latin typeface="Calibri" pitchFamily="34" charset="0"/>
                <a:ea typeface="Calibri" pitchFamily="34" charset="-122"/>
                <a:cs typeface="Calibri" pitchFamily="34" charset="-120"/>
              </a:rPr>
              <a:t>SITE</a:t>
            </a:r>
            <a:endParaRPr lang="en-US" sz="980" dirty="0"/>
          </a:p>
        </p:txBody>
      </p:sp>
      <p:sp>
        <p:nvSpPr>
          <p:cNvPr id="36" name="Text 34"/>
          <p:cNvSpPr/>
          <p:nvPr/>
        </p:nvSpPr>
        <p:spPr>
          <a:xfrm>
            <a:off x="7708392" y="4379976"/>
            <a:ext cx="3200400" cy="365760"/>
          </a:xfrm>
          <a:prstGeom prst="rect">
            <a:avLst/>
          </a:prstGeom>
          <a:noFill/>
          <a:ln/>
        </p:spPr>
        <p:txBody>
          <a:bodyPr wrap="square" lIns="0" tIns="0" rIns="0" bIns="0" rtlCol="0" anchor="ctr">
            <a:normAutofit/>
          </a:bodyPr>
          <a:lstStyle/>
          <a:p>
            <a:pPr indent="0" marL="0">
              <a:buNone/>
            </a:pPr>
            <a:r>
              <a:rPr lang="en-US" sz="1340" dirty="0">
                <a:solidFill>
                  <a:srgbClr val="172126"/>
                </a:solidFill>
                <a:latin typeface="Calibri" pitchFamily="34" charset="0"/>
                <a:ea typeface="Calibri" pitchFamily="34" charset="-122"/>
                <a:cs typeface="Calibri" pitchFamily="34" charset="-120"/>
              </a:rPr>
              <a:t>Can consolidate with justified same-site work</a:t>
            </a:r>
            <a:endParaRPr lang="en-US" sz="1340" dirty="0"/>
          </a:p>
        </p:txBody>
      </p:sp>
      <p:sp>
        <p:nvSpPr>
          <p:cNvPr id="37" name="Shape 35"/>
          <p:cNvSpPr/>
          <p:nvPr/>
        </p:nvSpPr>
        <p:spPr>
          <a:xfrm>
            <a:off x="6528816" y="4882896"/>
            <a:ext cx="960120" cy="347472"/>
          </a:xfrm>
          <a:prstGeom prst="roundRect">
            <a:avLst>
              <a:gd name="adj" fmla="val 13158"/>
            </a:avLst>
          </a:prstGeom>
          <a:solidFill>
            <a:srgbClr val="FFFFFF"/>
          </a:solidFill>
          <a:ln w="12700">
            <a:solidFill>
              <a:srgbClr val="B9D8E8"/>
            </a:solidFill>
            <a:prstDash val="solid"/>
          </a:ln>
        </p:spPr>
      </p:sp>
      <p:sp>
        <p:nvSpPr>
          <p:cNvPr id="38" name="Text 36"/>
          <p:cNvSpPr/>
          <p:nvPr/>
        </p:nvSpPr>
        <p:spPr>
          <a:xfrm>
            <a:off x="6565392" y="4901184"/>
            <a:ext cx="886968" cy="292608"/>
          </a:xfrm>
          <a:prstGeom prst="rect">
            <a:avLst/>
          </a:prstGeom>
          <a:noFill/>
          <a:ln/>
        </p:spPr>
        <p:txBody>
          <a:bodyPr wrap="square" lIns="0" tIns="0" rIns="0" bIns="0" rtlCol="0" anchor="ctr">
            <a:normAutofit/>
          </a:bodyPr>
          <a:lstStyle/>
          <a:p>
            <a:pPr algn="ctr" indent="0" marL="0">
              <a:buNone/>
            </a:pPr>
            <a:r>
              <a:rPr lang="en-US" sz="980" b="1" dirty="0">
                <a:solidFill>
                  <a:srgbClr val="00527F"/>
                </a:solidFill>
                <a:latin typeface="Calibri" pitchFamily="34" charset="0"/>
                <a:ea typeface="Calibri" pitchFamily="34" charset="-122"/>
                <a:cs typeface="Calibri" pitchFamily="34" charset="-120"/>
              </a:rPr>
              <a:t>VALUE</a:t>
            </a:r>
            <a:endParaRPr lang="en-US" sz="980" dirty="0"/>
          </a:p>
        </p:txBody>
      </p:sp>
      <p:sp>
        <p:nvSpPr>
          <p:cNvPr id="39" name="Text 37"/>
          <p:cNvSpPr/>
          <p:nvPr/>
        </p:nvSpPr>
        <p:spPr>
          <a:xfrm>
            <a:off x="7708392" y="4873752"/>
            <a:ext cx="3200400" cy="365760"/>
          </a:xfrm>
          <a:prstGeom prst="rect">
            <a:avLst/>
          </a:prstGeom>
          <a:noFill/>
          <a:ln/>
        </p:spPr>
        <p:txBody>
          <a:bodyPr wrap="square" lIns="0" tIns="0" rIns="0" bIns="0" rtlCol="0" anchor="ctr">
            <a:normAutofit/>
          </a:bodyPr>
          <a:lstStyle/>
          <a:p>
            <a:pPr indent="0" marL="0">
              <a:buNone/>
            </a:pPr>
            <a:r>
              <a:rPr lang="en-US" sz="1340" dirty="0">
                <a:solidFill>
                  <a:srgbClr val="172126"/>
                </a:solidFill>
                <a:latin typeface="Calibri" pitchFamily="34" charset="0"/>
                <a:ea typeface="Calibri" pitchFamily="34" charset="-122"/>
                <a:cs typeface="Calibri" pitchFamily="34" charset="-120"/>
              </a:rPr>
              <a:t>Avoided loss exceeds added route cost</a:t>
            </a:r>
            <a:endParaRPr lang="en-US" sz="1340" dirty="0"/>
          </a:p>
        </p:txBody>
      </p:sp>
      <p:sp>
        <p:nvSpPr>
          <p:cNvPr id="40" name="Shape 38"/>
          <p:cNvSpPr/>
          <p:nvPr/>
        </p:nvSpPr>
        <p:spPr>
          <a:xfrm>
            <a:off x="6528816" y="5504688"/>
            <a:ext cx="4480560" cy="502920"/>
          </a:xfrm>
          <a:prstGeom prst="roundRect">
            <a:avLst>
              <a:gd name="adj" fmla="val 14545"/>
            </a:avLst>
          </a:prstGeom>
          <a:solidFill>
            <a:srgbClr val="FFFFFF"/>
          </a:solidFill>
          <a:ln w="19050">
            <a:solidFill>
              <a:srgbClr val="00527F"/>
            </a:solidFill>
            <a:prstDash val="solid"/>
          </a:ln>
        </p:spPr>
      </p:sp>
      <p:sp>
        <p:nvSpPr>
          <p:cNvPr id="41" name="Text 39"/>
          <p:cNvSpPr/>
          <p:nvPr/>
        </p:nvSpPr>
        <p:spPr>
          <a:xfrm>
            <a:off x="6638544" y="5559552"/>
            <a:ext cx="4261104" cy="384048"/>
          </a:xfrm>
          <a:prstGeom prst="rect">
            <a:avLst/>
          </a:prstGeom>
          <a:noFill/>
          <a:ln/>
        </p:spPr>
        <p:txBody>
          <a:bodyPr wrap="square" lIns="0" tIns="0" rIns="0" bIns="0" rtlCol="0" anchor="ctr">
            <a:normAutofit/>
          </a:bodyPr>
          <a:lstStyle/>
          <a:p>
            <a:pPr algn="ctr" indent="0" marL="0">
              <a:buNone/>
            </a:pPr>
            <a:r>
              <a:rPr lang="en-US" sz="1250" b="1" dirty="0">
                <a:solidFill>
                  <a:srgbClr val="00527F"/>
                </a:solidFill>
                <a:latin typeface="Calibri" pitchFamily="34" charset="0"/>
                <a:ea typeface="Calibri" pitchFamily="34" charset="-122"/>
                <a:cs typeface="Calibri" pitchFamily="34" charset="-120"/>
              </a:rPr>
              <a:t>Otherwise → DEFER · WAIT OR MERGE</a:t>
            </a:r>
            <a:endParaRPr lang="en-US" sz="1250" dirty="0"/>
          </a:p>
        </p:txBody>
      </p:sp>
      <p:sp>
        <p:nvSpPr>
          <p:cNvPr id="42" name="Text 40"/>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STEP 5 · VALUE THE TRIP</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We compare dispatching now with waiting or merging</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Optional collection proceeds only when the avoided-overflow benefit is larger than the full trip cost.</a:t>
            </a:r>
            <a:endParaRPr lang="en-US" sz="1400" dirty="0"/>
          </a:p>
        </p:txBody>
      </p:sp>
      <p:sp>
        <p:nvSpPr>
          <p:cNvPr id="5" name="Shape 3"/>
          <p:cNvSpPr/>
          <p:nvPr/>
        </p:nvSpPr>
        <p:spPr>
          <a:xfrm>
            <a:off x="621792" y="1801368"/>
            <a:ext cx="10972800" cy="1874520"/>
          </a:xfrm>
          <a:prstGeom prst="roundRect">
            <a:avLst>
              <a:gd name="adj" fmla="val 3902"/>
            </a:avLst>
          </a:prstGeom>
          <a:solidFill>
            <a:srgbClr val="171D20"/>
          </a:solidFill>
          <a:ln w="12700">
            <a:solidFill>
              <a:srgbClr val="171D20"/>
            </a:solidFill>
            <a:prstDash val="solid"/>
          </a:ln>
          <a:effectLst>
            <a:outerShdw sx="100000" sy="100000" kx="0" ky="0" algn="bl" rotWithShape="0" blurRad="19050" dist="50800" dir="2700000">
              <a:srgbClr val="000000">
                <a:alpha val="10000"/>
              </a:srgbClr>
            </a:outerShdw>
          </a:effectLst>
        </p:spPr>
      </p:sp>
      <p:sp>
        <p:nvSpPr>
          <p:cNvPr id="6" name="Text 4"/>
          <p:cNvSpPr/>
          <p:nvPr/>
        </p:nvSpPr>
        <p:spPr>
          <a:xfrm>
            <a:off x="932688" y="2057400"/>
            <a:ext cx="1417320" cy="310896"/>
          </a:xfrm>
          <a:prstGeom prst="rect">
            <a:avLst/>
          </a:prstGeom>
          <a:noFill/>
          <a:ln/>
        </p:spPr>
        <p:txBody>
          <a:bodyPr wrap="square" lIns="0" tIns="0" rIns="0" bIns="0" rtlCol="0" anchor="ctr">
            <a:normAutofit/>
          </a:bodyPr>
          <a:lstStyle/>
          <a:p>
            <a:pPr indent="0" marL="0">
              <a:buNone/>
            </a:pPr>
            <a:r>
              <a:rPr lang="en-US" sz="1200" b="1" spc="100" kern="0" dirty="0">
                <a:solidFill>
                  <a:srgbClr val="21C7F6"/>
                </a:solidFill>
                <a:latin typeface="Calibri" pitchFamily="34" charset="0"/>
                <a:ea typeface="Calibri" pitchFamily="34" charset="-122"/>
                <a:cs typeface="Calibri" pitchFamily="34" charset="-120"/>
              </a:rPr>
              <a:t>TRIP VALUE</a:t>
            </a:r>
            <a:endParaRPr lang="en-US" sz="1200" dirty="0"/>
          </a:p>
        </p:txBody>
      </p:sp>
      <p:sp>
        <p:nvSpPr>
          <p:cNvPr id="7" name="Text 5"/>
          <p:cNvSpPr/>
          <p:nvPr/>
        </p:nvSpPr>
        <p:spPr>
          <a:xfrm>
            <a:off x="932688" y="2578608"/>
            <a:ext cx="2240280" cy="457200"/>
          </a:xfrm>
          <a:prstGeom prst="rect">
            <a:avLst/>
          </a:prstGeom>
          <a:noFill/>
          <a:ln/>
        </p:spPr>
        <p:txBody>
          <a:bodyPr wrap="square" lIns="0" tIns="0" rIns="0" bIns="0" rtlCol="0" anchor="ctr">
            <a:normAutofit/>
          </a:bodyPr>
          <a:lstStyle/>
          <a:p>
            <a:pPr algn="ctr" indent="0" marL="0">
              <a:buNone/>
            </a:pPr>
            <a:r>
              <a:rPr lang="en-US" sz="2200" b="1" dirty="0">
                <a:solidFill>
                  <a:srgbClr val="E7F2EC"/>
                </a:solidFill>
                <a:latin typeface="Calibri" pitchFamily="34" charset="0"/>
                <a:ea typeface="Calibri" pitchFamily="34" charset="-122"/>
                <a:cs typeface="Calibri" pitchFamily="34" charset="-120"/>
              </a:rPr>
              <a:t>avoided overflow loss</a:t>
            </a:r>
            <a:endParaRPr lang="en-US" sz="2200" dirty="0"/>
          </a:p>
        </p:txBody>
      </p:sp>
      <p:sp>
        <p:nvSpPr>
          <p:cNvPr id="8" name="Text 6"/>
          <p:cNvSpPr/>
          <p:nvPr/>
        </p:nvSpPr>
        <p:spPr>
          <a:xfrm>
            <a:off x="3319272" y="2578608"/>
            <a:ext cx="457200" cy="45720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3886200" y="2551176"/>
            <a:ext cx="1170432" cy="292608"/>
          </a:xfrm>
          <a:prstGeom prst="roundRect">
            <a:avLst>
              <a:gd name="adj" fmla="val 21875"/>
            </a:avLst>
          </a:prstGeom>
          <a:solidFill>
            <a:srgbClr val="FFF3DA"/>
          </a:solidFill>
          <a:ln w="12700">
            <a:solidFill>
              <a:srgbClr val="FFF3DA"/>
            </a:solidFill>
            <a:prstDash val="solid"/>
          </a:ln>
        </p:spPr>
      </p:sp>
      <p:sp>
        <p:nvSpPr>
          <p:cNvPr id="10" name="Text 8"/>
          <p:cNvSpPr/>
          <p:nvPr/>
        </p:nvSpPr>
        <p:spPr>
          <a:xfrm>
            <a:off x="3959352" y="2560320"/>
            <a:ext cx="1024128" cy="265176"/>
          </a:xfrm>
          <a:prstGeom prst="rect">
            <a:avLst/>
          </a:prstGeom>
          <a:noFill/>
          <a:ln/>
        </p:spPr>
        <p:txBody>
          <a:bodyPr wrap="square" lIns="0" tIns="0" rIns="0" bIns="0" rtlCol="0" anchor="ctr">
            <a:normAutofit/>
          </a:bodyPr>
          <a:lstStyle/>
          <a:p>
            <a:pPr algn="ctr" indent="0" marL="0">
              <a:buNone/>
            </a:pPr>
            <a:r>
              <a:rPr lang="en-US" sz="1050" b="1" dirty="0">
                <a:solidFill>
                  <a:srgbClr val="805500"/>
                </a:solidFill>
                <a:latin typeface="Calibri" pitchFamily="34" charset="0"/>
                <a:ea typeface="Calibri" pitchFamily="34" charset="-122"/>
                <a:cs typeface="Calibri" pitchFamily="34" charset="-120"/>
              </a:rPr>
              <a:t>TRIP</a:t>
            </a:r>
            <a:endParaRPr lang="en-US" sz="1050" dirty="0"/>
          </a:p>
        </p:txBody>
      </p:sp>
      <p:sp>
        <p:nvSpPr>
          <p:cNvPr id="11" name="Shape 9"/>
          <p:cNvSpPr/>
          <p:nvPr/>
        </p:nvSpPr>
        <p:spPr>
          <a:xfrm>
            <a:off x="5239512" y="2551176"/>
            <a:ext cx="1170432" cy="292608"/>
          </a:xfrm>
          <a:prstGeom prst="roundRect">
            <a:avLst>
              <a:gd name="adj" fmla="val 21875"/>
            </a:avLst>
          </a:prstGeom>
          <a:solidFill>
            <a:srgbClr val="FFF3DA"/>
          </a:solidFill>
          <a:ln w="12700">
            <a:solidFill>
              <a:srgbClr val="FFF3DA"/>
            </a:solidFill>
            <a:prstDash val="solid"/>
          </a:ln>
        </p:spPr>
      </p:sp>
      <p:sp>
        <p:nvSpPr>
          <p:cNvPr id="12" name="Text 10"/>
          <p:cNvSpPr/>
          <p:nvPr/>
        </p:nvSpPr>
        <p:spPr>
          <a:xfrm>
            <a:off x="5312664" y="2560320"/>
            <a:ext cx="1024128" cy="265176"/>
          </a:xfrm>
          <a:prstGeom prst="rect">
            <a:avLst/>
          </a:prstGeom>
          <a:noFill/>
          <a:ln/>
        </p:spPr>
        <p:txBody>
          <a:bodyPr wrap="square" lIns="0" tIns="0" rIns="0" bIns="0" rtlCol="0" anchor="ctr">
            <a:normAutofit/>
          </a:bodyPr>
          <a:lstStyle/>
          <a:p>
            <a:pPr algn="ctr" indent="0" marL="0">
              <a:buNone/>
            </a:pPr>
            <a:r>
              <a:rPr lang="en-US" sz="1050" b="1" dirty="0">
                <a:solidFill>
                  <a:srgbClr val="805500"/>
                </a:solidFill>
                <a:latin typeface="Calibri" pitchFamily="34" charset="0"/>
                <a:ea typeface="Calibri" pitchFamily="34" charset="-122"/>
                <a:cs typeface="Calibri" pitchFamily="34" charset="-120"/>
              </a:rPr>
              <a:t>DISTANCE</a:t>
            </a:r>
            <a:endParaRPr lang="en-US" sz="1050" dirty="0"/>
          </a:p>
        </p:txBody>
      </p:sp>
      <p:sp>
        <p:nvSpPr>
          <p:cNvPr id="13" name="Shape 11"/>
          <p:cNvSpPr/>
          <p:nvPr/>
        </p:nvSpPr>
        <p:spPr>
          <a:xfrm>
            <a:off x="6592824" y="2551176"/>
            <a:ext cx="1170432" cy="292608"/>
          </a:xfrm>
          <a:prstGeom prst="roundRect">
            <a:avLst>
              <a:gd name="adj" fmla="val 21875"/>
            </a:avLst>
          </a:prstGeom>
          <a:solidFill>
            <a:srgbClr val="FFF3DA"/>
          </a:solidFill>
          <a:ln w="12700">
            <a:solidFill>
              <a:srgbClr val="FFF3DA"/>
            </a:solidFill>
            <a:prstDash val="solid"/>
          </a:ln>
        </p:spPr>
      </p:sp>
      <p:sp>
        <p:nvSpPr>
          <p:cNvPr id="14" name="Text 12"/>
          <p:cNvSpPr/>
          <p:nvPr/>
        </p:nvSpPr>
        <p:spPr>
          <a:xfrm>
            <a:off x="6665976" y="2560320"/>
            <a:ext cx="1024128" cy="265176"/>
          </a:xfrm>
          <a:prstGeom prst="rect">
            <a:avLst/>
          </a:prstGeom>
          <a:noFill/>
          <a:ln/>
        </p:spPr>
        <p:txBody>
          <a:bodyPr wrap="square" lIns="0" tIns="0" rIns="0" bIns="0" rtlCol="0" anchor="ctr">
            <a:normAutofit/>
          </a:bodyPr>
          <a:lstStyle/>
          <a:p>
            <a:pPr algn="ctr" indent="0" marL="0">
              <a:buNone/>
            </a:pPr>
            <a:r>
              <a:rPr lang="en-US" sz="1050" b="1" dirty="0">
                <a:solidFill>
                  <a:srgbClr val="805500"/>
                </a:solidFill>
                <a:latin typeface="Calibri" pitchFamily="34" charset="0"/>
                <a:ea typeface="Calibri" pitchFamily="34" charset="-122"/>
                <a:cs typeface="Calibri" pitchFamily="34" charset="-120"/>
              </a:rPr>
              <a:t>TRAVEL TIME</a:t>
            </a:r>
            <a:endParaRPr lang="en-US" sz="1050" dirty="0"/>
          </a:p>
        </p:txBody>
      </p:sp>
      <p:sp>
        <p:nvSpPr>
          <p:cNvPr id="15" name="Shape 13"/>
          <p:cNvSpPr/>
          <p:nvPr/>
        </p:nvSpPr>
        <p:spPr>
          <a:xfrm>
            <a:off x="7946136" y="2551176"/>
            <a:ext cx="1170432" cy="292608"/>
          </a:xfrm>
          <a:prstGeom prst="roundRect">
            <a:avLst>
              <a:gd name="adj" fmla="val 21875"/>
            </a:avLst>
          </a:prstGeom>
          <a:solidFill>
            <a:srgbClr val="FFF3DA"/>
          </a:solidFill>
          <a:ln w="12700">
            <a:solidFill>
              <a:srgbClr val="FFF3DA"/>
            </a:solidFill>
            <a:prstDash val="solid"/>
          </a:ln>
        </p:spPr>
      </p:sp>
      <p:sp>
        <p:nvSpPr>
          <p:cNvPr id="16" name="Text 14"/>
          <p:cNvSpPr/>
          <p:nvPr/>
        </p:nvSpPr>
        <p:spPr>
          <a:xfrm>
            <a:off x="8019288" y="2560320"/>
            <a:ext cx="1024128" cy="265176"/>
          </a:xfrm>
          <a:prstGeom prst="rect">
            <a:avLst/>
          </a:prstGeom>
          <a:noFill/>
          <a:ln/>
        </p:spPr>
        <p:txBody>
          <a:bodyPr wrap="square" lIns="0" tIns="0" rIns="0" bIns="0" rtlCol="0" anchor="ctr">
            <a:normAutofit/>
          </a:bodyPr>
          <a:lstStyle/>
          <a:p>
            <a:pPr algn="ctr" indent="0" marL="0">
              <a:buNone/>
            </a:pPr>
            <a:r>
              <a:rPr lang="en-US" sz="1050" b="1" dirty="0">
                <a:solidFill>
                  <a:srgbClr val="805500"/>
                </a:solidFill>
                <a:latin typeface="Calibri" pitchFamily="34" charset="0"/>
                <a:ea typeface="Calibri" pitchFamily="34" charset="-122"/>
                <a:cs typeface="Calibri" pitchFamily="34" charset="-120"/>
              </a:rPr>
              <a:t>SERVICE</a:t>
            </a:r>
            <a:endParaRPr lang="en-US" sz="1050" dirty="0"/>
          </a:p>
        </p:txBody>
      </p:sp>
      <p:sp>
        <p:nvSpPr>
          <p:cNvPr id="17" name="Shape 15"/>
          <p:cNvSpPr/>
          <p:nvPr/>
        </p:nvSpPr>
        <p:spPr>
          <a:xfrm>
            <a:off x="9299448" y="2551176"/>
            <a:ext cx="1170432" cy="292608"/>
          </a:xfrm>
          <a:prstGeom prst="roundRect">
            <a:avLst>
              <a:gd name="adj" fmla="val 21875"/>
            </a:avLst>
          </a:prstGeom>
          <a:solidFill>
            <a:srgbClr val="FBE9EA"/>
          </a:solidFill>
          <a:ln w="12700">
            <a:solidFill>
              <a:srgbClr val="FBE9EA"/>
            </a:solidFill>
            <a:prstDash val="solid"/>
          </a:ln>
        </p:spPr>
      </p:sp>
      <p:sp>
        <p:nvSpPr>
          <p:cNvPr id="18" name="Text 16"/>
          <p:cNvSpPr/>
          <p:nvPr/>
        </p:nvSpPr>
        <p:spPr>
          <a:xfrm>
            <a:off x="9372600" y="2560320"/>
            <a:ext cx="1024128" cy="265176"/>
          </a:xfrm>
          <a:prstGeom prst="rect">
            <a:avLst/>
          </a:prstGeom>
          <a:noFill/>
          <a:ln/>
        </p:spPr>
        <p:txBody>
          <a:bodyPr wrap="square" lIns="0" tIns="0" rIns="0" bIns="0" rtlCol="0" anchor="ctr">
            <a:normAutofit/>
          </a:bodyPr>
          <a:lstStyle/>
          <a:p>
            <a:pPr algn="ctr" indent="0" marL="0">
              <a:buNone/>
            </a:pPr>
            <a:r>
              <a:rPr lang="en-US" sz="1050" b="1" dirty="0">
                <a:solidFill>
                  <a:srgbClr val="C64045"/>
                </a:solidFill>
                <a:latin typeface="Calibri" pitchFamily="34" charset="0"/>
                <a:ea typeface="Calibri" pitchFamily="34" charset="-122"/>
                <a:cs typeface="Calibri" pitchFamily="34" charset="-120"/>
              </a:rPr>
              <a:t>LOW FILL</a:t>
            </a:r>
            <a:endParaRPr lang="en-US" sz="1050" dirty="0"/>
          </a:p>
        </p:txBody>
      </p:sp>
      <p:sp>
        <p:nvSpPr>
          <p:cNvPr id="19" name="Text 17"/>
          <p:cNvSpPr/>
          <p:nvPr/>
        </p:nvSpPr>
        <p:spPr>
          <a:xfrm>
            <a:off x="10680192" y="2578608"/>
            <a:ext cx="320040" cy="45720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20" name="Text 18"/>
          <p:cNvSpPr/>
          <p:nvPr/>
        </p:nvSpPr>
        <p:spPr>
          <a:xfrm>
            <a:off x="11018520" y="2487168"/>
            <a:ext cx="320040" cy="566928"/>
          </a:xfrm>
          <a:prstGeom prst="rect">
            <a:avLst/>
          </a:prstGeom>
          <a:noFill/>
          <a:ln/>
        </p:spPr>
        <p:txBody>
          <a:bodyPr wrap="square" lIns="0" tIns="0" rIns="0" bIns="0" rtlCol="0" anchor="ctr">
            <a:normAutofit/>
          </a:bodyPr>
          <a:lstStyle/>
          <a:p>
            <a:pPr algn="ctr" indent="0" marL="0">
              <a:buNone/>
            </a:pPr>
            <a:r>
              <a:rPr lang="en-US" sz="3000" b="1" dirty="0">
                <a:solidFill>
                  <a:srgbClr val="21C7F6"/>
                </a:solidFill>
                <a:latin typeface="Calibri" pitchFamily="34" charset="0"/>
                <a:ea typeface="Calibri" pitchFamily="34" charset="-122"/>
                <a:cs typeface="Calibri" pitchFamily="34" charset="-120"/>
              </a:rPr>
              <a:t>V</a:t>
            </a:r>
            <a:endParaRPr lang="en-US" sz="3000" dirty="0"/>
          </a:p>
        </p:txBody>
      </p:sp>
      <p:sp>
        <p:nvSpPr>
          <p:cNvPr id="21" name="Shape 19"/>
          <p:cNvSpPr/>
          <p:nvPr/>
        </p:nvSpPr>
        <p:spPr>
          <a:xfrm>
            <a:off x="621792" y="3977640"/>
            <a:ext cx="5257800" cy="2011680"/>
          </a:xfrm>
          <a:prstGeom prst="roundRect">
            <a:avLst>
              <a:gd name="adj" fmla="val 3636"/>
            </a:avLst>
          </a:prstGeom>
          <a:solidFill>
            <a:srgbClr val="E7F2EC"/>
          </a:solidFill>
          <a:ln w="12700">
            <a:solidFill>
              <a:srgbClr val="2F7D5B"/>
            </a:solidFill>
            <a:prstDash val="solid"/>
          </a:ln>
        </p:spPr>
      </p:sp>
      <p:sp>
        <p:nvSpPr>
          <p:cNvPr id="22" name="Shape 20"/>
          <p:cNvSpPr/>
          <p:nvPr/>
        </p:nvSpPr>
        <p:spPr>
          <a:xfrm>
            <a:off x="960120" y="4315968"/>
            <a:ext cx="749808" cy="749808"/>
          </a:xfrm>
          <a:prstGeom prst="ellipse">
            <a:avLst/>
          </a:prstGeom>
          <a:solidFill>
            <a:srgbClr val="2F7D5B"/>
          </a:solidFill>
          <a:ln w="12700">
            <a:solidFill>
              <a:srgbClr val="2F7D5B"/>
            </a:solidFill>
            <a:prstDash val="solid"/>
          </a:ln>
        </p:spPr>
      </p:sp>
      <p:sp>
        <p:nvSpPr>
          <p:cNvPr id="23" name="Text 21"/>
          <p:cNvSpPr/>
          <p:nvPr/>
        </p:nvSpPr>
        <p:spPr>
          <a:xfrm>
            <a:off x="960120" y="4517136"/>
            <a:ext cx="749808"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&gt; 0</a:t>
            </a:r>
            <a:endParaRPr lang="en-US" sz="1800" dirty="0"/>
          </a:p>
        </p:txBody>
      </p:sp>
      <p:sp>
        <p:nvSpPr>
          <p:cNvPr id="24" name="Text 22"/>
          <p:cNvSpPr/>
          <p:nvPr/>
        </p:nvSpPr>
        <p:spPr>
          <a:xfrm>
            <a:off x="1993392" y="4251960"/>
            <a:ext cx="3200400" cy="329184"/>
          </a:xfrm>
          <a:prstGeom prst="rect">
            <a:avLst/>
          </a:prstGeom>
          <a:noFill/>
          <a:ln/>
        </p:spPr>
        <p:txBody>
          <a:bodyPr wrap="square" lIns="0" tIns="0" rIns="0" bIns="0" rtlCol="0" anchor="ctr">
            <a:normAutofit/>
          </a:bodyPr>
          <a:lstStyle/>
          <a:p>
            <a:pPr indent="0" marL="0">
              <a:buNone/>
            </a:pPr>
            <a:r>
              <a:rPr lang="en-US" sz="1800" b="1" dirty="0">
                <a:solidFill>
                  <a:srgbClr val="2F7D5B"/>
                </a:solidFill>
                <a:latin typeface="Calibri" pitchFamily="34" charset="0"/>
                <a:ea typeface="Calibri" pitchFamily="34" charset="-122"/>
                <a:cs typeface="Calibri" pitchFamily="34" charset="-120"/>
              </a:rPr>
              <a:t>DISPATCH CANDIDATE</a:t>
            </a:r>
            <a:endParaRPr lang="en-US" sz="1800" dirty="0"/>
          </a:p>
        </p:txBody>
      </p:sp>
      <p:sp>
        <p:nvSpPr>
          <p:cNvPr id="25" name="Text 23"/>
          <p:cNvSpPr/>
          <p:nvPr/>
        </p:nvSpPr>
        <p:spPr>
          <a:xfrm>
            <a:off x="1993392" y="4700016"/>
            <a:ext cx="3310128" cy="685800"/>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The joint feasible route creates more avoided loss than operating cost.</a:t>
            </a:r>
            <a:endParaRPr lang="en-US" sz="1400" dirty="0"/>
          </a:p>
        </p:txBody>
      </p:sp>
      <p:sp>
        <p:nvSpPr>
          <p:cNvPr id="26" name="Shape 24"/>
          <p:cNvSpPr/>
          <p:nvPr/>
        </p:nvSpPr>
        <p:spPr>
          <a:xfrm>
            <a:off x="6245352" y="3977640"/>
            <a:ext cx="5349240" cy="2011680"/>
          </a:xfrm>
          <a:prstGeom prst="roundRect">
            <a:avLst>
              <a:gd name="adj" fmla="val 3636"/>
            </a:avLst>
          </a:prstGeom>
          <a:solidFill>
            <a:srgbClr val="E7F2F8"/>
          </a:solidFill>
          <a:ln w="12700">
            <a:solidFill>
              <a:srgbClr val="006DAE"/>
            </a:solidFill>
            <a:prstDash val="solid"/>
          </a:ln>
        </p:spPr>
      </p:sp>
      <p:sp>
        <p:nvSpPr>
          <p:cNvPr id="27" name="Shape 25"/>
          <p:cNvSpPr/>
          <p:nvPr/>
        </p:nvSpPr>
        <p:spPr>
          <a:xfrm>
            <a:off x="6601968" y="4315968"/>
            <a:ext cx="749808" cy="749808"/>
          </a:xfrm>
          <a:prstGeom prst="ellipse">
            <a:avLst/>
          </a:prstGeom>
          <a:solidFill>
            <a:srgbClr val="006DAE"/>
          </a:solidFill>
          <a:ln w="12700">
            <a:solidFill>
              <a:srgbClr val="006DAE"/>
            </a:solidFill>
            <a:prstDash val="solid"/>
          </a:ln>
        </p:spPr>
      </p:sp>
      <p:sp>
        <p:nvSpPr>
          <p:cNvPr id="28" name="Text 26"/>
          <p:cNvSpPr/>
          <p:nvPr/>
        </p:nvSpPr>
        <p:spPr>
          <a:xfrm>
            <a:off x="6601968" y="4517136"/>
            <a:ext cx="749808"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 0</a:t>
            </a:r>
            <a:endParaRPr lang="en-US" sz="1800" dirty="0"/>
          </a:p>
        </p:txBody>
      </p:sp>
      <p:sp>
        <p:nvSpPr>
          <p:cNvPr id="29" name="Text 27"/>
          <p:cNvSpPr/>
          <p:nvPr/>
        </p:nvSpPr>
        <p:spPr>
          <a:xfrm>
            <a:off x="7653528" y="4251960"/>
            <a:ext cx="3200400" cy="329184"/>
          </a:xfrm>
          <a:prstGeom prst="rect">
            <a:avLst/>
          </a:prstGeom>
          <a:noFill/>
          <a:ln/>
        </p:spPr>
        <p:txBody>
          <a:bodyPr wrap="square" lIns="0" tIns="0" rIns="0" bIns="0" rtlCol="0" anchor="ctr">
            <a:normAutofit/>
          </a:bodyPr>
          <a:lstStyle/>
          <a:p>
            <a:pPr indent="0" marL="0">
              <a:buNone/>
            </a:pPr>
            <a:r>
              <a:rPr lang="en-US" sz="1800" b="1" dirty="0">
                <a:solidFill>
                  <a:srgbClr val="00527F"/>
                </a:solidFill>
                <a:latin typeface="Calibri" pitchFamily="34" charset="0"/>
                <a:ea typeface="Calibri" pitchFamily="34" charset="-122"/>
                <a:cs typeface="Calibri" pitchFamily="34" charset="-120"/>
              </a:rPr>
              <a:t>WAIT OR MERGE</a:t>
            </a:r>
            <a:endParaRPr lang="en-US" sz="1800" dirty="0"/>
          </a:p>
        </p:txBody>
      </p:sp>
      <p:sp>
        <p:nvSpPr>
          <p:cNvPr id="30" name="Text 28"/>
          <p:cNvSpPr/>
          <p:nvPr/>
        </p:nvSpPr>
        <p:spPr>
          <a:xfrm>
            <a:off x="7653528" y="4700016"/>
            <a:ext cx="3383280" cy="685800"/>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Candidates stay deferred for a later opportunity or a better consolidated batch.</a:t>
            </a:r>
            <a:endParaRPr lang="en-US" sz="1400" dirty="0"/>
          </a:p>
        </p:txBody>
      </p:sp>
      <p:sp>
        <p:nvSpPr>
          <p:cNvPr id="31" name="Text 29"/>
          <p:cNvSpPr/>
          <p:nvPr/>
        </p:nvSpPr>
        <p:spPr>
          <a:xfrm>
            <a:off x="3703320" y="6144768"/>
            <a:ext cx="4800600" cy="228600"/>
          </a:xfrm>
          <a:prstGeom prst="rect">
            <a:avLst/>
          </a:prstGeom>
          <a:noFill/>
          <a:ln/>
        </p:spPr>
        <p:txBody>
          <a:bodyPr wrap="square" lIns="0" tIns="0" rIns="0" bIns="0" rtlCol="0" anchor="ctr">
            <a:normAutofit/>
          </a:bodyPr>
          <a:lstStyle/>
          <a:p>
            <a:pPr algn="ctr" indent="0" marL="0">
              <a:buNone/>
            </a:pPr>
            <a:r>
              <a:rPr lang="en-US" sz="1250" b="1" dirty="0">
                <a:solidFill>
                  <a:srgbClr val="C64045"/>
                </a:solidFill>
                <a:latin typeface="Calibri" pitchFamily="34" charset="0"/>
                <a:ea typeface="Calibri" pitchFamily="34" charset="-122"/>
                <a:cs typeface="Calibri" pitchFamily="34" charset="-120"/>
              </a:rPr>
              <a:t>Emergency/service-constraint work overrides this comparison.</a:t>
            </a:r>
            <a:endParaRPr lang="en-US" sz="1250" dirty="0"/>
          </a:p>
        </p:txBody>
      </p:sp>
      <p:sp>
        <p:nvSpPr>
          <p:cNvPr id="32" name="Text 30"/>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STEP 6 · OPTIMIZE</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The solver chooses stops and road order together</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It uses cached OSRM road distance and duration — not straight-line distance.</a:t>
            </a:r>
            <a:endParaRPr lang="en-US" sz="1400" dirty="0"/>
          </a:p>
        </p:txBody>
      </p:sp>
      <p:sp>
        <p:nvSpPr>
          <p:cNvPr id="5" name="Shape 3"/>
          <p:cNvSpPr/>
          <p:nvPr/>
        </p:nvSpPr>
        <p:spPr>
          <a:xfrm>
            <a:off x="603504" y="1737360"/>
            <a:ext cx="6784848" cy="4416552"/>
          </a:xfrm>
          <a:prstGeom prst="roundRect">
            <a:avLst>
              <a:gd name="adj" fmla="val 1656"/>
            </a:avLst>
          </a:prstGeom>
          <a:solidFill>
            <a:srgbClr val="171D20"/>
          </a:solidFill>
          <a:ln w="12700">
            <a:solidFill>
              <a:srgbClr val="171D20"/>
            </a:solidFill>
            <a:prstDash val="solid"/>
          </a:ln>
          <a:effectLst>
            <a:outerShdw sx="100000" sy="100000" kx="0" ky="0" algn="bl" rotWithShape="0" blurRad="19050" dist="50800" dir="2700000">
              <a:srgbClr val="000000">
                <a:alpha val="10000"/>
              </a:srgbClr>
            </a:outerShdw>
          </a:effectLst>
        </p:spPr>
      </p:sp>
      <p:sp>
        <p:nvSpPr>
          <p:cNvPr id="6" name="Shape 4"/>
          <p:cNvSpPr/>
          <p:nvPr/>
        </p:nvSpPr>
        <p:spPr>
          <a:xfrm>
            <a:off x="832104" y="1956816"/>
            <a:ext cx="6327648" cy="3840480"/>
          </a:xfrm>
          <a:prstGeom prst="roundRect">
            <a:avLst>
              <a:gd name="adj" fmla="val 1905"/>
            </a:avLst>
          </a:prstGeom>
          <a:solidFill>
            <a:srgbClr val="F7FAFA"/>
          </a:solidFill>
          <a:ln w="12700">
            <a:solidFill>
              <a:srgbClr val="BFCBCD"/>
            </a:solidFill>
            <a:prstDash val="solid"/>
          </a:ln>
        </p:spPr>
      </p:sp>
      <p:sp>
        <p:nvSpPr>
          <p:cNvPr id="7" name="Shape 5"/>
          <p:cNvSpPr/>
          <p:nvPr/>
        </p:nvSpPr>
        <p:spPr>
          <a:xfrm>
            <a:off x="1148486" y="2264054"/>
            <a:ext cx="1138977" cy="844906"/>
          </a:xfrm>
          <a:prstGeom prst="roundRect">
            <a:avLst>
              <a:gd name="adj" fmla="val 3247"/>
            </a:avLst>
          </a:prstGeom>
          <a:solidFill>
            <a:srgbClr val="E7F2F8">
              <a:alpha val="68000"/>
            </a:srgbClr>
          </a:solidFill>
          <a:ln w="12700">
            <a:solidFill>
              <a:srgbClr val="E7F2F8">
                <a:alpha val="0"/>
              </a:srgbClr>
            </a:solidFill>
            <a:prstDash val="solid"/>
          </a:ln>
        </p:spPr>
      </p:sp>
      <p:sp>
        <p:nvSpPr>
          <p:cNvPr id="8" name="Shape 6"/>
          <p:cNvSpPr/>
          <p:nvPr/>
        </p:nvSpPr>
        <p:spPr>
          <a:xfrm>
            <a:off x="2603845" y="2264054"/>
            <a:ext cx="1518636" cy="844906"/>
          </a:xfrm>
          <a:prstGeom prst="roundRect">
            <a:avLst>
              <a:gd name="adj" fmla="val 3247"/>
            </a:avLst>
          </a:prstGeom>
          <a:solidFill>
            <a:srgbClr val="E3F1F1">
              <a:alpha val="68000"/>
            </a:srgbClr>
          </a:solidFill>
          <a:ln w="12700">
            <a:solidFill>
              <a:srgbClr val="E3F1F1">
                <a:alpha val="0"/>
              </a:srgbClr>
            </a:solidFill>
            <a:prstDash val="solid"/>
          </a:ln>
        </p:spPr>
      </p:sp>
      <p:sp>
        <p:nvSpPr>
          <p:cNvPr id="9" name="Shape 7"/>
          <p:cNvSpPr/>
          <p:nvPr/>
        </p:nvSpPr>
        <p:spPr>
          <a:xfrm>
            <a:off x="4438863" y="2264054"/>
            <a:ext cx="1012424" cy="844906"/>
          </a:xfrm>
          <a:prstGeom prst="roundRect">
            <a:avLst>
              <a:gd name="adj" fmla="val 3247"/>
            </a:avLst>
          </a:prstGeom>
          <a:solidFill>
            <a:srgbClr val="F3F5F3">
              <a:alpha val="68000"/>
            </a:srgbClr>
          </a:solidFill>
          <a:ln w="12700">
            <a:solidFill>
              <a:srgbClr val="F3F5F3">
                <a:alpha val="0"/>
              </a:srgbClr>
            </a:solidFill>
            <a:prstDash val="solid"/>
          </a:ln>
        </p:spPr>
      </p:sp>
      <p:sp>
        <p:nvSpPr>
          <p:cNvPr id="10" name="Shape 8"/>
          <p:cNvSpPr/>
          <p:nvPr/>
        </p:nvSpPr>
        <p:spPr>
          <a:xfrm>
            <a:off x="5704393" y="2264054"/>
            <a:ext cx="1138977" cy="844906"/>
          </a:xfrm>
          <a:prstGeom prst="roundRect">
            <a:avLst>
              <a:gd name="adj" fmla="val 3247"/>
            </a:avLst>
          </a:prstGeom>
          <a:solidFill>
            <a:srgbClr val="E7F2EC">
              <a:alpha val="68000"/>
            </a:srgbClr>
          </a:solidFill>
          <a:ln w="12700">
            <a:solidFill>
              <a:srgbClr val="E7F2EC">
                <a:alpha val="0"/>
              </a:srgbClr>
            </a:solidFill>
            <a:prstDash val="solid"/>
          </a:ln>
        </p:spPr>
      </p:sp>
      <p:sp>
        <p:nvSpPr>
          <p:cNvPr id="11" name="Shape 9"/>
          <p:cNvSpPr/>
          <p:nvPr/>
        </p:nvSpPr>
        <p:spPr>
          <a:xfrm>
            <a:off x="1148486" y="3377794"/>
            <a:ext cx="1771741" cy="921715"/>
          </a:xfrm>
          <a:prstGeom prst="roundRect">
            <a:avLst>
              <a:gd name="adj" fmla="val 2976"/>
            </a:avLst>
          </a:prstGeom>
          <a:solidFill>
            <a:srgbClr val="F3F5F3">
              <a:alpha val="68000"/>
            </a:srgbClr>
          </a:solidFill>
          <a:ln w="12700">
            <a:solidFill>
              <a:srgbClr val="F3F5F3">
                <a:alpha val="0"/>
              </a:srgbClr>
            </a:solidFill>
            <a:prstDash val="solid"/>
          </a:ln>
        </p:spPr>
      </p:sp>
      <p:sp>
        <p:nvSpPr>
          <p:cNvPr id="12" name="Shape 10"/>
          <p:cNvSpPr/>
          <p:nvPr/>
        </p:nvSpPr>
        <p:spPr>
          <a:xfrm>
            <a:off x="3236610" y="3377794"/>
            <a:ext cx="1328806" cy="921715"/>
          </a:xfrm>
          <a:prstGeom prst="roundRect">
            <a:avLst>
              <a:gd name="adj" fmla="val 2976"/>
            </a:avLst>
          </a:prstGeom>
          <a:solidFill>
            <a:srgbClr val="E7F2F8">
              <a:alpha val="68000"/>
            </a:srgbClr>
          </a:solidFill>
          <a:ln w="12700">
            <a:solidFill>
              <a:srgbClr val="E7F2F8">
                <a:alpha val="0"/>
              </a:srgbClr>
            </a:solidFill>
            <a:prstDash val="solid"/>
          </a:ln>
        </p:spPr>
      </p:sp>
      <p:sp>
        <p:nvSpPr>
          <p:cNvPr id="13" name="Shape 11"/>
          <p:cNvSpPr/>
          <p:nvPr/>
        </p:nvSpPr>
        <p:spPr>
          <a:xfrm>
            <a:off x="4881799" y="3377794"/>
            <a:ext cx="1961571" cy="921715"/>
          </a:xfrm>
          <a:prstGeom prst="roundRect">
            <a:avLst>
              <a:gd name="adj" fmla="val 2976"/>
            </a:avLst>
          </a:prstGeom>
          <a:solidFill>
            <a:srgbClr val="FFF3DA">
              <a:alpha val="68000"/>
            </a:srgbClr>
          </a:solidFill>
          <a:ln w="12700">
            <a:solidFill>
              <a:srgbClr val="FFF3DA">
                <a:alpha val="0"/>
              </a:srgbClr>
            </a:solidFill>
            <a:prstDash val="solid"/>
          </a:ln>
        </p:spPr>
      </p:sp>
      <p:sp>
        <p:nvSpPr>
          <p:cNvPr id="14" name="Shape 12"/>
          <p:cNvSpPr/>
          <p:nvPr/>
        </p:nvSpPr>
        <p:spPr>
          <a:xfrm>
            <a:off x="1148486" y="4568342"/>
            <a:ext cx="1265530" cy="844906"/>
          </a:xfrm>
          <a:prstGeom prst="roundRect">
            <a:avLst>
              <a:gd name="adj" fmla="val 3247"/>
            </a:avLst>
          </a:prstGeom>
          <a:solidFill>
            <a:srgbClr val="E7F2EC">
              <a:alpha val="68000"/>
            </a:srgbClr>
          </a:solidFill>
          <a:ln w="12700">
            <a:solidFill>
              <a:srgbClr val="E7F2EC">
                <a:alpha val="0"/>
              </a:srgbClr>
            </a:solidFill>
            <a:prstDash val="solid"/>
          </a:ln>
        </p:spPr>
      </p:sp>
      <p:sp>
        <p:nvSpPr>
          <p:cNvPr id="15" name="Shape 13"/>
          <p:cNvSpPr/>
          <p:nvPr/>
        </p:nvSpPr>
        <p:spPr>
          <a:xfrm>
            <a:off x="2730398" y="4568342"/>
            <a:ext cx="1771741" cy="844906"/>
          </a:xfrm>
          <a:prstGeom prst="roundRect">
            <a:avLst>
              <a:gd name="adj" fmla="val 3247"/>
            </a:avLst>
          </a:prstGeom>
          <a:solidFill>
            <a:srgbClr val="F3F5F3">
              <a:alpha val="68000"/>
            </a:srgbClr>
          </a:solidFill>
          <a:ln w="12700">
            <a:solidFill>
              <a:srgbClr val="F3F5F3">
                <a:alpha val="0"/>
              </a:srgbClr>
            </a:solidFill>
            <a:prstDash val="solid"/>
          </a:ln>
        </p:spPr>
      </p:sp>
      <p:sp>
        <p:nvSpPr>
          <p:cNvPr id="16" name="Shape 14"/>
          <p:cNvSpPr/>
          <p:nvPr/>
        </p:nvSpPr>
        <p:spPr>
          <a:xfrm>
            <a:off x="4818522" y="4568342"/>
            <a:ext cx="2024847" cy="844906"/>
          </a:xfrm>
          <a:prstGeom prst="roundRect">
            <a:avLst>
              <a:gd name="adj" fmla="val 3247"/>
            </a:avLst>
          </a:prstGeom>
          <a:solidFill>
            <a:srgbClr val="E3F1F1">
              <a:alpha val="68000"/>
            </a:srgbClr>
          </a:solidFill>
          <a:ln w="12700">
            <a:solidFill>
              <a:srgbClr val="E3F1F1">
                <a:alpha val="0"/>
              </a:srgbClr>
            </a:solidFill>
            <a:prstDash val="solid"/>
          </a:ln>
        </p:spPr>
      </p:sp>
      <p:sp>
        <p:nvSpPr>
          <p:cNvPr id="17" name="Shape 15"/>
          <p:cNvSpPr/>
          <p:nvPr/>
        </p:nvSpPr>
        <p:spPr>
          <a:xfrm>
            <a:off x="1021933" y="3224174"/>
            <a:ext cx="5947989" cy="0"/>
          </a:xfrm>
          <a:prstGeom prst="line">
            <a:avLst/>
          </a:prstGeom>
          <a:noFill/>
          <a:ln w="13970">
            <a:solidFill>
              <a:srgbClr val="BCC7C9">
                <a:alpha val="82000"/>
              </a:srgbClr>
            </a:solidFill>
            <a:prstDash val="solid"/>
          </a:ln>
        </p:spPr>
      </p:sp>
      <p:sp>
        <p:nvSpPr>
          <p:cNvPr id="18" name="Shape 16"/>
          <p:cNvSpPr/>
          <p:nvPr/>
        </p:nvSpPr>
        <p:spPr>
          <a:xfrm>
            <a:off x="958657" y="4453128"/>
            <a:ext cx="6074542" cy="0"/>
          </a:xfrm>
          <a:prstGeom prst="line">
            <a:avLst/>
          </a:prstGeom>
          <a:noFill/>
          <a:ln w="13970">
            <a:solidFill>
              <a:srgbClr val="BCC7C9">
                <a:alpha val="82000"/>
              </a:srgbClr>
            </a:solidFill>
            <a:prstDash val="solid"/>
          </a:ln>
        </p:spPr>
      </p:sp>
      <p:sp>
        <p:nvSpPr>
          <p:cNvPr id="19" name="Shape 17"/>
          <p:cNvSpPr/>
          <p:nvPr/>
        </p:nvSpPr>
        <p:spPr>
          <a:xfrm>
            <a:off x="2224187" y="2033626"/>
            <a:ext cx="0" cy="3686861"/>
          </a:xfrm>
          <a:prstGeom prst="line">
            <a:avLst/>
          </a:prstGeom>
          <a:noFill/>
          <a:ln w="13970">
            <a:solidFill>
              <a:srgbClr val="BCC7C9">
                <a:alpha val="82000"/>
              </a:srgbClr>
            </a:solidFill>
            <a:prstDash val="solid"/>
          </a:ln>
        </p:spPr>
      </p:sp>
      <p:sp>
        <p:nvSpPr>
          <p:cNvPr id="20" name="Shape 18"/>
          <p:cNvSpPr/>
          <p:nvPr/>
        </p:nvSpPr>
        <p:spPr>
          <a:xfrm>
            <a:off x="4438863" y="2033626"/>
            <a:ext cx="0" cy="3686861"/>
          </a:xfrm>
          <a:prstGeom prst="line">
            <a:avLst/>
          </a:prstGeom>
          <a:noFill/>
          <a:ln w="13970">
            <a:solidFill>
              <a:srgbClr val="BCC7C9">
                <a:alpha val="82000"/>
              </a:srgbClr>
            </a:solidFill>
            <a:prstDash val="solid"/>
          </a:ln>
        </p:spPr>
      </p:sp>
      <p:sp>
        <p:nvSpPr>
          <p:cNvPr id="21" name="Shape 19"/>
          <p:cNvSpPr/>
          <p:nvPr/>
        </p:nvSpPr>
        <p:spPr>
          <a:xfrm>
            <a:off x="6020775" y="2033626"/>
            <a:ext cx="0" cy="3686861"/>
          </a:xfrm>
          <a:prstGeom prst="line">
            <a:avLst/>
          </a:prstGeom>
          <a:noFill/>
          <a:ln w="13970">
            <a:solidFill>
              <a:srgbClr val="BCC7C9">
                <a:alpha val="82000"/>
              </a:srgbClr>
            </a:solidFill>
            <a:prstDash val="solid"/>
          </a:ln>
        </p:spPr>
      </p:sp>
      <p:sp>
        <p:nvSpPr>
          <p:cNvPr id="22" name="Shape 20"/>
          <p:cNvSpPr/>
          <p:nvPr/>
        </p:nvSpPr>
        <p:spPr>
          <a:xfrm>
            <a:off x="958657" y="2033626"/>
            <a:ext cx="2784165" cy="3226003"/>
          </a:xfrm>
          <a:prstGeom prst="lineInv">
            <a:avLst/>
          </a:prstGeom>
          <a:noFill/>
          <a:ln w="13970">
            <a:solidFill>
              <a:srgbClr val="BCC7C9">
                <a:alpha val="82000"/>
              </a:srgbClr>
            </a:solidFill>
            <a:prstDash val="solid"/>
          </a:ln>
        </p:spPr>
      </p:sp>
      <p:sp>
        <p:nvSpPr>
          <p:cNvPr id="23" name="Shape 21"/>
          <p:cNvSpPr/>
          <p:nvPr/>
        </p:nvSpPr>
        <p:spPr>
          <a:xfrm>
            <a:off x="3363163" y="2302459"/>
            <a:ext cx="3480206" cy="3418027"/>
          </a:xfrm>
          <a:prstGeom prst="lineInv">
            <a:avLst/>
          </a:prstGeom>
          <a:noFill/>
          <a:ln w="13970">
            <a:solidFill>
              <a:srgbClr val="BCC7C9">
                <a:alpha val="82000"/>
              </a:srgbClr>
            </a:solidFill>
            <a:prstDash val="solid"/>
          </a:ln>
        </p:spPr>
      </p:sp>
      <p:sp>
        <p:nvSpPr>
          <p:cNvPr id="24" name="Shape 22"/>
          <p:cNvSpPr/>
          <p:nvPr/>
        </p:nvSpPr>
        <p:spPr>
          <a:xfrm>
            <a:off x="1528145" y="4337914"/>
            <a:ext cx="569488" cy="614477"/>
          </a:xfrm>
          <a:prstGeom prst="lineInv">
            <a:avLst/>
          </a:prstGeom>
          <a:noFill/>
          <a:ln w="50800">
            <a:solidFill>
              <a:srgbClr val="21C7F6"/>
            </a:solidFill>
            <a:prstDash val="solid"/>
          </a:ln>
        </p:spPr>
      </p:sp>
      <p:sp>
        <p:nvSpPr>
          <p:cNvPr id="25" name="Shape 23"/>
          <p:cNvSpPr/>
          <p:nvPr/>
        </p:nvSpPr>
        <p:spPr>
          <a:xfrm>
            <a:off x="2097634" y="4337914"/>
            <a:ext cx="1012424" cy="153619"/>
          </a:xfrm>
          <a:prstGeom prst="line">
            <a:avLst/>
          </a:prstGeom>
          <a:noFill/>
          <a:ln w="50800">
            <a:solidFill>
              <a:srgbClr val="21C7F6"/>
            </a:solidFill>
            <a:prstDash val="solid"/>
          </a:ln>
        </p:spPr>
      </p:sp>
      <p:sp>
        <p:nvSpPr>
          <p:cNvPr id="26" name="Shape 24"/>
          <p:cNvSpPr/>
          <p:nvPr/>
        </p:nvSpPr>
        <p:spPr>
          <a:xfrm>
            <a:off x="3110057" y="3838651"/>
            <a:ext cx="569488" cy="652882"/>
          </a:xfrm>
          <a:prstGeom prst="lineInv">
            <a:avLst/>
          </a:prstGeom>
          <a:noFill/>
          <a:ln w="50800">
            <a:solidFill>
              <a:srgbClr val="21C7F6"/>
            </a:solidFill>
            <a:prstDash val="solid"/>
          </a:ln>
        </p:spPr>
      </p:sp>
      <p:sp>
        <p:nvSpPr>
          <p:cNvPr id="27" name="Shape 25"/>
          <p:cNvSpPr/>
          <p:nvPr/>
        </p:nvSpPr>
        <p:spPr>
          <a:xfrm>
            <a:off x="3679546" y="3761842"/>
            <a:ext cx="885871" cy="76810"/>
          </a:xfrm>
          <a:prstGeom prst="lineInv">
            <a:avLst/>
          </a:prstGeom>
          <a:noFill/>
          <a:ln w="50800">
            <a:solidFill>
              <a:srgbClr val="21C7F6"/>
            </a:solidFill>
            <a:prstDash val="solid"/>
          </a:ln>
        </p:spPr>
      </p:sp>
      <p:sp>
        <p:nvSpPr>
          <p:cNvPr id="28" name="Shape 26"/>
          <p:cNvSpPr/>
          <p:nvPr/>
        </p:nvSpPr>
        <p:spPr>
          <a:xfrm>
            <a:off x="4565416" y="3108960"/>
            <a:ext cx="569488" cy="652882"/>
          </a:xfrm>
          <a:prstGeom prst="lineInv">
            <a:avLst/>
          </a:prstGeom>
          <a:noFill/>
          <a:ln w="50800">
            <a:solidFill>
              <a:srgbClr val="21C7F6"/>
            </a:solidFill>
            <a:prstDash val="solid"/>
          </a:ln>
        </p:spPr>
      </p:sp>
      <p:sp>
        <p:nvSpPr>
          <p:cNvPr id="29" name="Shape 27"/>
          <p:cNvSpPr/>
          <p:nvPr/>
        </p:nvSpPr>
        <p:spPr>
          <a:xfrm>
            <a:off x="5134905" y="3108960"/>
            <a:ext cx="1012424" cy="268834"/>
          </a:xfrm>
          <a:prstGeom prst="line">
            <a:avLst/>
          </a:prstGeom>
          <a:noFill/>
          <a:ln w="50800">
            <a:solidFill>
              <a:srgbClr val="21C7F6"/>
            </a:solidFill>
            <a:prstDash val="solid"/>
          </a:ln>
        </p:spPr>
      </p:sp>
      <p:sp>
        <p:nvSpPr>
          <p:cNvPr id="30" name="Shape 28"/>
          <p:cNvSpPr/>
          <p:nvPr/>
        </p:nvSpPr>
        <p:spPr>
          <a:xfrm>
            <a:off x="5641116" y="3377794"/>
            <a:ext cx="506212" cy="921715"/>
          </a:xfrm>
          <a:prstGeom prst="lineInv">
            <a:avLst/>
          </a:prstGeom>
          <a:noFill/>
          <a:ln w="50800">
            <a:solidFill>
              <a:srgbClr val="21C7F6"/>
            </a:solidFill>
            <a:prstDash val="solid"/>
          </a:ln>
        </p:spPr>
      </p:sp>
      <p:sp>
        <p:nvSpPr>
          <p:cNvPr id="31" name="Shape 29"/>
          <p:cNvSpPr/>
          <p:nvPr/>
        </p:nvSpPr>
        <p:spPr>
          <a:xfrm>
            <a:off x="4438863" y="4299509"/>
            <a:ext cx="1202253" cy="422453"/>
          </a:xfrm>
          <a:prstGeom prst="lineInv">
            <a:avLst/>
          </a:prstGeom>
          <a:noFill/>
          <a:ln w="50800">
            <a:solidFill>
              <a:srgbClr val="21C7F6"/>
            </a:solidFill>
            <a:prstDash val="solid"/>
          </a:ln>
        </p:spPr>
      </p:sp>
      <p:sp>
        <p:nvSpPr>
          <p:cNvPr id="32" name="Shape 30"/>
          <p:cNvSpPr/>
          <p:nvPr/>
        </p:nvSpPr>
        <p:spPr>
          <a:xfrm>
            <a:off x="3110057" y="4491533"/>
            <a:ext cx="1328806" cy="230429"/>
          </a:xfrm>
          <a:prstGeom prst="line">
            <a:avLst/>
          </a:prstGeom>
          <a:noFill/>
          <a:ln w="50800">
            <a:solidFill>
              <a:srgbClr val="21C7F6"/>
            </a:solidFill>
            <a:prstDash val="solid"/>
          </a:ln>
        </p:spPr>
      </p:sp>
      <p:sp>
        <p:nvSpPr>
          <p:cNvPr id="33" name="Shape 31"/>
          <p:cNvSpPr/>
          <p:nvPr/>
        </p:nvSpPr>
        <p:spPr>
          <a:xfrm>
            <a:off x="1528145" y="4491533"/>
            <a:ext cx="1581912" cy="460858"/>
          </a:xfrm>
          <a:prstGeom prst="lineInv">
            <a:avLst/>
          </a:prstGeom>
          <a:noFill/>
          <a:ln w="50800">
            <a:solidFill>
              <a:srgbClr val="21C7F6"/>
            </a:solidFill>
            <a:prstDash val="solid"/>
          </a:ln>
        </p:spPr>
      </p:sp>
      <p:sp>
        <p:nvSpPr>
          <p:cNvPr id="34" name="Shape 32"/>
          <p:cNvSpPr/>
          <p:nvPr/>
        </p:nvSpPr>
        <p:spPr>
          <a:xfrm>
            <a:off x="1955902" y="4196182"/>
            <a:ext cx="283464" cy="283464"/>
          </a:xfrm>
          <a:prstGeom prst="ellipse">
            <a:avLst/>
          </a:prstGeom>
          <a:solidFill>
            <a:srgbClr val="C64045"/>
          </a:solidFill>
          <a:ln w="16510">
            <a:solidFill>
              <a:srgbClr val="FFFFFF"/>
            </a:solidFill>
            <a:prstDash val="solid"/>
          </a:ln>
        </p:spPr>
      </p:sp>
      <p:sp>
        <p:nvSpPr>
          <p:cNvPr id="35" name="Text 33"/>
          <p:cNvSpPr/>
          <p:nvPr/>
        </p:nvSpPr>
        <p:spPr>
          <a:xfrm>
            <a:off x="1955902" y="4196182"/>
            <a:ext cx="283464" cy="28346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36" name="Shape 34"/>
          <p:cNvSpPr/>
          <p:nvPr/>
        </p:nvSpPr>
        <p:spPr>
          <a:xfrm>
            <a:off x="3537814" y="3696919"/>
            <a:ext cx="283464" cy="283464"/>
          </a:xfrm>
          <a:prstGeom prst="ellipse">
            <a:avLst/>
          </a:prstGeom>
          <a:solidFill>
            <a:srgbClr val="C64045"/>
          </a:solidFill>
          <a:ln w="16510">
            <a:solidFill>
              <a:srgbClr val="FFFFFF"/>
            </a:solidFill>
            <a:prstDash val="solid"/>
          </a:ln>
        </p:spPr>
      </p:sp>
      <p:sp>
        <p:nvSpPr>
          <p:cNvPr id="37" name="Text 35"/>
          <p:cNvSpPr/>
          <p:nvPr/>
        </p:nvSpPr>
        <p:spPr>
          <a:xfrm>
            <a:off x="3537814" y="3696919"/>
            <a:ext cx="283464" cy="28346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38" name="Shape 36"/>
          <p:cNvSpPr/>
          <p:nvPr/>
        </p:nvSpPr>
        <p:spPr>
          <a:xfrm>
            <a:off x="4993173" y="2967228"/>
            <a:ext cx="283464" cy="283464"/>
          </a:xfrm>
          <a:prstGeom prst="ellipse">
            <a:avLst/>
          </a:prstGeom>
          <a:solidFill>
            <a:srgbClr val="C64045"/>
          </a:solidFill>
          <a:ln w="16510">
            <a:solidFill>
              <a:srgbClr val="FFFFFF"/>
            </a:solidFill>
            <a:prstDash val="solid"/>
          </a:ln>
        </p:spPr>
      </p:sp>
      <p:sp>
        <p:nvSpPr>
          <p:cNvPr id="39" name="Text 37"/>
          <p:cNvSpPr/>
          <p:nvPr/>
        </p:nvSpPr>
        <p:spPr>
          <a:xfrm>
            <a:off x="4993173" y="2967228"/>
            <a:ext cx="283464" cy="28346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40" name="Shape 38"/>
          <p:cNvSpPr/>
          <p:nvPr/>
        </p:nvSpPr>
        <p:spPr>
          <a:xfrm>
            <a:off x="6005596" y="3236062"/>
            <a:ext cx="283464" cy="283464"/>
          </a:xfrm>
          <a:prstGeom prst="ellipse">
            <a:avLst/>
          </a:prstGeom>
          <a:solidFill>
            <a:srgbClr val="C64045"/>
          </a:solidFill>
          <a:ln w="16510">
            <a:solidFill>
              <a:srgbClr val="FFFFFF"/>
            </a:solidFill>
            <a:prstDash val="solid"/>
          </a:ln>
        </p:spPr>
      </p:sp>
      <p:sp>
        <p:nvSpPr>
          <p:cNvPr id="41" name="Text 39"/>
          <p:cNvSpPr/>
          <p:nvPr/>
        </p:nvSpPr>
        <p:spPr>
          <a:xfrm>
            <a:off x="6005596" y="3236062"/>
            <a:ext cx="283464" cy="28346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42" name="Shape 40"/>
          <p:cNvSpPr/>
          <p:nvPr/>
        </p:nvSpPr>
        <p:spPr>
          <a:xfrm>
            <a:off x="5499384" y="4157777"/>
            <a:ext cx="283464" cy="283464"/>
          </a:xfrm>
          <a:prstGeom prst="ellipse">
            <a:avLst/>
          </a:prstGeom>
          <a:solidFill>
            <a:srgbClr val="C64045"/>
          </a:solidFill>
          <a:ln w="16510">
            <a:solidFill>
              <a:srgbClr val="FFFFFF"/>
            </a:solidFill>
            <a:prstDash val="solid"/>
          </a:ln>
        </p:spPr>
      </p:sp>
      <p:sp>
        <p:nvSpPr>
          <p:cNvPr id="43" name="Text 41"/>
          <p:cNvSpPr/>
          <p:nvPr/>
        </p:nvSpPr>
        <p:spPr>
          <a:xfrm>
            <a:off x="5499384" y="4157777"/>
            <a:ext cx="283464" cy="28346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44" name="Shape 42"/>
          <p:cNvSpPr/>
          <p:nvPr/>
        </p:nvSpPr>
        <p:spPr>
          <a:xfrm>
            <a:off x="4297131" y="4580230"/>
            <a:ext cx="283464" cy="283464"/>
          </a:xfrm>
          <a:prstGeom prst="ellipse">
            <a:avLst/>
          </a:prstGeom>
          <a:solidFill>
            <a:srgbClr val="C64045"/>
          </a:solidFill>
          <a:ln w="16510">
            <a:solidFill>
              <a:srgbClr val="FFFFFF"/>
            </a:solidFill>
            <a:prstDash val="solid"/>
          </a:ln>
        </p:spPr>
      </p:sp>
      <p:sp>
        <p:nvSpPr>
          <p:cNvPr id="45" name="Text 43"/>
          <p:cNvSpPr/>
          <p:nvPr/>
        </p:nvSpPr>
        <p:spPr>
          <a:xfrm>
            <a:off x="4297131" y="4580230"/>
            <a:ext cx="283464" cy="28346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alibri" pitchFamily="34" charset="0"/>
                <a:ea typeface="Calibri" pitchFamily="34" charset="-122"/>
                <a:cs typeface="Calibri" pitchFamily="34" charset="-120"/>
              </a:rPr>
              <a:t>6</a:t>
            </a:r>
            <a:endParaRPr lang="en-US" sz="850" dirty="0"/>
          </a:p>
        </p:txBody>
      </p:sp>
      <p:sp>
        <p:nvSpPr>
          <p:cNvPr id="46" name="Shape 44"/>
          <p:cNvSpPr/>
          <p:nvPr/>
        </p:nvSpPr>
        <p:spPr>
          <a:xfrm>
            <a:off x="1354409" y="4778654"/>
            <a:ext cx="347472" cy="347472"/>
          </a:xfrm>
          <a:prstGeom prst="ellipse">
            <a:avLst/>
          </a:prstGeom>
          <a:solidFill>
            <a:srgbClr val="2F7D5B"/>
          </a:solidFill>
          <a:ln w="19050">
            <a:solidFill>
              <a:srgbClr val="FFFFFF"/>
            </a:solidFill>
            <a:prstDash val="solid"/>
          </a:ln>
        </p:spPr>
      </p:sp>
      <p:sp>
        <p:nvSpPr>
          <p:cNvPr id="47" name="Text 45"/>
          <p:cNvSpPr/>
          <p:nvPr/>
        </p:nvSpPr>
        <p:spPr>
          <a:xfrm>
            <a:off x="1354409" y="4778654"/>
            <a:ext cx="347472" cy="34747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48" name="Shape 46"/>
          <p:cNvSpPr/>
          <p:nvPr/>
        </p:nvSpPr>
        <p:spPr>
          <a:xfrm>
            <a:off x="996696" y="2103120"/>
            <a:ext cx="2148840" cy="292608"/>
          </a:xfrm>
          <a:prstGeom prst="roundRect">
            <a:avLst>
              <a:gd name="adj" fmla="val 21875"/>
            </a:avLst>
          </a:prstGeom>
          <a:solidFill>
            <a:srgbClr val="FFFFFF"/>
          </a:solidFill>
          <a:ln w="12700">
            <a:solidFill>
              <a:srgbClr val="FFFFFF"/>
            </a:solidFill>
            <a:prstDash val="solid"/>
          </a:ln>
        </p:spPr>
      </p:sp>
      <p:sp>
        <p:nvSpPr>
          <p:cNvPr id="49" name="Text 47"/>
          <p:cNvSpPr/>
          <p:nvPr/>
        </p:nvSpPr>
        <p:spPr>
          <a:xfrm>
            <a:off x="1069848" y="2112264"/>
            <a:ext cx="2002536" cy="265176"/>
          </a:xfrm>
          <a:prstGeom prst="rect">
            <a:avLst/>
          </a:prstGeom>
          <a:noFill/>
          <a:ln/>
        </p:spPr>
        <p:txBody>
          <a:bodyPr wrap="square" lIns="0" tIns="0" rIns="0" bIns="0" rtlCol="0" anchor="ctr">
            <a:normAutofit/>
          </a:bodyPr>
          <a:lstStyle/>
          <a:p>
            <a:pPr algn="ctr" indent="0" marL="0">
              <a:buNone/>
            </a:pPr>
            <a:r>
              <a:rPr lang="en-US" sz="1050" b="1" dirty="0">
                <a:solidFill>
                  <a:srgbClr val="00527F"/>
                </a:solidFill>
                <a:latin typeface="Calibri" pitchFamily="34" charset="0"/>
                <a:ea typeface="Calibri" pitchFamily="34" charset="-122"/>
                <a:cs typeface="Calibri" pitchFamily="34" charset="-120"/>
              </a:rPr>
              <a:t>ILLUSTRATIVE ROUTE OUTPUT</a:t>
            </a:r>
            <a:endParaRPr lang="en-US" sz="1050" dirty="0"/>
          </a:p>
        </p:txBody>
      </p:sp>
      <p:sp>
        <p:nvSpPr>
          <p:cNvPr id="50" name="Text 48"/>
          <p:cNvSpPr/>
          <p:nvPr/>
        </p:nvSpPr>
        <p:spPr>
          <a:xfrm>
            <a:off x="5861304" y="5486400"/>
            <a:ext cx="1078992" cy="182880"/>
          </a:xfrm>
          <a:prstGeom prst="rect">
            <a:avLst/>
          </a:prstGeom>
          <a:noFill/>
          <a:ln/>
        </p:spPr>
        <p:txBody>
          <a:bodyPr wrap="square" lIns="0" tIns="0" rIns="0" bIns="0" rtlCol="0" anchor="ctr">
            <a:normAutofit/>
          </a:bodyPr>
          <a:lstStyle/>
          <a:p>
            <a:pPr algn="r" indent="0" marL="0">
              <a:buNone/>
            </a:pPr>
            <a:r>
              <a:rPr lang="en-US" sz="850" b="1" dirty="0">
                <a:solidFill>
                  <a:srgbClr val="5F6B70"/>
                </a:solidFill>
                <a:latin typeface="Calibri" pitchFamily="34" charset="0"/>
                <a:ea typeface="Calibri" pitchFamily="34" charset="-122"/>
                <a:cs typeface="Calibri" pitchFamily="34" charset="-120"/>
              </a:rPr>
              <a:t>No live map tiles</a:t>
            </a:r>
            <a:endParaRPr lang="en-US" sz="850" dirty="0"/>
          </a:p>
        </p:txBody>
      </p:sp>
      <p:sp>
        <p:nvSpPr>
          <p:cNvPr id="51" name="Shape 49"/>
          <p:cNvSpPr/>
          <p:nvPr/>
        </p:nvSpPr>
        <p:spPr>
          <a:xfrm>
            <a:off x="7708392" y="1737360"/>
            <a:ext cx="3858768" cy="4416552"/>
          </a:xfrm>
          <a:prstGeom prst="roundRect">
            <a:avLst>
              <a:gd name="adj" fmla="val 1896"/>
            </a:avLst>
          </a:prstGeom>
          <a:solidFill>
            <a:srgbClr val="FFFFFF"/>
          </a:solidFill>
          <a:ln w="12700">
            <a:solidFill>
              <a:srgbClr val="D7DDDC"/>
            </a:solidFill>
            <a:prstDash val="solid"/>
          </a:ln>
          <a:effectLst>
            <a:outerShdw sx="100000" sy="100000" kx="0" ky="0" algn="bl" rotWithShape="0" blurRad="19050" dist="50800" dir="2700000">
              <a:srgbClr val="000000">
                <a:alpha val="10000"/>
              </a:srgbClr>
            </a:outerShdw>
          </a:effectLst>
        </p:spPr>
      </p:sp>
      <p:sp>
        <p:nvSpPr>
          <p:cNvPr id="52" name="Text 50"/>
          <p:cNvSpPr/>
          <p:nvPr/>
        </p:nvSpPr>
        <p:spPr>
          <a:xfrm>
            <a:off x="8010144" y="2011680"/>
            <a:ext cx="2514600" cy="292608"/>
          </a:xfrm>
          <a:prstGeom prst="rect">
            <a:avLst/>
          </a:prstGeom>
          <a:noFill/>
          <a:ln/>
        </p:spPr>
        <p:txBody>
          <a:bodyPr wrap="square" lIns="0" tIns="0" rIns="0" bIns="0" rtlCol="0" anchor="ctr">
            <a:normAutofit/>
          </a:bodyPr>
          <a:lstStyle/>
          <a:p>
            <a:pPr indent="0" marL="0">
              <a:buNone/>
            </a:pPr>
            <a:r>
              <a:rPr lang="en-US" sz="1200" b="1" spc="100" kern="0" dirty="0">
                <a:solidFill>
                  <a:srgbClr val="006DAE"/>
                </a:solidFill>
                <a:latin typeface="Calibri" pitchFamily="34" charset="0"/>
                <a:ea typeface="Calibri" pitchFamily="34" charset="-122"/>
                <a:cs typeface="Calibri" pitchFamily="34" charset="-120"/>
              </a:rPr>
              <a:t>HARD CONSTRAINTS</a:t>
            </a:r>
            <a:endParaRPr lang="en-US" sz="1200" dirty="0"/>
          </a:p>
        </p:txBody>
      </p:sp>
      <p:sp>
        <p:nvSpPr>
          <p:cNvPr id="53" name="Shape 51"/>
          <p:cNvSpPr/>
          <p:nvPr/>
        </p:nvSpPr>
        <p:spPr>
          <a:xfrm>
            <a:off x="8019288" y="2578608"/>
            <a:ext cx="1298448" cy="448056"/>
          </a:xfrm>
          <a:prstGeom prst="roundRect">
            <a:avLst>
              <a:gd name="adj" fmla="val 10204"/>
            </a:avLst>
          </a:prstGeom>
          <a:solidFill>
            <a:srgbClr val="E7F2F8"/>
          </a:solidFill>
          <a:ln w="12700">
            <a:solidFill>
              <a:srgbClr val="B9D8E8"/>
            </a:solidFill>
            <a:prstDash val="solid"/>
          </a:ln>
        </p:spPr>
      </p:sp>
      <p:sp>
        <p:nvSpPr>
          <p:cNvPr id="54" name="Text 52"/>
          <p:cNvSpPr/>
          <p:nvPr/>
        </p:nvSpPr>
        <p:spPr>
          <a:xfrm>
            <a:off x="8074152" y="2615184"/>
            <a:ext cx="1188720" cy="356616"/>
          </a:xfrm>
          <a:prstGeom prst="rect">
            <a:avLst/>
          </a:prstGeom>
          <a:noFill/>
          <a:ln/>
        </p:spPr>
        <p:txBody>
          <a:bodyPr wrap="square" lIns="0" tIns="0" rIns="0" bIns="0" rtlCol="0" anchor="ctr">
            <a:normAutofit/>
          </a:bodyPr>
          <a:lstStyle/>
          <a:p>
            <a:pPr algn="ctr" indent="0" marL="0">
              <a:buNone/>
            </a:pPr>
            <a:r>
              <a:rPr lang="en-US" sz="1400" b="1" dirty="0">
                <a:solidFill>
                  <a:srgbClr val="00527F"/>
                </a:solidFill>
                <a:latin typeface="Calibri" pitchFamily="34" charset="0"/>
                <a:ea typeface="Calibri" pitchFamily="34" charset="-122"/>
                <a:cs typeface="Calibri" pitchFamily="34" charset="-120"/>
              </a:rPr>
              <a:t>9,000 kg</a:t>
            </a:r>
            <a:endParaRPr lang="en-US" sz="1400" dirty="0"/>
          </a:p>
        </p:txBody>
      </p:sp>
      <p:sp>
        <p:nvSpPr>
          <p:cNvPr id="55" name="Text 53"/>
          <p:cNvSpPr/>
          <p:nvPr/>
        </p:nvSpPr>
        <p:spPr>
          <a:xfrm>
            <a:off x="9564624" y="2587752"/>
            <a:ext cx="1417320" cy="402336"/>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route mass</a:t>
            </a:r>
            <a:endParaRPr lang="en-US" sz="1300" dirty="0"/>
          </a:p>
        </p:txBody>
      </p:sp>
      <p:sp>
        <p:nvSpPr>
          <p:cNvPr id="56" name="Shape 54"/>
          <p:cNvSpPr/>
          <p:nvPr/>
        </p:nvSpPr>
        <p:spPr>
          <a:xfrm>
            <a:off x="8019288" y="3182112"/>
            <a:ext cx="1298448" cy="448056"/>
          </a:xfrm>
          <a:prstGeom prst="roundRect">
            <a:avLst>
              <a:gd name="adj" fmla="val 10204"/>
            </a:avLst>
          </a:prstGeom>
          <a:solidFill>
            <a:srgbClr val="E7F2F8"/>
          </a:solidFill>
          <a:ln w="12700">
            <a:solidFill>
              <a:srgbClr val="B9D8E8"/>
            </a:solidFill>
            <a:prstDash val="solid"/>
          </a:ln>
        </p:spPr>
      </p:sp>
      <p:sp>
        <p:nvSpPr>
          <p:cNvPr id="57" name="Text 55"/>
          <p:cNvSpPr/>
          <p:nvPr/>
        </p:nvSpPr>
        <p:spPr>
          <a:xfrm>
            <a:off x="8074152" y="3218688"/>
            <a:ext cx="1188720" cy="356616"/>
          </a:xfrm>
          <a:prstGeom prst="rect">
            <a:avLst/>
          </a:prstGeom>
          <a:noFill/>
          <a:ln/>
        </p:spPr>
        <p:txBody>
          <a:bodyPr wrap="square" lIns="0" tIns="0" rIns="0" bIns="0" rtlCol="0" anchor="ctr">
            <a:normAutofit/>
          </a:bodyPr>
          <a:lstStyle/>
          <a:p>
            <a:pPr algn="ctr" indent="0" marL="0">
              <a:buNone/>
            </a:pPr>
            <a:r>
              <a:rPr lang="en-US" sz="1400" b="1" dirty="0">
                <a:solidFill>
                  <a:srgbClr val="00527F"/>
                </a:solidFill>
                <a:latin typeface="Calibri" pitchFamily="34" charset="0"/>
                <a:ea typeface="Calibri" pitchFamily="34" charset="-122"/>
                <a:cs typeface="Calibri" pitchFamily="34" charset="-120"/>
              </a:rPr>
              <a:t>22 m³</a:t>
            </a:r>
            <a:endParaRPr lang="en-US" sz="1400" dirty="0"/>
          </a:p>
        </p:txBody>
      </p:sp>
      <p:sp>
        <p:nvSpPr>
          <p:cNvPr id="58" name="Text 56"/>
          <p:cNvSpPr/>
          <p:nvPr/>
        </p:nvSpPr>
        <p:spPr>
          <a:xfrm>
            <a:off x="9564624" y="3191256"/>
            <a:ext cx="1417320" cy="402336"/>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compacted volume</a:t>
            </a:r>
            <a:endParaRPr lang="en-US" sz="1300" dirty="0"/>
          </a:p>
        </p:txBody>
      </p:sp>
      <p:sp>
        <p:nvSpPr>
          <p:cNvPr id="59" name="Shape 57"/>
          <p:cNvSpPr/>
          <p:nvPr/>
        </p:nvSpPr>
        <p:spPr>
          <a:xfrm>
            <a:off x="8019288" y="3785616"/>
            <a:ext cx="1298448" cy="448056"/>
          </a:xfrm>
          <a:prstGeom prst="roundRect">
            <a:avLst>
              <a:gd name="adj" fmla="val 10204"/>
            </a:avLst>
          </a:prstGeom>
          <a:solidFill>
            <a:srgbClr val="E7F2F8"/>
          </a:solidFill>
          <a:ln w="12700">
            <a:solidFill>
              <a:srgbClr val="B9D8E8"/>
            </a:solidFill>
            <a:prstDash val="solid"/>
          </a:ln>
        </p:spPr>
      </p:sp>
      <p:sp>
        <p:nvSpPr>
          <p:cNvPr id="60" name="Text 58"/>
          <p:cNvSpPr/>
          <p:nvPr/>
        </p:nvSpPr>
        <p:spPr>
          <a:xfrm>
            <a:off x="8074152" y="3822192"/>
            <a:ext cx="1188720" cy="356616"/>
          </a:xfrm>
          <a:prstGeom prst="rect">
            <a:avLst/>
          </a:prstGeom>
          <a:noFill/>
          <a:ln/>
        </p:spPr>
        <p:txBody>
          <a:bodyPr wrap="square" lIns="0" tIns="0" rIns="0" bIns="0" rtlCol="0" anchor="ctr">
            <a:normAutofit/>
          </a:bodyPr>
          <a:lstStyle/>
          <a:p>
            <a:pPr algn="ctr" indent="0" marL="0">
              <a:buNone/>
            </a:pPr>
            <a:r>
              <a:rPr lang="en-US" sz="1400" b="1" dirty="0">
                <a:solidFill>
                  <a:srgbClr val="00527F"/>
                </a:solidFill>
                <a:latin typeface="Calibri" pitchFamily="34" charset="0"/>
                <a:ea typeface="Calibri" pitchFamily="34" charset="-122"/>
                <a:cs typeface="Calibri" pitchFamily="34" charset="-120"/>
              </a:rPr>
              <a:t>2 / day</a:t>
            </a:r>
            <a:endParaRPr lang="en-US" sz="1400" dirty="0"/>
          </a:p>
        </p:txBody>
      </p:sp>
      <p:sp>
        <p:nvSpPr>
          <p:cNvPr id="61" name="Text 59"/>
          <p:cNvSpPr/>
          <p:nvPr/>
        </p:nvSpPr>
        <p:spPr>
          <a:xfrm>
            <a:off x="9564624" y="3794760"/>
            <a:ext cx="1417320" cy="402336"/>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shared trip limit</a:t>
            </a:r>
            <a:endParaRPr lang="en-US" sz="1300" dirty="0"/>
          </a:p>
        </p:txBody>
      </p:sp>
      <p:sp>
        <p:nvSpPr>
          <p:cNvPr id="62" name="Shape 60"/>
          <p:cNvSpPr/>
          <p:nvPr/>
        </p:nvSpPr>
        <p:spPr>
          <a:xfrm>
            <a:off x="8019288" y="4389120"/>
            <a:ext cx="1298448" cy="448056"/>
          </a:xfrm>
          <a:prstGeom prst="roundRect">
            <a:avLst>
              <a:gd name="adj" fmla="val 10204"/>
            </a:avLst>
          </a:prstGeom>
          <a:solidFill>
            <a:srgbClr val="E7F2F8"/>
          </a:solidFill>
          <a:ln w="12700">
            <a:solidFill>
              <a:srgbClr val="B9D8E8"/>
            </a:solidFill>
            <a:prstDash val="solid"/>
          </a:ln>
        </p:spPr>
      </p:sp>
      <p:sp>
        <p:nvSpPr>
          <p:cNvPr id="63" name="Text 61"/>
          <p:cNvSpPr/>
          <p:nvPr/>
        </p:nvSpPr>
        <p:spPr>
          <a:xfrm>
            <a:off x="8074152" y="4425696"/>
            <a:ext cx="1188720" cy="356616"/>
          </a:xfrm>
          <a:prstGeom prst="rect">
            <a:avLst/>
          </a:prstGeom>
          <a:noFill/>
          <a:ln/>
        </p:spPr>
        <p:txBody>
          <a:bodyPr wrap="square" lIns="0" tIns="0" rIns="0" bIns="0" rtlCol="0" anchor="ctr">
            <a:normAutofit/>
          </a:bodyPr>
          <a:lstStyle/>
          <a:p>
            <a:pPr algn="ctr" indent="0" marL="0">
              <a:buNone/>
            </a:pPr>
            <a:r>
              <a:rPr lang="en-US" sz="1400" b="1" dirty="0">
                <a:solidFill>
                  <a:srgbClr val="00527F"/>
                </a:solidFill>
                <a:latin typeface="Calibri" pitchFamily="34" charset="0"/>
                <a:ea typeface="Calibri" pitchFamily="34" charset="-122"/>
                <a:cs typeface="Calibri" pitchFamily="34" charset="-120"/>
              </a:rPr>
              <a:t>480 min</a:t>
            </a:r>
            <a:endParaRPr lang="en-US" sz="1400" dirty="0"/>
          </a:p>
        </p:txBody>
      </p:sp>
      <p:sp>
        <p:nvSpPr>
          <p:cNvPr id="64" name="Text 62"/>
          <p:cNvSpPr/>
          <p:nvPr/>
        </p:nvSpPr>
        <p:spPr>
          <a:xfrm>
            <a:off x="9564624" y="4398264"/>
            <a:ext cx="1417320" cy="402336"/>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route duration</a:t>
            </a:r>
            <a:endParaRPr lang="en-US" sz="1300" dirty="0"/>
          </a:p>
        </p:txBody>
      </p:sp>
      <p:sp>
        <p:nvSpPr>
          <p:cNvPr id="65" name="Shape 63"/>
          <p:cNvSpPr/>
          <p:nvPr/>
        </p:nvSpPr>
        <p:spPr>
          <a:xfrm>
            <a:off x="8019288" y="4992624"/>
            <a:ext cx="1298448" cy="448056"/>
          </a:xfrm>
          <a:prstGeom prst="roundRect">
            <a:avLst>
              <a:gd name="adj" fmla="val 10204"/>
            </a:avLst>
          </a:prstGeom>
          <a:solidFill>
            <a:srgbClr val="E3F1F1"/>
          </a:solidFill>
          <a:ln w="12700">
            <a:solidFill>
              <a:srgbClr val="287F83"/>
            </a:solidFill>
            <a:prstDash val="solid"/>
          </a:ln>
        </p:spPr>
      </p:sp>
      <p:sp>
        <p:nvSpPr>
          <p:cNvPr id="66" name="Text 64"/>
          <p:cNvSpPr/>
          <p:nvPr/>
        </p:nvSpPr>
        <p:spPr>
          <a:xfrm>
            <a:off x="8074152" y="5029200"/>
            <a:ext cx="1188720" cy="356616"/>
          </a:xfrm>
          <a:prstGeom prst="rect">
            <a:avLst/>
          </a:prstGeom>
          <a:noFill/>
          <a:ln/>
        </p:spPr>
        <p:txBody>
          <a:bodyPr wrap="square" lIns="0" tIns="0" rIns="0" bIns="0" rtlCol="0" anchor="ctr">
            <a:normAutofit/>
          </a:bodyPr>
          <a:lstStyle/>
          <a:p>
            <a:pPr algn="ctr" indent="0" marL="0">
              <a:buNone/>
            </a:pPr>
            <a:r>
              <a:rPr lang="en-US" sz="1400" b="1" dirty="0">
                <a:solidFill>
                  <a:srgbClr val="287F83"/>
                </a:solidFill>
                <a:latin typeface="Calibri" pitchFamily="34" charset="0"/>
                <a:ea typeface="Calibri" pitchFamily="34" charset="-122"/>
                <a:cs typeface="Calibri" pitchFamily="34" charset="-120"/>
              </a:rPr>
              <a:t>2 streams</a:t>
            </a:r>
            <a:endParaRPr lang="en-US" sz="1400" dirty="0"/>
          </a:p>
        </p:txBody>
      </p:sp>
      <p:sp>
        <p:nvSpPr>
          <p:cNvPr id="67" name="Text 65"/>
          <p:cNvSpPr/>
          <p:nvPr/>
        </p:nvSpPr>
        <p:spPr>
          <a:xfrm>
            <a:off x="9564624" y="5001768"/>
            <a:ext cx="1417320" cy="402336"/>
          </a:xfrm>
          <a:prstGeom prst="rect">
            <a:avLst/>
          </a:prstGeom>
          <a:noFill/>
          <a:ln/>
        </p:spPr>
        <p:txBody>
          <a:bodyPr wrap="square" lIns="0" tIns="0" rIns="0" bIns="0" rtlCol="0" anchor="ctr">
            <a:normAutofit/>
          </a:bodyPr>
          <a:lstStyle/>
          <a:p>
            <a:pPr indent="0" marL="0">
              <a:buNone/>
            </a:pPr>
            <a:r>
              <a:rPr lang="en-US" sz="1300" dirty="0">
                <a:solidFill>
                  <a:srgbClr val="172126"/>
                </a:solidFill>
                <a:latin typeface="Calibri" pitchFamily="34" charset="0"/>
                <a:ea typeface="Calibri" pitchFamily="34" charset="-122"/>
                <a:cs typeface="Calibri" pitchFamily="34" charset="-120"/>
              </a:rPr>
              <a:t>never mixed</a:t>
            </a:r>
            <a:endParaRPr lang="en-US" sz="1300" dirty="0"/>
          </a:p>
        </p:txBody>
      </p:sp>
      <p:sp>
        <p:nvSpPr>
          <p:cNvPr id="68" name="Text 66"/>
          <p:cNvSpPr/>
          <p:nvPr/>
        </p:nvSpPr>
        <p:spPr>
          <a:xfrm>
            <a:off x="8028432" y="5586984"/>
            <a:ext cx="3108960" cy="438912"/>
          </a:xfrm>
          <a:prstGeom prst="rect">
            <a:avLst/>
          </a:prstGeom>
          <a:noFill/>
          <a:ln/>
        </p:spPr>
        <p:txBody>
          <a:bodyPr wrap="square" lIns="0" tIns="0" rIns="0" bIns="0" rtlCol="0" anchor="t">
            <a:normAutofit/>
          </a:bodyPr>
          <a:lstStyle/>
          <a:p>
            <a:pPr indent="0" marL="0">
              <a:buNone/>
            </a:pPr>
            <a:r>
              <a:rPr lang="en-US" sz="1150" b="1" dirty="0">
                <a:solidFill>
                  <a:srgbClr val="5F6B70"/>
                </a:solidFill>
                <a:latin typeface="Calibri" pitchFamily="34" charset="0"/>
                <a:ea typeface="Calibri" pitchFamily="34" charset="-122"/>
                <a:cs typeface="Calibri" pitchFamily="34" charset="-120"/>
              </a:rPr>
              <a:t>Required stops must be served. Optional stops receive skip penalties equal to their avoided-loss value.</a:t>
            </a:r>
            <a:endParaRPr lang="en-US" sz="1150" dirty="0"/>
          </a:p>
        </p:txBody>
      </p:sp>
      <p:sp>
        <p:nvSpPr>
          <p:cNvPr id="69" name="Text 67"/>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OPERATOR CONTROL</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The engine proposes; the operator authorizes</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Every decision is immutable, auditable and explicitly labelled as collection, inspection or no collection.</a:t>
            </a:r>
            <a:endParaRPr lang="en-US" sz="1400" dirty="0"/>
          </a:p>
        </p:txBody>
      </p:sp>
      <p:sp>
        <p:nvSpPr>
          <p:cNvPr id="5" name="Shape 3"/>
          <p:cNvSpPr/>
          <p:nvPr/>
        </p:nvSpPr>
        <p:spPr>
          <a:xfrm>
            <a:off x="621792" y="1938528"/>
            <a:ext cx="2487168" cy="2148840"/>
          </a:xfrm>
          <a:prstGeom prst="roundRect">
            <a:avLst>
              <a:gd name="adj" fmla="val 3404"/>
            </a:avLst>
          </a:prstGeom>
          <a:solidFill>
            <a:srgbClr val="E7F2F8"/>
          </a:solidFill>
          <a:ln w="12700">
            <a:solidFill>
              <a:srgbClr val="006DAE"/>
            </a:solidFill>
            <a:prstDash val="solid"/>
          </a:ln>
        </p:spPr>
      </p:sp>
      <p:sp>
        <p:nvSpPr>
          <p:cNvPr id="6" name="Shape 4"/>
          <p:cNvSpPr/>
          <p:nvPr/>
        </p:nvSpPr>
        <p:spPr>
          <a:xfrm>
            <a:off x="822960" y="2157984"/>
            <a:ext cx="420624" cy="420624"/>
          </a:xfrm>
          <a:prstGeom prst="ellipse">
            <a:avLst/>
          </a:prstGeom>
          <a:solidFill>
            <a:srgbClr val="006DAE"/>
          </a:solidFill>
          <a:ln w="12700">
            <a:solidFill>
              <a:srgbClr val="006DAE"/>
            </a:solidFill>
            <a:prstDash val="solid"/>
          </a:ln>
        </p:spPr>
      </p:sp>
      <p:sp>
        <p:nvSpPr>
          <p:cNvPr id="7" name="Text 5"/>
          <p:cNvSpPr/>
          <p:nvPr/>
        </p:nvSpPr>
        <p:spPr>
          <a:xfrm>
            <a:off x="822960" y="2162556"/>
            <a:ext cx="420624" cy="41148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99032" y="2157984"/>
            <a:ext cx="1389888" cy="310896"/>
          </a:xfrm>
          <a:prstGeom prst="rect">
            <a:avLst/>
          </a:prstGeom>
          <a:noFill/>
          <a:ln/>
        </p:spPr>
        <p:txBody>
          <a:bodyPr wrap="square" lIns="0" tIns="0" rIns="0" bIns="0" rtlCol="0" anchor="ctr">
            <a:normAutofit/>
          </a:bodyPr>
          <a:lstStyle/>
          <a:p>
            <a:pPr indent="0" marL="0">
              <a:buNone/>
            </a:pPr>
            <a:r>
              <a:rPr lang="en-US" sz="1400" b="1" dirty="0">
                <a:solidFill>
                  <a:srgbClr val="006DAE"/>
                </a:solidFill>
                <a:latin typeface="Calibri" pitchFamily="34" charset="0"/>
                <a:ea typeface="Calibri" pitchFamily="34" charset="-122"/>
                <a:cs typeface="Calibri" pitchFamily="34" charset="-120"/>
              </a:rPr>
              <a:t>DRAFT</a:t>
            </a:r>
            <a:endParaRPr lang="en-US" sz="1400" dirty="0"/>
          </a:p>
        </p:txBody>
      </p:sp>
      <p:sp>
        <p:nvSpPr>
          <p:cNvPr id="9" name="Text 7"/>
          <p:cNvSpPr/>
          <p:nvPr/>
        </p:nvSpPr>
        <p:spPr>
          <a:xfrm>
            <a:off x="850392" y="2779776"/>
            <a:ext cx="1965960" cy="804672"/>
          </a:xfrm>
          <a:prstGeom prst="rect">
            <a:avLst/>
          </a:prstGeom>
          <a:noFill/>
          <a:ln/>
        </p:spPr>
        <p:txBody>
          <a:bodyPr wrap="square" lIns="0" tIns="0" rIns="0" bIns="0" rtlCol="0" anchor="t">
            <a:normAutofit/>
          </a:bodyPr>
          <a:lstStyle/>
          <a:p>
            <a:pPr algn="l" indent="0" marL="0">
              <a:buNone/>
            </a:pPr>
            <a:r>
              <a:rPr lang="en-US" sz="1330" dirty="0">
                <a:solidFill>
                  <a:srgbClr val="172126"/>
                </a:solidFill>
                <a:latin typeface="Calibri" pitchFamily="34" charset="0"/>
                <a:ea typeface="Calibri" pitchFamily="34" charset="-122"/>
                <a:cs typeface="Calibri" pitchFamily="34" charset="-120"/>
              </a:rPr>
              <a:t>Snapshot, source events, assumptions, selected and deferred bins</a:t>
            </a:r>
            <a:endParaRPr lang="en-US" sz="1330" dirty="0"/>
          </a:p>
        </p:txBody>
      </p:sp>
      <p:sp>
        <p:nvSpPr>
          <p:cNvPr id="10" name="Shape 8"/>
          <p:cNvSpPr/>
          <p:nvPr/>
        </p:nvSpPr>
        <p:spPr>
          <a:xfrm>
            <a:off x="3145536" y="2999232"/>
            <a:ext cx="274320" cy="0"/>
          </a:xfrm>
          <a:prstGeom prst="line">
            <a:avLst/>
          </a:prstGeom>
          <a:noFill/>
          <a:ln w="25400">
            <a:solidFill>
              <a:srgbClr val="AAB5B4"/>
            </a:solidFill>
            <a:prstDash val="solid"/>
            <a:tailEnd type="triangle"/>
          </a:ln>
        </p:spPr>
      </p:sp>
      <p:sp>
        <p:nvSpPr>
          <p:cNvPr id="11" name="Shape 9"/>
          <p:cNvSpPr/>
          <p:nvPr/>
        </p:nvSpPr>
        <p:spPr>
          <a:xfrm>
            <a:off x="3483864" y="1938528"/>
            <a:ext cx="2487168" cy="2148840"/>
          </a:xfrm>
          <a:prstGeom prst="roundRect">
            <a:avLst>
              <a:gd name="adj" fmla="val 3404"/>
            </a:avLst>
          </a:prstGeom>
          <a:solidFill>
            <a:srgbClr val="FFF3DA"/>
          </a:solidFill>
          <a:ln w="12700">
            <a:solidFill>
              <a:srgbClr val="D99A24"/>
            </a:solidFill>
            <a:prstDash val="solid"/>
          </a:ln>
        </p:spPr>
      </p:sp>
      <p:sp>
        <p:nvSpPr>
          <p:cNvPr id="12" name="Shape 10"/>
          <p:cNvSpPr/>
          <p:nvPr/>
        </p:nvSpPr>
        <p:spPr>
          <a:xfrm>
            <a:off x="3685032" y="2157984"/>
            <a:ext cx="420624" cy="420624"/>
          </a:xfrm>
          <a:prstGeom prst="ellipse">
            <a:avLst/>
          </a:prstGeom>
          <a:solidFill>
            <a:srgbClr val="D99A24"/>
          </a:solidFill>
          <a:ln w="12700">
            <a:solidFill>
              <a:srgbClr val="D99A24"/>
            </a:solidFill>
            <a:prstDash val="solid"/>
          </a:ln>
        </p:spPr>
      </p:sp>
      <p:sp>
        <p:nvSpPr>
          <p:cNvPr id="13" name="Text 11"/>
          <p:cNvSpPr/>
          <p:nvPr/>
        </p:nvSpPr>
        <p:spPr>
          <a:xfrm>
            <a:off x="3685032" y="2162556"/>
            <a:ext cx="420624" cy="41148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261104" y="2157984"/>
            <a:ext cx="1389888" cy="310896"/>
          </a:xfrm>
          <a:prstGeom prst="rect">
            <a:avLst/>
          </a:prstGeom>
          <a:noFill/>
          <a:ln/>
        </p:spPr>
        <p:txBody>
          <a:bodyPr wrap="square" lIns="0" tIns="0" rIns="0" bIns="0" rtlCol="0" anchor="ctr">
            <a:normAutofit/>
          </a:bodyPr>
          <a:lstStyle/>
          <a:p>
            <a:pPr indent="0" marL="0">
              <a:buNone/>
            </a:pPr>
            <a:r>
              <a:rPr lang="en-US" sz="1400" b="1" dirty="0">
                <a:solidFill>
                  <a:srgbClr val="D99A24"/>
                </a:solidFill>
                <a:latin typeface="Calibri" pitchFamily="34" charset="0"/>
                <a:ea typeface="Calibri" pitchFamily="34" charset="-122"/>
                <a:cs typeface="Calibri" pitchFamily="34" charset="-120"/>
              </a:rPr>
              <a:t>ACCEPTED</a:t>
            </a:r>
            <a:endParaRPr lang="en-US" sz="1400" dirty="0"/>
          </a:p>
        </p:txBody>
      </p:sp>
      <p:sp>
        <p:nvSpPr>
          <p:cNvPr id="15" name="Text 13"/>
          <p:cNvSpPr/>
          <p:nvPr/>
        </p:nvSpPr>
        <p:spPr>
          <a:xfrm>
            <a:off x="3712464" y="2779776"/>
            <a:ext cx="1965960" cy="804672"/>
          </a:xfrm>
          <a:prstGeom prst="rect">
            <a:avLst/>
          </a:prstGeom>
          <a:noFill/>
          <a:ln/>
        </p:spPr>
        <p:txBody>
          <a:bodyPr wrap="square" lIns="0" tIns="0" rIns="0" bIns="0" rtlCol="0" anchor="t">
            <a:normAutofit/>
          </a:bodyPr>
          <a:lstStyle/>
          <a:p>
            <a:pPr algn="l" indent="0" marL="0">
              <a:buNone/>
            </a:pPr>
            <a:r>
              <a:rPr lang="en-US" sz="1330" dirty="0">
                <a:solidFill>
                  <a:srgbClr val="172126"/>
                </a:solidFill>
                <a:latin typeface="Calibri" pitchFamily="34" charset="0"/>
                <a:ea typeface="Calibri" pitchFamily="34" charset="-122"/>
                <a:cs typeface="Calibri" pitchFamily="34" charset="-120"/>
              </a:rPr>
              <a:t>Operator reviews the route and explicitly accepts</a:t>
            </a:r>
            <a:endParaRPr lang="en-US" sz="1330" dirty="0"/>
          </a:p>
        </p:txBody>
      </p:sp>
      <p:sp>
        <p:nvSpPr>
          <p:cNvPr id="16" name="Shape 14"/>
          <p:cNvSpPr/>
          <p:nvPr/>
        </p:nvSpPr>
        <p:spPr>
          <a:xfrm>
            <a:off x="6007608" y="2999232"/>
            <a:ext cx="274320" cy="0"/>
          </a:xfrm>
          <a:prstGeom prst="line">
            <a:avLst/>
          </a:prstGeom>
          <a:noFill/>
          <a:ln w="25400">
            <a:solidFill>
              <a:srgbClr val="AAB5B4"/>
            </a:solidFill>
            <a:prstDash val="solid"/>
            <a:tailEnd type="triangle"/>
          </a:ln>
        </p:spPr>
      </p:sp>
      <p:sp>
        <p:nvSpPr>
          <p:cNvPr id="17" name="Shape 15"/>
          <p:cNvSpPr/>
          <p:nvPr/>
        </p:nvSpPr>
        <p:spPr>
          <a:xfrm>
            <a:off x="6345936" y="1938528"/>
            <a:ext cx="2487168" cy="2148840"/>
          </a:xfrm>
          <a:prstGeom prst="roundRect">
            <a:avLst>
              <a:gd name="adj" fmla="val 3404"/>
            </a:avLst>
          </a:prstGeom>
          <a:solidFill>
            <a:srgbClr val="E3F1F1"/>
          </a:solidFill>
          <a:ln w="12700">
            <a:solidFill>
              <a:srgbClr val="287F83"/>
            </a:solidFill>
            <a:prstDash val="solid"/>
          </a:ln>
        </p:spPr>
      </p:sp>
      <p:sp>
        <p:nvSpPr>
          <p:cNvPr id="18" name="Shape 16"/>
          <p:cNvSpPr/>
          <p:nvPr/>
        </p:nvSpPr>
        <p:spPr>
          <a:xfrm>
            <a:off x="6547104" y="2157984"/>
            <a:ext cx="420624" cy="420624"/>
          </a:xfrm>
          <a:prstGeom prst="ellipse">
            <a:avLst/>
          </a:prstGeom>
          <a:solidFill>
            <a:srgbClr val="287F83"/>
          </a:solidFill>
          <a:ln w="12700">
            <a:solidFill>
              <a:srgbClr val="287F83"/>
            </a:solidFill>
            <a:prstDash val="solid"/>
          </a:ln>
        </p:spPr>
      </p:sp>
      <p:sp>
        <p:nvSpPr>
          <p:cNvPr id="19" name="Text 17"/>
          <p:cNvSpPr/>
          <p:nvPr/>
        </p:nvSpPr>
        <p:spPr>
          <a:xfrm>
            <a:off x="6547104" y="2162556"/>
            <a:ext cx="420624" cy="41148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7123176" y="2157984"/>
            <a:ext cx="1389888" cy="310896"/>
          </a:xfrm>
          <a:prstGeom prst="rect">
            <a:avLst/>
          </a:prstGeom>
          <a:noFill/>
          <a:ln/>
        </p:spPr>
        <p:txBody>
          <a:bodyPr wrap="square" lIns="0" tIns="0" rIns="0" bIns="0" rtlCol="0" anchor="ctr">
            <a:normAutofit/>
          </a:bodyPr>
          <a:lstStyle/>
          <a:p>
            <a:pPr indent="0" marL="0">
              <a:buNone/>
            </a:pPr>
            <a:r>
              <a:rPr lang="en-US" sz="1400" b="1" dirty="0">
                <a:solidFill>
                  <a:srgbClr val="287F83"/>
                </a:solidFill>
                <a:latin typeface="Calibri" pitchFamily="34" charset="0"/>
                <a:ea typeface="Calibri" pitchFamily="34" charset="-122"/>
                <a:cs typeface="Calibri" pitchFamily="34" charset="-120"/>
              </a:rPr>
              <a:t>MOCK DISPATCH</a:t>
            </a:r>
            <a:endParaRPr lang="en-US" sz="1400" dirty="0"/>
          </a:p>
        </p:txBody>
      </p:sp>
      <p:sp>
        <p:nvSpPr>
          <p:cNvPr id="21" name="Text 19"/>
          <p:cNvSpPr/>
          <p:nvPr/>
        </p:nvSpPr>
        <p:spPr>
          <a:xfrm>
            <a:off x="6574536" y="2779776"/>
            <a:ext cx="1965960" cy="804672"/>
          </a:xfrm>
          <a:prstGeom prst="rect">
            <a:avLst/>
          </a:prstGeom>
          <a:noFill/>
          <a:ln/>
        </p:spPr>
        <p:txBody>
          <a:bodyPr wrap="square" lIns="0" tIns="0" rIns="0" bIns="0" rtlCol="0" anchor="t">
            <a:normAutofit/>
          </a:bodyPr>
          <a:lstStyle/>
          <a:p>
            <a:pPr algn="l" indent="0" marL="0">
              <a:buNone/>
            </a:pPr>
            <a:r>
              <a:rPr lang="en-US" sz="1330" dirty="0">
                <a:solidFill>
                  <a:srgbClr val="172126"/>
                </a:solidFill>
                <a:latin typeface="Calibri" pitchFamily="34" charset="0"/>
                <a:ea typeface="Calibri" pitchFamily="34" charset="-122"/>
                <a:cs typeface="Calibri" pitchFamily="34" charset="-120"/>
              </a:rPr>
              <a:t>One idempotent local record; no live truck contact</a:t>
            </a:r>
            <a:endParaRPr lang="en-US" sz="1330" dirty="0"/>
          </a:p>
        </p:txBody>
      </p:sp>
      <p:sp>
        <p:nvSpPr>
          <p:cNvPr id="22" name="Shape 20"/>
          <p:cNvSpPr/>
          <p:nvPr/>
        </p:nvSpPr>
        <p:spPr>
          <a:xfrm>
            <a:off x="8869680" y="2999232"/>
            <a:ext cx="274320" cy="0"/>
          </a:xfrm>
          <a:prstGeom prst="line">
            <a:avLst/>
          </a:prstGeom>
          <a:noFill/>
          <a:ln w="25400">
            <a:solidFill>
              <a:srgbClr val="AAB5B4"/>
            </a:solidFill>
            <a:prstDash val="solid"/>
            <a:tailEnd type="triangle"/>
          </a:ln>
        </p:spPr>
      </p:sp>
      <p:sp>
        <p:nvSpPr>
          <p:cNvPr id="23" name="Shape 21"/>
          <p:cNvSpPr/>
          <p:nvPr/>
        </p:nvSpPr>
        <p:spPr>
          <a:xfrm>
            <a:off x="9208008" y="1938528"/>
            <a:ext cx="2487168" cy="2148840"/>
          </a:xfrm>
          <a:prstGeom prst="roundRect">
            <a:avLst>
              <a:gd name="adj" fmla="val 3404"/>
            </a:avLst>
          </a:prstGeom>
          <a:solidFill>
            <a:srgbClr val="E7F2EC"/>
          </a:solidFill>
          <a:ln w="12700">
            <a:solidFill>
              <a:srgbClr val="2F7D5B"/>
            </a:solidFill>
            <a:prstDash val="solid"/>
          </a:ln>
        </p:spPr>
      </p:sp>
      <p:sp>
        <p:nvSpPr>
          <p:cNvPr id="24" name="Shape 22"/>
          <p:cNvSpPr/>
          <p:nvPr/>
        </p:nvSpPr>
        <p:spPr>
          <a:xfrm>
            <a:off x="9409176" y="2157984"/>
            <a:ext cx="420624" cy="420624"/>
          </a:xfrm>
          <a:prstGeom prst="ellipse">
            <a:avLst/>
          </a:prstGeom>
          <a:solidFill>
            <a:srgbClr val="2F7D5B"/>
          </a:solidFill>
          <a:ln w="12700">
            <a:solidFill>
              <a:srgbClr val="2F7D5B"/>
            </a:solidFill>
            <a:prstDash val="solid"/>
          </a:ln>
        </p:spPr>
      </p:sp>
      <p:sp>
        <p:nvSpPr>
          <p:cNvPr id="25" name="Text 23"/>
          <p:cNvSpPr/>
          <p:nvPr/>
        </p:nvSpPr>
        <p:spPr>
          <a:xfrm>
            <a:off x="9409176" y="2162556"/>
            <a:ext cx="420624" cy="41148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9985248" y="2157984"/>
            <a:ext cx="1389888" cy="310896"/>
          </a:xfrm>
          <a:prstGeom prst="rect">
            <a:avLst/>
          </a:prstGeom>
          <a:noFill/>
          <a:ln/>
        </p:spPr>
        <p:txBody>
          <a:bodyPr wrap="square" lIns="0" tIns="0" rIns="0" bIns="0" rtlCol="0" anchor="ctr">
            <a:normAutofit/>
          </a:bodyPr>
          <a:lstStyle/>
          <a:p>
            <a:pPr indent="0" marL="0">
              <a:buNone/>
            </a:pPr>
            <a:r>
              <a:rPr lang="en-US" sz="1400" b="1" dirty="0">
                <a:solidFill>
                  <a:srgbClr val="2F7D5B"/>
                </a:solidFill>
                <a:latin typeface="Calibri" pitchFamily="34" charset="0"/>
                <a:ea typeface="Calibri" pitchFamily="34" charset="-122"/>
                <a:cs typeface="Calibri" pitchFamily="34" charset="-120"/>
              </a:rPr>
              <a:t>COMPLETED</a:t>
            </a:r>
            <a:endParaRPr lang="en-US" sz="1400" dirty="0"/>
          </a:p>
        </p:txBody>
      </p:sp>
      <p:sp>
        <p:nvSpPr>
          <p:cNvPr id="27" name="Text 25"/>
          <p:cNvSpPr/>
          <p:nvPr/>
        </p:nvSpPr>
        <p:spPr>
          <a:xfrm>
            <a:off x="9436608" y="2779776"/>
            <a:ext cx="1965960" cy="804672"/>
          </a:xfrm>
          <a:prstGeom prst="rect">
            <a:avLst/>
          </a:prstGeom>
          <a:noFill/>
          <a:ln/>
        </p:spPr>
        <p:txBody>
          <a:bodyPr wrap="square" lIns="0" tIns="0" rIns="0" bIns="0" rtlCol="0" anchor="t">
            <a:normAutofit/>
          </a:bodyPr>
          <a:lstStyle/>
          <a:p>
            <a:pPr algn="l" indent="0" marL="0">
              <a:buNone/>
            </a:pPr>
            <a:r>
              <a:rPr lang="en-US" sz="1330" dirty="0">
                <a:solidFill>
                  <a:srgbClr val="172126"/>
                </a:solidFill>
                <a:latin typeface="Calibri" pitchFamily="34" charset="0"/>
                <a:ea typeface="Calibri" pitchFamily="34" charset="-122"/>
                <a:cs typeface="Calibri" pitchFamily="34" charset="-120"/>
              </a:rPr>
              <a:t>Service event resets planning state for collected bins</a:t>
            </a:r>
            <a:endParaRPr lang="en-US" sz="1330" dirty="0"/>
          </a:p>
        </p:txBody>
      </p:sp>
      <p:sp>
        <p:nvSpPr>
          <p:cNvPr id="28" name="Shape 26"/>
          <p:cNvSpPr/>
          <p:nvPr/>
        </p:nvSpPr>
        <p:spPr>
          <a:xfrm>
            <a:off x="621792" y="4526280"/>
            <a:ext cx="10972800" cy="1444752"/>
          </a:xfrm>
          <a:prstGeom prst="roundRect">
            <a:avLst>
              <a:gd name="adj" fmla="val 5063"/>
            </a:avLst>
          </a:prstGeom>
          <a:solidFill>
            <a:srgbClr val="171D20"/>
          </a:solidFill>
          <a:ln w="12700">
            <a:solidFill>
              <a:srgbClr val="171D20"/>
            </a:solidFill>
            <a:prstDash val="solid"/>
          </a:ln>
          <a:effectLst>
            <a:outerShdw sx="100000" sy="100000" kx="0" ky="0" algn="bl" rotWithShape="0" blurRad="19050" dist="50800" dir="2700000">
              <a:srgbClr val="000000">
                <a:alpha val="10000"/>
              </a:srgbClr>
            </a:outerShdw>
          </a:effectLst>
        </p:spPr>
      </p:sp>
      <p:sp>
        <p:nvSpPr>
          <p:cNvPr id="29" name="Text 27"/>
          <p:cNvSpPr/>
          <p:nvPr/>
        </p:nvSpPr>
        <p:spPr>
          <a:xfrm>
            <a:off x="914400" y="4754880"/>
            <a:ext cx="3977640" cy="274320"/>
          </a:xfrm>
          <a:prstGeom prst="rect">
            <a:avLst/>
          </a:prstGeom>
          <a:noFill/>
          <a:ln/>
        </p:spPr>
        <p:txBody>
          <a:bodyPr wrap="square" lIns="0" tIns="0" rIns="0" bIns="0" rtlCol="0" anchor="ctr">
            <a:normAutofit/>
          </a:bodyPr>
          <a:lstStyle/>
          <a:p>
            <a:pPr indent="0" marL="0">
              <a:buNone/>
            </a:pPr>
            <a:r>
              <a:rPr lang="en-US" sz="1200" b="1" spc="100" kern="0" dirty="0">
                <a:solidFill>
                  <a:srgbClr val="21C7F6"/>
                </a:solidFill>
                <a:latin typeface="Calibri" pitchFamily="34" charset="0"/>
                <a:ea typeface="Calibri" pitchFamily="34" charset="-122"/>
                <a:cs typeface="Calibri" pitchFamily="34" charset="-120"/>
              </a:rPr>
              <a:t>WHEN CONDITIONS CHANGE DURING A ROUTE</a:t>
            </a:r>
            <a:endParaRPr lang="en-US" sz="1200" dirty="0"/>
          </a:p>
        </p:txBody>
      </p:sp>
      <p:sp>
        <p:nvSpPr>
          <p:cNvPr id="30" name="Shape 28"/>
          <p:cNvSpPr/>
          <p:nvPr/>
        </p:nvSpPr>
        <p:spPr>
          <a:xfrm>
            <a:off x="914400" y="5175504"/>
            <a:ext cx="1965960" cy="502920"/>
          </a:xfrm>
          <a:prstGeom prst="roundRect">
            <a:avLst>
              <a:gd name="adj" fmla="val 14545"/>
            </a:avLst>
          </a:prstGeom>
          <a:solidFill>
            <a:srgbClr val="242C30"/>
          </a:solidFill>
          <a:ln w="19050">
            <a:solidFill>
              <a:srgbClr val="FFFFFF"/>
            </a:solidFill>
            <a:prstDash val="solid"/>
          </a:ln>
        </p:spPr>
      </p:sp>
      <p:sp>
        <p:nvSpPr>
          <p:cNvPr id="31" name="Text 29"/>
          <p:cNvSpPr/>
          <p:nvPr/>
        </p:nvSpPr>
        <p:spPr>
          <a:xfrm>
            <a:off x="1024128" y="5230368"/>
            <a:ext cx="1746504" cy="38404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FREEZE CURRENT LEG</a:t>
            </a:r>
            <a:endParaRPr lang="en-US" sz="1250" dirty="0"/>
          </a:p>
        </p:txBody>
      </p:sp>
      <p:sp>
        <p:nvSpPr>
          <p:cNvPr id="32" name="Shape 30"/>
          <p:cNvSpPr/>
          <p:nvPr/>
        </p:nvSpPr>
        <p:spPr>
          <a:xfrm>
            <a:off x="3035808" y="5422392"/>
            <a:ext cx="621792" cy="0"/>
          </a:xfrm>
          <a:prstGeom prst="line">
            <a:avLst/>
          </a:prstGeom>
          <a:noFill/>
          <a:ln w="31750">
            <a:solidFill>
              <a:srgbClr val="21C7F6"/>
            </a:solidFill>
            <a:prstDash val="solid"/>
            <a:tailEnd type="triangle"/>
          </a:ln>
        </p:spPr>
      </p:sp>
      <p:sp>
        <p:nvSpPr>
          <p:cNvPr id="33" name="Shape 31"/>
          <p:cNvSpPr/>
          <p:nvPr/>
        </p:nvSpPr>
        <p:spPr>
          <a:xfrm>
            <a:off x="3822192" y="5175504"/>
            <a:ext cx="2331720" cy="502920"/>
          </a:xfrm>
          <a:prstGeom prst="roundRect">
            <a:avLst>
              <a:gd name="adj" fmla="val 14545"/>
            </a:avLst>
          </a:prstGeom>
          <a:solidFill>
            <a:srgbClr val="242C30"/>
          </a:solidFill>
          <a:ln w="19050">
            <a:solidFill>
              <a:srgbClr val="FFFFFF"/>
            </a:solidFill>
            <a:prstDash val="solid"/>
          </a:ln>
        </p:spPr>
      </p:sp>
      <p:sp>
        <p:nvSpPr>
          <p:cNvPr id="34" name="Text 32"/>
          <p:cNvSpPr/>
          <p:nvPr/>
        </p:nvSpPr>
        <p:spPr>
          <a:xfrm>
            <a:off x="3931920" y="5230368"/>
            <a:ext cx="2112264" cy="38404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APPLY RESIDUAL CAPACITY</a:t>
            </a:r>
            <a:endParaRPr lang="en-US" sz="1250" dirty="0"/>
          </a:p>
        </p:txBody>
      </p:sp>
      <p:sp>
        <p:nvSpPr>
          <p:cNvPr id="35" name="Shape 33"/>
          <p:cNvSpPr/>
          <p:nvPr/>
        </p:nvSpPr>
        <p:spPr>
          <a:xfrm>
            <a:off x="6309360" y="5422392"/>
            <a:ext cx="621792" cy="0"/>
          </a:xfrm>
          <a:prstGeom prst="line">
            <a:avLst/>
          </a:prstGeom>
          <a:noFill/>
          <a:ln w="31750">
            <a:solidFill>
              <a:srgbClr val="21C7F6"/>
            </a:solidFill>
            <a:prstDash val="solid"/>
            <a:tailEnd type="triangle"/>
          </a:ln>
        </p:spPr>
      </p:sp>
      <p:sp>
        <p:nvSpPr>
          <p:cNvPr id="36" name="Shape 34"/>
          <p:cNvSpPr/>
          <p:nvPr/>
        </p:nvSpPr>
        <p:spPr>
          <a:xfrm>
            <a:off x="7095744" y="5175504"/>
            <a:ext cx="2880360" cy="502920"/>
          </a:xfrm>
          <a:prstGeom prst="roundRect">
            <a:avLst>
              <a:gd name="adj" fmla="val 14545"/>
            </a:avLst>
          </a:prstGeom>
          <a:solidFill>
            <a:srgbClr val="242C30"/>
          </a:solidFill>
          <a:ln w="19050">
            <a:solidFill>
              <a:srgbClr val="FFFFFF"/>
            </a:solidFill>
            <a:prstDash val="solid"/>
          </a:ln>
        </p:spPr>
      </p:sp>
      <p:sp>
        <p:nvSpPr>
          <p:cNvPr id="37" name="Text 35"/>
          <p:cNvSpPr/>
          <p:nvPr/>
        </p:nvSpPr>
        <p:spPr>
          <a:xfrm>
            <a:off x="7205472" y="5230368"/>
            <a:ext cx="2660904" cy="38404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CREATE LINKED SUFFIX DRAFT</a:t>
            </a:r>
            <a:endParaRPr lang="en-US" sz="1250" dirty="0"/>
          </a:p>
        </p:txBody>
      </p:sp>
      <p:sp>
        <p:nvSpPr>
          <p:cNvPr id="38" name="Text 36"/>
          <p:cNvSpPr/>
          <p:nvPr/>
        </p:nvSpPr>
        <p:spPr>
          <a:xfrm>
            <a:off x="10094976" y="5175504"/>
            <a:ext cx="1234440" cy="457200"/>
          </a:xfrm>
          <a:prstGeom prst="rect">
            <a:avLst/>
          </a:prstGeom>
          <a:noFill/>
          <a:ln/>
        </p:spPr>
        <p:txBody>
          <a:bodyPr wrap="square" lIns="0" tIns="0" rIns="0" bIns="0" rtlCol="0" anchor="ctr">
            <a:normAutofit/>
          </a:bodyPr>
          <a:lstStyle/>
          <a:p>
            <a:pPr algn="ctr" indent="0" marL="0">
              <a:buNone/>
            </a:pPr>
            <a:r>
              <a:rPr lang="en-US" sz="1050" b="1" dirty="0">
                <a:solidFill>
                  <a:srgbClr val="FFF3DA"/>
                </a:solidFill>
                <a:latin typeface="Calibri" pitchFamily="34" charset="0"/>
                <a:ea typeface="Calibri" pitchFamily="34" charset="-122"/>
                <a:cs typeface="Calibri" pitchFamily="34" charset="-120"/>
              </a:rPr>
              <a:t>Never mutate</a:t>
            </a:r>
            <a:endParaRPr lang="en-US" sz="1050" dirty="0"/>
          </a:p>
          <a:p>
            <a:pPr algn="ctr" indent="0" marL="0">
              <a:buNone/>
            </a:pPr>
            <a:r>
              <a:rPr lang="en-US" sz="1050" b="1" dirty="0">
                <a:solidFill>
                  <a:srgbClr val="FFF3DA"/>
                </a:solidFill>
                <a:latin typeface="Calibri" pitchFamily="34" charset="0"/>
                <a:ea typeface="Calibri" pitchFamily="34" charset="-122"/>
                <a:cs typeface="Calibri" pitchFamily="34" charset="-120"/>
              </a:rPr>
              <a:t>the accepted plan</a:t>
            </a:r>
            <a:endParaRPr lang="en-US" sz="1050" dirty="0"/>
          </a:p>
        </p:txBody>
      </p:sp>
      <p:sp>
        <p:nvSpPr>
          <p:cNvPr id="39" name="Text 37"/>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WORKED EXAMPLE</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Three co-located bins enter — only two leave on the route</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Illustrative decision trace showing why a forecast does not automatically create a pickup.</a:t>
            </a:r>
            <a:endParaRPr lang="en-US" sz="1400" dirty="0"/>
          </a:p>
        </p:txBody>
      </p:sp>
      <p:sp>
        <p:nvSpPr>
          <p:cNvPr id="5" name="Shape 3"/>
          <p:cNvSpPr/>
          <p:nvPr/>
        </p:nvSpPr>
        <p:spPr>
          <a:xfrm>
            <a:off x="621792" y="1810512"/>
            <a:ext cx="3429000" cy="2743200"/>
          </a:xfrm>
          <a:prstGeom prst="roundRect">
            <a:avLst>
              <a:gd name="adj" fmla="val 2667"/>
            </a:avLst>
          </a:prstGeom>
          <a:solidFill>
            <a:srgbClr val="FBE9EA"/>
          </a:solidFill>
          <a:ln w="12700">
            <a:solidFill>
              <a:srgbClr val="C64045"/>
            </a:solidFill>
            <a:prstDash val="solid"/>
          </a:ln>
        </p:spPr>
      </p:sp>
      <p:sp>
        <p:nvSpPr>
          <p:cNvPr id="6" name="Text 4"/>
          <p:cNvSpPr/>
          <p:nvPr/>
        </p:nvSpPr>
        <p:spPr>
          <a:xfrm>
            <a:off x="877824" y="2048256"/>
            <a:ext cx="1572768" cy="320040"/>
          </a:xfrm>
          <a:prstGeom prst="rect">
            <a:avLst/>
          </a:prstGeom>
          <a:noFill/>
          <a:ln/>
        </p:spPr>
        <p:txBody>
          <a:bodyPr wrap="square" lIns="0" tIns="0" rIns="0" bIns="0" rtlCol="0" anchor="ctr">
            <a:normAutofit/>
          </a:bodyPr>
          <a:lstStyle/>
          <a:p>
            <a:pPr indent="0" marL="0">
              <a:buNone/>
            </a:pPr>
            <a:r>
              <a:rPr lang="en-US" sz="1450" b="1" dirty="0">
                <a:solidFill>
                  <a:srgbClr val="C64045"/>
                </a:solidFill>
                <a:latin typeface="Calibri" pitchFamily="34" charset="0"/>
                <a:ea typeface="Calibri" pitchFamily="34" charset="-122"/>
                <a:cs typeface="Calibri" pitchFamily="34" charset="-120"/>
              </a:rPr>
              <a:t>BIN A · GLASS BOTTLES</a:t>
            </a:r>
            <a:endParaRPr lang="en-US" sz="1450" dirty="0"/>
          </a:p>
        </p:txBody>
      </p:sp>
      <p:sp>
        <p:nvSpPr>
          <p:cNvPr id="7" name="Shape 5"/>
          <p:cNvSpPr/>
          <p:nvPr/>
        </p:nvSpPr>
        <p:spPr>
          <a:xfrm>
            <a:off x="2587752" y="2029968"/>
            <a:ext cx="1097280" cy="292608"/>
          </a:xfrm>
          <a:prstGeom prst="roundRect">
            <a:avLst>
              <a:gd name="adj" fmla="val 21875"/>
            </a:avLst>
          </a:prstGeom>
          <a:solidFill>
            <a:srgbClr val="FFFFFF"/>
          </a:solidFill>
          <a:ln w="12700">
            <a:solidFill>
              <a:srgbClr val="FFFFFF"/>
            </a:solidFill>
            <a:prstDash val="solid"/>
          </a:ln>
        </p:spPr>
      </p:sp>
      <p:sp>
        <p:nvSpPr>
          <p:cNvPr id="8" name="Text 6"/>
          <p:cNvSpPr/>
          <p:nvPr/>
        </p:nvSpPr>
        <p:spPr>
          <a:xfrm>
            <a:off x="2660904" y="2039112"/>
            <a:ext cx="950976" cy="265176"/>
          </a:xfrm>
          <a:prstGeom prst="rect">
            <a:avLst/>
          </a:prstGeom>
          <a:noFill/>
          <a:ln/>
        </p:spPr>
        <p:txBody>
          <a:bodyPr wrap="square" lIns="0" tIns="0" rIns="0" bIns="0" rtlCol="0" anchor="ctr">
            <a:normAutofit/>
          </a:bodyPr>
          <a:lstStyle/>
          <a:p>
            <a:pPr algn="ctr" indent="0" marL="0">
              <a:buNone/>
            </a:pPr>
            <a:r>
              <a:rPr lang="en-US" sz="1050" b="1" dirty="0">
                <a:solidFill>
                  <a:srgbClr val="C64045"/>
                </a:solidFill>
                <a:latin typeface="Calibri" pitchFamily="34" charset="0"/>
                <a:ea typeface="Calibri" pitchFamily="34" charset="-122"/>
                <a:cs typeface="Calibri" pitchFamily="34" charset="-120"/>
              </a:rPr>
              <a:t>MANDATORY</a:t>
            </a:r>
            <a:endParaRPr lang="en-US" sz="1050" dirty="0"/>
          </a:p>
        </p:txBody>
      </p:sp>
      <p:sp>
        <p:nvSpPr>
          <p:cNvPr id="9" name="Text 7"/>
          <p:cNvSpPr/>
          <p:nvPr/>
        </p:nvSpPr>
        <p:spPr>
          <a:xfrm>
            <a:off x="877824" y="2670048"/>
            <a:ext cx="1417320" cy="365760"/>
          </a:xfrm>
          <a:prstGeom prst="rect">
            <a:avLst/>
          </a:prstGeom>
          <a:noFill/>
          <a:ln/>
        </p:spPr>
        <p:txBody>
          <a:bodyPr wrap="square" lIns="0" tIns="0" rIns="0" bIns="0" rtlCol="0" anchor="ctr">
            <a:normAutofit/>
          </a:bodyPr>
          <a:lstStyle/>
          <a:p>
            <a:pPr indent="0" marL="0">
              <a:buNone/>
            </a:pPr>
            <a:r>
              <a:rPr lang="en-US" sz="2200" b="1" dirty="0">
                <a:solidFill>
                  <a:srgbClr val="172126"/>
                </a:solidFill>
                <a:latin typeface="Calibri" pitchFamily="34" charset="0"/>
                <a:ea typeface="Calibri" pitchFamily="34" charset="-122"/>
                <a:cs typeface="Calibri" pitchFamily="34" charset="-120"/>
              </a:rPr>
              <a:t>92% fill</a:t>
            </a:r>
            <a:endParaRPr lang="en-US" sz="2200" dirty="0"/>
          </a:p>
        </p:txBody>
      </p:sp>
      <p:sp>
        <p:nvSpPr>
          <p:cNvPr id="10" name="Text 8"/>
          <p:cNvSpPr/>
          <p:nvPr/>
        </p:nvSpPr>
        <p:spPr>
          <a:xfrm>
            <a:off x="2468880" y="2670048"/>
            <a:ext cx="1097280" cy="365760"/>
          </a:xfrm>
          <a:prstGeom prst="rect">
            <a:avLst/>
          </a:prstGeom>
          <a:noFill/>
          <a:ln/>
        </p:spPr>
        <p:txBody>
          <a:bodyPr wrap="square" lIns="0" tIns="0" rIns="0" bIns="0" rtlCol="0" anchor="ctr">
            <a:normAutofit/>
          </a:bodyPr>
          <a:lstStyle/>
          <a:p>
            <a:pPr algn="r" indent="0" marL="0">
              <a:buNone/>
            </a:pPr>
            <a:r>
              <a:rPr lang="en-US" sz="1600" b="1" dirty="0">
                <a:solidFill>
                  <a:srgbClr val="172126"/>
                </a:solidFill>
                <a:latin typeface="Calibri" pitchFamily="34" charset="0"/>
                <a:ea typeface="Calibri" pitchFamily="34" charset="-122"/>
                <a:cs typeface="Calibri" pitchFamily="34" charset="-120"/>
              </a:rPr>
              <a:t>TTO 4 h</a:t>
            </a:r>
            <a:endParaRPr lang="en-US" sz="1600" dirty="0"/>
          </a:p>
        </p:txBody>
      </p:sp>
      <p:sp>
        <p:nvSpPr>
          <p:cNvPr id="11" name="Text 9"/>
          <p:cNvSpPr/>
          <p:nvPr/>
        </p:nvSpPr>
        <p:spPr>
          <a:xfrm>
            <a:off x="877824" y="3200400"/>
            <a:ext cx="1280160" cy="256032"/>
          </a:xfrm>
          <a:prstGeom prst="rect">
            <a:avLst/>
          </a:prstGeom>
          <a:noFill/>
          <a:ln/>
        </p:spPr>
        <p:txBody>
          <a:bodyPr wrap="square" lIns="0" tIns="0" rIns="0" bIns="0" rtlCol="0" anchor="ctr">
            <a:normAutofit/>
          </a:bodyPr>
          <a:lstStyle/>
          <a:p>
            <a:pPr indent="0" marL="0">
              <a:buNone/>
            </a:pPr>
            <a:r>
              <a:rPr lang="en-US" sz="1050" b="1" spc="100" kern="0" dirty="0">
                <a:solidFill>
                  <a:srgbClr val="5F6B70"/>
                </a:solidFill>
                <a:latin typeface="Calibri" pitchFamily="34" charset="0"/>
                <a:ea typeface="Calibri" pitchFamily="34" charset="-122"/>
                <a:cs typeface="Calibri" pitchFamily="34" charset="-120"/>
              </a:rPr>
              <a:t>CONFIDENT</a:t>
            </a:r>
            <a:endParaRPr lang="en-US" sz="1050" dirty="0"/>
          </a:p>
        </p:txBody>
      </p:sp>
      <p:sp>
        <p:nvSpPr>
          <p:cNvPr id="12" name="Text 10"/>
          <p:cNvSpPr/>
          <p:nvPr/>
        </p:nvSpPr>
        <p:spPr>
          <a:xfrm>
            <a:off x="877824" y="3675888"/>
            <a:ext cx="2788920" cy="502920"/>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Emergency horizon</a:t>
            </a:r>
            <a:endParaRPr lang="en-US" sz="1400" dirty="0"/>
          </a:p>
        </p:txBody>
      </p:sp>
      <p:sp>
        <p:nvSpPr>
          <p:cNvPr id="13" name="Shape 11"/>
          <p:cNvSpPr/>
          <p:nvPr/>
        </p:nvSpPr>
        <p:spPr>
          <a:xfrm>
            <a:off x="4480560" y="1810512"/>
            <a:ext cx="3429000" cy="2743200"/>
          </a:xfrm>
          <a:prstGeom prst="roundRect">
            <a:avLst>
              <a:gd name="adj" fmla="val 2667"/>
            </a:avLst>
          </a:prstGeom>
          <a:solidFill>
            <a:srgbClr val="E7F2F8"/>
          </a:solidFill>
          <a:ln w="12700">
            <a:solidFill>
              <a:srgbClr val="006DAE"/>
            </a:solidFill>
            <a:prstDash val="solid"/>
          </a:ln>
        </p:spPr>
      </p:sp>
      <p:sp>
        <p:nvSpPr>
          <p:cNvPr id="14" name="Text 12"/>
          <p:cNvSpPr/>
          <p:nvPr/>
        </p:nvSpPr>
        <p:spPr>
          <a:xfrm>
            <a:off x="4736592" y="2048256"/>
            <a:ext cx="1572768" cy="320040"/>
          </a:xfrm>
          <a:prstGeom prst="rect">
            <a:avLst/>
          </a:prstGeom>
          <a:noFill/>
          <a:ln/>
        </p:spPr>
        <p:txBody>
          <a:bodyPr wrap="square" lIns="0" tIns="0" rIns="0" bIns="0" rtlCol="0" anchor="ctr">
            <a:normAutofit/>
          </a:bodyPr>
          <a:lstStyle/>
          <a:p>
            <a:pPr indent="0" marL="0">
              <a:buNone/>
            </a:pPr>
            <a:r>
              <a:rPr lang="en-US" sz="1450" b="1" dirty="0">
                <a:solidFill>
                  <a:srgbClr val="006DAE"/>
                </a:solidFill>
                <a:latin typeface="Calibri" pitchFamily="34" charset="0"/>
                <a:ea typeface="Calibri" pitchFamily="34" charset="-122"/>
                <a:cs typeface="Calibri" pitchFamily="34" charset="-120"/>
              </a:rPr>
              <a:t>BIN B · PLASTIC CUPS</a:t>
            </a:r>
            <a:endParaRPr lang="en-US" sz="1450" dirty="0"/>
          </a:p>
        </p:txBody>
      </p:sp>
      <p:sp>
        <p:nvSpPr>
          <p:cNvPr id="15" name="Shape 13"/>
          <p:cNvSpPr/>
          <p:nvPr/>
        </p:nvSpPr>
        <p:spPr>
          <a:xfrm>
            <a:off x="6446520" y="2029968"/>
            <a:ext cx="1097280" cy="292608"/>
          </a:xfrm>
          <a:prstGeom prst="roundRect">
            <a:avLst>
              <a:gd name="adj" fmla="val 21875"/>
            </a:avLst>
          </a:prstGeom>
          <a:solidFill>
            <a:srgbClr val="FFFFFF"/>
          </a:solidFill>
          <a:ln w="12700">
            <a:solidFill>
              <a:srgbClr val="FFFFFF"/>
            </a:solidFill>
            <a:prstDash val="solid"/>
          </a:ln>
        </p:spPr>
      </p:sp>
      <p:sp>
        <p:nvSpPr>
          <p:cNvPr id="16" name="Text 14"/>
          <p:cNvSpPr/>
          <p:nvPr/>
        </p:nvSpPr>
        <p:spPr>
          <a:xfrm>
            <a:off x="6519672" y="2039112"/>
            <a:ext cx="950976" cy="265176"/>
          </a:xfrm>
          <a:prstGeom prst="rect">
            <a:avLst/>
          </a:prstGeom>
          <a:noFill/>
          <a:ln/>
        </p:spPr>
        <p:txBody>
          <a:bodyPr wrap="square" lIns="0" tIns="0" rIns="0" bIns="0" rtlCol="0" anchor="ctr">
            <a:normAutofit/>
          </a:bodyPr>
          <a:lstStyle/>
          <a:p>
            <a:pPr algn="ctr" indent="0" marL="0">
              <a:buNone/>
            </a:pPr>
            <a:r>
              <a:rPr lang="en-US" sz="1050" b="1" dirty="0">
                <a:solidFill>
                  <a:srgbClr val="006DAE"/>
                </a:solidFill>
                <a:latin typeface="Calibri" pitchFamily="34" charset="0"/>
                <a:ea typeface="Calibri" pitchFamily="34" charset="-122"/>
                <a:cs typeface="Calibri" pitchFamily="34" charset="-120"/>
              </a:rPr>
              <a:t>OPTIONAL</a:t>
            </a:r>
            <a:endParaRPr lang="en-US" sz="1050" dirty="0"/>
          </a:p>
        </p:txBody>
      </p:sp>
      <p:sp>
        <p:nvSpPr>
          <p:cNvPr id="17" name="Text 15"/>
          <p:cNvSpPr/>
          <p:nvPr/>
        </p:nvSpPr>
        <p:spPr>
          <a:xfrm>
            <a:off x="4736592" y="2670048"/>
            <a:ext cx="1417320" cy="365760"/>
          </a:xfrm>
          <a:prstGeom prst="rect">
            <a:avLst/>
          </a:prstGeom>
          <a:noFill/>
          <a:ln/>
        </p:spPr>
        <p:txBody>
          <a:bodyPr wrap="square" lIns="0" tIns="0" rIns="0" bIns="0" rtlCol="0" anchor="ctr">
            <a:normAutofit/>
          </a:bodyPr>
          <a:lstStyle/>
          <a:p>
            <a:pPr indent="0" marL="0">
              <a:buNone/>
            </a:pPr>
            <a:r>
              <a:rPr lang="en-US" sz="2200" b="1" dirty="0">
                <a:solidFill>
                  <a:srgbClr val="172126"/>
                </a:solidFill>
                <a:latin typeface="Calibri" pitchFamily="34" charset="0"/>
                <a:ea typeface="Calibri" pitchFamily="34" charset="-122"/>
                <a:cs typeface="Calibri" pitchFamily="34" charset="-120"/>
              </a:rPr>
              <a:t>58% fill</a:t>
            </a:r>
            <a:endParaRPr lang="en-US" sz="2200" dirty="0"/>
          </a:p>
        </p:txBody>
      </p:sp>
      <p:sp>
        <p:nvSpPr>
          <p:cNvPr id="18" name="Text 16"/>
          <p:cNvSpPr/>
          <p:nvPr/>
        </p:nvSpPr>
        <p:spPr>
          <a:xfrm>
            <a:off x="6327648" y="2670048"/>
            <a:ext cx="1097280" cy="365760"/>
          </a:xfrm>
          <a:prstGeom prst="rect">
            <a:avLst/>
          </a:prstGeom>
          <a:noFill/>
          <a:ln/>
        </p:spPr>
        <p:txBody>
          <a:bodyPr wrap="square" lIns="0" tIns="0" rIns="0" bIns="0" rtlCol="0" anchor="ctr">
            <a:normAutofit/>
          </a:bodyPr>
          <a:lstStyle/>
          <a:p>
            <a:pPr algn="r" indent="0" marL="0">
              <a:buNone/>
            </a:pPr>
            <a:r>
              <a:rPr lang="en-US" sz="1600" b="1" dirty="0">
                <a:solidFill>
                  <a:srgbClr val="172126"/>
                </a:solidFill>
                <a:latin typeface="Calibri" pitchFamily="34" charset="0"/>
                <a:ea typeface="Calibri" pitchFamily="34" charset="-122"/>
                <a:cs typeface="Calibri" pitchFamily="34" charset="-120"/>
              </a:rPr>
              <a:t>TTO 40 h</a:t>
            </a:r>
            <a:endParaRPr lang="en-US" sz="1600" dirty="0"/>
          </a:p>
        </p:txBody>
      </p:sp>
      <p:sp>
        <p:nvSpPr>
          <p:cNvPr id="19" name="Text 17"/>
          <p:cNvSpPr/>
          <p:nvPr/>
        </p:nvSpPr>
        <p:spPr>
          <a:xfrm>
            <a:off x="4736592" y="3200400"/>
            <a:ext cx="1280160" cy="256032"/>
          </a:xfrm>
          <a:prstGeom prst="rect">
            <a:avLst/>
          </a:prstGeom>
          <a:noFill/>
          <a:ln/>
        </p:spPr>
        <p:txBody>
          <a:bodyPr wrap="square" lIns="0" tIns="0" rIns="0" bIns="0" rtlCol="0" anchor="ctr">
            <a:normAutofit/>
          </a:bodyPr>
          <a:lstStyle/>
          <a:p>
            <a:pPr indent="0" marL="0">
              <a:buNone/>
            </a:pPr>
            <a:r>
              <a:rPr lang="en-US" sz="1050" b="1" spc="100" kern="0" dirty="0">
                <a:solidFill>
                  <a:srgbClr val="5F6B70"/>
                </a:solidFill>
                <a:latin typeface="Calibri" pitchFamily="34" charset="0"/>
                <a:ea typeface="Calibri" pitchFamily="34" charset="-122"/>
                <a:cs typeface="Calibri" pitchFamily="34" charset="-120"/>
              </a:rPr>
              <a:t>CONFIDENT</a:t>
            </a:r>
            <a:endParaRPr lang="en-US" sz="1050" dirty="0"/>
          </a:p>
        </p:txBody>
      </p:sp>
      <p:sp>
        <p:nvSpPr>
          <p:cNvPr id="20" name="Text 18"/>
          <p:cNvSpPr/>
          <p:nvPr/>
        </p:nvSpPr>
        <p:spPr>
          <a:xfrm>
            <a:off x="4736592" y="3675888"/>
            <a:ext cx="2788920" cy="502920"/>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Same recycling stream; positive joint value</a:t>
            </a:r>
            <a:endParaRPr lang="en-US" sz="1400" dirty="0"/>
          </a:p>
        </p:txBody>
      </p:sp>
      <p:sp>
        <p:nvSpPr>
          <p:cNvPr id="21" name="Shape 19"/>
          <p:cNvSpPr/>
          <p:nvPr/>
        </p:nvSpPr>
        <p:spPr>
          <a:xfrm>
            <a:off x="8339328" y="1810512"/>
            <a:ext cx="3429000" cy="2743200"/>
          </a:xfrm>
          <a:prstGeom prst="roundRect">
            <a:avLst>
              <a:gd name="adj" fmla="val 2667"/>
            </a:avLst>
          </a:prstGeom>
          <a:solidFill>
            <a:srgbClr val="E7F2EC"/>
          </a:solidFill>
          <a:ln w="12700">
            <a:solidFill>
              <a:srgbClr val="2F7D5B"/>
            </a:solidFill>
            <a:prstDash val="solid"/>
          </a:ln>
        </p:spPr>
      </p:sp>
      <p:sp>
        <p:nvSpPr>
          <p:cNvPr id="22" name="Text 20"/>
          <p:cNvSpPr/>
          <p:nvPr/>
        </p:nvSpPr>
        <p:spPr>
          <a:xfrm>
            <a:off x="8595360" y="2048256"/>
            <a:ext cx="1572768" cy="320040"/>
          </a:xfrm>
          <a:prstGeom prst="rect">
            <a:avLst/>
          </a:prstGeom>
          <a:noFill/>
          <a:ln/>
        </p:spPr>
        <p:txBody>
          <a:bodyPr wrap="square" lIns="0" tIns="0" rIns="0" bIns="0" rtlCol="0" anchor="ctr">
            <a:normAutofit/>
          </a:bodyPr>
          <a:lstStyle/>
          <a:p>
            <a:pPr indent="0" marL="0">
              <a:buNone/>
            </a:pPr>
            <a:r>
              <a:rPr lang="en-US" sz="1450" b="1" dirty="0">
                <a:solidFill>
                  <a:srgbClr val="2F7D5B"/>
                </a:solidFill>
                <a:latin typeface="Calibri" pitchFamily="34" charset="0"/>
                <a:ea typeface="Calibri" pitchFamily="34" charset="-122"/>
                <a:cs typeface="Calibri" pitchFamily="34" charset="-120"/>
              </a:rPr>
              <a:t>BIN C · GENERAL</a:t>
            </a:r>
            <a:endParaRPr lang="en-US" sz="1450" dirty="0"/>
          </a:p>
        </p:txBody>
      </p:sp>
      <p:sp>
        <p:nvSpPr>
          <p:cNvPr id="23" name="Shape 21"/>
          <p:cNvSpPr/>
          <p:nvPr/>
        </p:nvSpPr>
        <p:spPr>
          <a:xfrm>
            <a:off x="10305288" y="2029968"/>
            <a:ext cx="1097280" cy="292608"/>
          </a:xfrm>
          <a:prstGeom prst="roundRect">
            <a:avLst>
              <a:gd name="adj" fmla="val 21875"/>
            </a:avLst>
          </a:prstGeom>
          <a:solidFill>
            <a:srgbClr val="FFFFFF"/>
          </a:solidFill>
          <a:ln w="12700">
            <a:solidFill>
              <a:srgbClr val="FFFFFF"/>
            </a:solidFill>
            <a:prstDash val="solid"/>
          </a:ln>
        </p:spPr>
      </p:sp>
      <p:sp>
        <p:nvSpPr>
          <p:cNvPr id="24" name="Text 22"/>
          <p:cNvSpPr/>
          <p:nvPr/>
        </p:nvSpPr>
        <p:spPr>
          <a:xfrm>
            <a:off x="10378440" y="2039112"/>
            <a:ext cx="950976" cy="265176"/>
          </a:xfrm>
          <a:prstGeom prst="rect">
            <a:avLst/>
          </a:prstGeom>
          <a:noFill/>
          <a:ln/>
        </p:spPr>
        <p:txBody>
          <a:bodyPr wrap="square" lIns="0" tIns="0" rIns="0" bIns="0" rtlCol="0" anchor="ctr">
            <a:normAutofit/>
          </a:bodyPr>
          <a:lstStyle/>
          <a:p>
            <a:pPr algn="ctr" indent="0" marL="0">
              <a:buNone/>
            </a:pPr>
            <a:r>
              <a:rPr lang="en-US" sz="1050" b="1" dirty="0">
                <a:solidFill>
                  <a:srgbClr val="2F7D5B"/>
                </a:solidFill>
                <a:latin typeface="Calibri" pitchFamily="34" charset="0"/>
                <a:ea typeface="Calibri" pitchFamily="34" charset="-122"/>
                <a:cs typeface="Calibri" pitchFamily="34" charset="-120"/>
              </a:rPr>
              <a:t>DEFER</a:t>
            </a:r>
            <a:endParaRPr lang="en-US" sz="1050" dirty="0"/>
          </a:p>
        </p:txBody>
      </p:sp>
      <p:sp>
        <p:nvSpPr>
          <p:cNvPr id="25" name="Text 23"/>
          <p:cNvSpPr/>
          <p:nvPr/>
        </p:nvSpPr>
        <p:spPr>
          <a:xfrm>
            <a:off x="8595360" y="2670048"/>
            <a:ext cx="1417320" cy="365760"/>
          </a:xfrm>
          <a:prstGeom prst="rect">
            <a:avLst/>
          </a:prstGeom>
          <a:noFill/>
          <a:ln/>
        </p:spPr>
        <p:txBody>
          <a:bodyPr wrap="square" lIns="0" tIns="0" rIns="0" bIns="0" rtlCol="0" anchor="ctr">
            <a:normAutofit/>
          </a:bodyPr>
          <a:lstStyle/>
          <a:p>
            <a:pPr indent="0" marL="0">
              <a:buNone/>
            </a:pPr>
            <a:r>
              <a:rPr lang="en-US" sz="2200" b="1" dirty="0">
                <a:solidFill>
                  <a:srgbClr val="172126"/>
                </a:solidFill>
                <a:latin typeface="Calibri" pitchFamily="34" charset="0"/>
                <a:ea typeface="Calibri" pitchFamily="34" charset="-122"/>
                <a:cs typeface="Calibri" pitchFamily="34" charset="-120"/>
              </a:rPr>
              <a:t>30% fill</a:t>
            </a:r>
            <a:endParaRPr lang="en-US" sz="2200" dirty="0"/>
          </a:p>
        </p:txBody>
      </p:sp>
      <p:sp>
        <p:nvSpPr>
          <p:cNvPr id="26" name="Text 24"/>
          <p:cNvSpPr/>
          <p:nvPr/>
        </p:nvSpPr>
        <p:spPr>
          <a:xfrm>
            <a:off x="10186416" y="2670048"/>
            <a:ext cx="1097280" cy="365760"/>
          </a:xfrm>
          <a:prstGeom prst="rect">
            <a:avLst/>
          </a:prstGeom>
          <a:noFill/>
          <a:ln/>
        </p:spPr>
        <p:txBody>
          <a:bodyPr wrap="square" lIns="0" tIns="0" rIns="0" bIns="0" rtlCol="0" anchor="ctr">
            <a:normAutofit/>
          </a:bodyPr>
          <a:lstStyle/>
          <a:p>
            <a:pPr algn="r" indent="0" marL="0">
              <a:buNone/>
            </a:pPr>
            <a:r>
              <a:rPr lang="en-US" sz="1600" b="1" dirty="0">
                <a:solidFill>
                  <a:srgbClr val="172126"/>
                </a:solidFill>
                <a:latin typeface="Calibri" pitchFamily="34" charset="0"/>
                <a:ea typeface="Calibri" pitchFamily="34" charset="-122"/>
                <a:cs typeface="Calibri" pitchFamily="34" charset="-120"/>
              </a:rPr>
              <a:t>TTO 120 h</a:t>
            </a:r>
            <a:endParaRPr lang="en-US" sz="1600" dirty="0"/>
          </a:p>
        </p:txBody>
      </p:sp>
      <p:sp>
        <p:nvSpPr>
          <p:cNvPr id="27" name="Text 25"/>
          <p:cNvSpPr/>
          <p:nvPr/>
        </p:nvSpPr>
        <p:spPr>
          <a:xfrm>
            <a:off x="8595360" y="3200400"/>
            <a:ext cx="1280160" cy="256032"/>
          </a:xfrm>
          <a:prstGeom prst="rect">
            <a:avLst/>
          </a:prstGeom>
          <a:noFill/>
          <a:ln/>
        </p:spPr>
        <p:txBody>
          <a:bodyPr wrap="square" lIns="0" tIns="0" rIns="0" bIns="0" rtlCol="0" anchor="ctr">
            <a:normAutofit/>
          </a:bodyPr>
          <a:lstStyle/>
          <a:p>
            <a:pPr indent="0" marL="0">
              <a:buNone/>
            </a:pPr>
            <a:r>
              <a:rPr lang="en-US" sz="1050" b="1" spc="100" kern="0" dirty="0">
                <a:solidFill>
                  <a:srgbClr val="5F6B70"/>
                </a:solidFill>
                <a:latin typeface="Calibri" pitchFamily="34" charset="0"/>
                <a:ea typeface="Calibri" pitchFamily="34" charset="-122"/>
                <a:cs typeface="Calibri" pitchFamily="34" charset="-120"/>
              </a:rPr>
              <a:t>CONFIDENT</a:t>
            </a:r>
            <a:endParaRPr lang="en-US" sz="1050" dirty="0"/>
          </a:p>
        </p:txBody>
      </p:sp>
      <p:sp>
        <p:nvSpPr>
          <p:cNvPr id="28" name="Text 26"/>
          <p:cNvSpPr/>
          <p:nvPr/>
        </p:nvSpPr>
        <p:spPr>
          <a:xfrm>
            <a:off x="8595360" y="3675888"/>
            <a:ext cx="2788920" cy="502920"/>
          </a:xfrm>
          <a:prstGeom prst="rect">
            <a:avLst/>
          </a:prstGeom>
          <a:noFill/>
          <a:ln/>
        </p:spPr>
        <p:txBody>
          <a:bodyPr wrap="square" lIns="0" tIns="0" rIns="0" bIns="0" rtlCol="0" anchor="t">
            <a:normAutofit/>
          </a:bodyPr>
          <a:lstStyle/>
          <a:p>
            <a:pPr indent="0" marL="0">
              <a:buNone/>
            </a:pPr>
            <a:r>
              <a:rPr lang="en-US" sz="1400" dirty="0">
                <a:solidFill>
                  <a:srgbClr val="172126"/>
                </a:solidFill>
                <a:latin typeface="Calibri" pitchFamily="34" charset="0"/>
                <a:ea typeface="Calibri" pitchFamily="34" charset="-122"/>
                <a:cs typeface="Calibri" pitchFamily="34" charset="-120"/>
              </a:rPr>
              <a:t>Separate stream; waiting is cheaper</a:t>
            </a:r>
            <a:endParaRPr lang="en-US" sz="1400" dirty="0"/>
          </a:p>
        </p:txBody>
      </p:sp>
      <p:sp>
        <p:nvSpPr>
          <p:cNvPr id="29" name="Shape 27"/>
          <p:cNvSpPr/>
          <p:nvPr/>
        </p:nvSpPr>
        <p:spPr>
          <a:xfrm>
            <a:off x="621792" y="4892040"/>
            <a:ext cx="10972800" cy="1143000"/>
          </a:xfrm>
          <a:prstGeom prst="roundRect">
            <a:avLst>
              <a:gd name="adj" fmla="val 6400"/>
            </a:avLst>
          </a:prstGeom>
          <a:solidFill>
            <a:srgbClr val="171D20"/>
          </a:solidFill>
          <a:ln w="12700">
            <a:solidFill>
              <a:srgbClr val="171D20"/>
            </a:solidFill>
            <a:prstDash val="solid"/>
          </a:ln>
          <a:effectLst>
            <a:outerShdw sx="100000" sy="100000" kx="0" ky="0" algn="bl" rotWithShape="0" blurRad="19050" dist="50800" dir="2700000">
              <a:srgbClr val="000000">
                <a:alpha val="10000"/>
              </a:srgbClr>
            </a:outerShdw>
          </a:effectLst>
        </p:spPr>
      </p:sp>
      <p:sp>
        <p:nvSpPr>
          <p:cNvPr id="30" name="Text 28"/>
          <p:cNvSpPr/>
          <p:nvPr/>
        </p:nvSpPr>
        <p:spPr>
          <a:xfrm>
            <a:off x="987552" y="5239512"/>
            <a:ext cx="749808" cy="31089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DEPOT</a:t>
            </a:r>
            <a:endParaRPr lang="en-US" sz="1400" dirty="0"/>
          </a:p>
        </p:txBody>
      </p:sp>
      <p:sp>
        <p:nvSpPr>
          <p:cNvPr id="31" name="Shape 29"/>
          <p:cNvSpPr/>
          <p:nvPr/>
        </p:nvSpPr>
        <p:spPr>
          <a:xfrm>
            <a:off x="1828800" y="5394960"/>
            <a:ext cx="1051560" cy="0"/>
          </a:xfrm>
          <a:prstGeom prst="line">
            <a:avLst/>
          </a:prstGeom>
          <a:noFill/>
          <a:ln w="38100">
            <a:solidFill>
              <a:srgbClr val="21C7F6"/>
            </a:solidFill>
            <a:prstDash val="solid"/>
            <a:tailEnd type="triangle"/>
          </a:ln>
        </p:spPr>
      </p:sp>
      <p:sp>
        <p:nvSpPr>
          <p:cNvPr id="32" name="Shape 30"/>
          <p:cNvSpPr/>
          <p:nvPr/>
        </p:nvSpPr>
        <p:spPr>
          <a:xfrm>
            <a:off x="3054096" y="5138928"/>
            <a:ext cx="1417320" cy="502920"/>
          </a:xfrm>
          <a:prstGeom prst="roundRect">
            <a:avLst>
              <a:gd name="adj" fmla="val 14545"/>
            </a:avLst>
          </a:prstGeom>
          <a:solidFill>
            <a:srgbClr val="FBE9EA"/>
          </a:solidFill>
          <a:ln w="19050">
            <a:solidFill>
              <a:srgbClr val="C64045"/>
            </a:solidFill>
            <a:prstDash val="solid"/>
          </a:ln>
        </p:spPr>
      </p:sp>
      <p:sp>
        <p:nvSpPr>
          <p:cNvPr id="33" name="Text 31"/>
          <p:cNvSpPr/>
          <p:nvPr/>
        </p:nvSpPr>
        <p:spPr>
          <a:xfrm>
            <a:off x="3163824" y="5193792"/>
            <a:ext cx="1197864" cy="384048"/>
          </a:xfrm>
          <a:prstGeom prst="rect">
            <a:avLst/>
          </a:prstGeom>
          <a:noFill/>
          <a:ln/>
        </p:spPr>
        <p:txBody>
          <a:bodyPr wrap="square" lIns="0" tIns="0" rIns="0" bIns="0" rtlCol="0" anchor="ctr">
            <a:normAutofit/>
          </a:bodyPr>
          <a:lstStyle/>
          <a:p>
            <a:pPr algn="ctr" indent="0" marL="0">
              <a:buNone/>
            </a:pPr>
            <a:r>
              <a:rPr lang="en-US" sz="1250" b="1" dirty="0">
                <a:solidFill>
                  <a:srgbClr val="C64045"/>
                </a:solidFill>
                <a:latin typeface="Calibri" pitchFamily="34" charset="0"/>
                <a:ea typeface="Calibri" pitchFamily="34" charset="-122"/>
                <a:cs typeface="Calibri" pitchFamily="34" charset="-120"/>
              </a:rPr>
              <a:t>A · required</a:t>
            </a:r>
            <a:endParaRPr lang="en-US" sz="1250" dirty="0"/>
          </a:p>
        </p:txBody>
      </p:sp>
      <p:sp>
        <p:nvSpPr>
          <p:cNvPr id="34" name="Shape 32"/>
          <p:cNvSpPr/>
          <p:nvPr/>
        </p:nvSpPr>
        <p:spPr>
          <a:xfrm>
            <a:off x="4645152" y="5394960"/>
            <a:ext cx="950976" cy="0"/>
          </a:xfrm>
          <a:prstGeom prst="line">
            <a:avLst/>
          </a:prstGeom>
          <a:noFill/>
          <a:ln w="38100">
            <a:solidFill>
              <a:srgbClr val="21C7F6"/>
            </a:solidFill>
            <a:prstDash val="solid"/>
            <a:tailEnd type="triangle"/>
          </a:ln>
        </p:spPr>
      </p:sp>
      <p:sp>
        <p:nvSpPr>
          <p:cNvPr id="35" name="Shape 33"/>
          <p:cNvSpPr/>
          <p:nvPr/>
        </p:nvSpPr>
        <p:spPr>
          <a:xfrm>
            <a:off x="5760720" y="5138928"/>
            <a:ext cx="1417320" cy="502920"/>
          </a:xfrm>
          <a:prstGeom prst="roundRect">
            <a:avLst>
              <a:gd name="adj" fmla="val 14545"/>
            </a:avLst>
          </a:prstGeom>
          <a:solidFill>
            <a:srgbClr val="E7F2F8"/>
          </a:solidFill>
          <a:ln w="19050">
            <a:solidFill>
              <a:srgbClr val="00527F"/>
            </a:solidFill>
            <a:prstDash val="solid"/>
          </a:ln>
        </p:spPr>
      </p:sp>
      <p:sp>
        <p:nvSpPr>
          <p:cNvPr id="36" name="Text 34"/>
          <p:cNvSpPr/>
          <p:nvPr/>
        </p:nvSpPr>
        <p:spPr>
          <a:xfrm>
            <a:off x="5870448" y="5193792"/>
            <a:ext cx="1197864" cy="384048"/>
          </a:xfrm>
          <a:prstGeom prst="rect">
            <a:avLst/>
          </a:prstGeom>
          <a:noFill/>
          <a:ln/>
        </p:spPr>
        <p:txBody>
          <a:bodyPr wrap="square" lIns="0" tIns="0" rIns="0" bIns="0" rtlCol="0" anchor="ctr">
            <a:normAutofit/>
          </a:bodyPr>
          <a:lstStyle/>
          <a:p>
            <a:pPr algn="ctr" indent="0" marL="0">
              <a:buNone/>
            </a:pPr>
            <a:r>
              <a:rPr lang="en-US" sz="1250" b="1" dirty="0">
                <a:solidFill>
                  <a:srgbClr val="00527F"/>
                </a:solidFill>
                <a:latin typeface="Calibri" pitchFamily="34" charset="0"/>
                <a:ea typeface="Calibri" pitchFamily="34" charset="-122"/>
                <a:cs typeface="Calibri" pitchFamily="34" charset="-120"/>
              </a:rPr>
              <a:t>B · useful</a:t>
            </a:r>
            <a:endParaRPr lang="en-US" sz="1250" dirty="0"/>
          </a:p>
        </p:txBody>
      </p:sp>
      <p:sp>
        <p:nvSpPr>
          <p:cNvPr id="37" name="Shape 35"/>
          <p:cNvSpPr/>
          <p:nvPr/>
        </p:nvSpPr>
        <p:spPr>
          <a:xfrm>
            <a:off x="7342632" y="5394960"/>
            <a:ext cx="978408" cy="0"/>
          </a:xfrm>
          <a:prstGeom prst="line">
            <a:avLst/>
          </a:prstGeom>
          <a:noFill/>
          <a:ln w="38100">
            <a:solidFill>
              <a:srgbClr val="21C7F6"/>
            </a:solidFill>
            <a:prstDash val="solid"/>
            <a:tailEnd type="triangle"/>
          </a:ln>
        </p:spPr>
      </p:sp>
      <p:sp>
        <p:nvSpPr>
          <p:cNvPr id="38" name="Text 36"/>
          <p:cNvSpPr/>
          <p:nvPr/>
        </p:nvSpPr>
        <p:spPr>
          <a:xfrm>
            <a:off x="8522208" y="5239512"/>
            <a:ext cx="749808" cy="31089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DEPOT</a:t>
            </a:r>
            <a:endParaRPr lang="en-US" sz="1400" dirty="0"/>
          </a:p>
        </p:txBody>
      </p:sp>
      <p:sp>
        <p:nvSpPr>
          <p:cNvPr id="39" name="Text 37"/>
          <p:cNvSpPr/>
          <p:nvPr/>
        </p:nvSpPr>
        <p:spPr>
          <a:xfrm>
            <a:off x="9528048" y="5221224"/>
            <a:ext cx="1490472" cy="365760"/>
          </a:xfrm>
          <a:prstGeom prst="rect">
            <a:avLst/>
          </a:prstGeom>
          <a:noFill/>
          <a:ln/>
        </p:spPr>
        <p:txBody>
          <a:bodyPr wrap="square" lIns="0" tIns="0" rIns="0" bIns="0" rtlCol="0" anchor="ctr">
            <a:normAutofit/>
          </a:bodyPr>
          <a:lstStyle/>
          <a:p>
            <a:pPr algn="ctr" indent="0" marL="0">
              <a:buNone/>
            </a:pPr>
            <a:r>
              <a:rPr lang="en-US" sz="1200" b="1" dirty="0">
                <a:solidFill>
                  <a:srgbClr val="E7F2EC"/>
                </a:solidFill>
                <a:latin typeface="Calibri" pitchFamily="34" charset="0"/>
                <a:ea typeface="Calibri" pitchFamily="34" charset="-122"/>
                <a:cs typeface="Calibri" pitchFamily="34" charset="-120"/>
              </a:rPr>
              <a:t>C waits for a later batch</a:t>
            </a:r>
            <a:endParaRPr lang="en-US" sz="1200" dirty="0"/>
          </a:p>
        </p:txBody>
      </p:sp>
      <p:sp>
        <p:nvSpPr>
          <p:cNvPr id="40" name="Text 38"/>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10896"/>
            <a:ext cx="4480560" cy="228600"/>
          </a:xfrm>
          <a:prstGeom prst="rect">
            <a:avLst/>
          </a:prstGeom>
          <a:noFill/>
          <a:ln/>
        </p:spPr>
        <p:txBody>
          <a:bodyPr wrap="square" lIns="0" tIns="0" rIns="0" bIns="0" rtlCol="0" anchor="ctr">
            <a:normAutofit/>
          </a:bodyPr>
          <a:lstStyle/>
          <a:p>
            <a:pPr indent="0" marL="0">
              <a:buNone/>
            </a:pPr>
            <a:r>
              <a:rPr lang="en-US" sz="1050" b="1" spc="130" kern="0" dirty="0">
                <a:solidFill>
                  <a:srgbClr val="006DAE"/>
                </a:solidFill>
                <a:latin typeface="Calibri" pitchFamily="34" charset="0"/>
                <a:ea typeface="Calibri" pitchFamily="34" charset="-122"/>
                <a:cs typeface="Calibri" pitchFamily="34" charset="-120"/>
              </a:rPr>
              <a:t>EVIDENCE</a:t>
            </a:r>
            <a:endParaRPr lang="en-US" sz="1050" dirty="0"/>
          </a:p>
        </p:txBody>
      </p:sp>
      <p:sp>
        <p:nvSpPr>
          <p:cNvPr id="3" name="Text 1"/>
          <p:cNvSpPr/>
          <p:nvPr/>
        </p:nvSpPr>
        <p:spPr>
          <a:xfrm>
            <a:off x="566928" y="576072"/>
            <a:ext cx="10698480" cy="530352"/>
          </a:xfrm>
          <a:prstGeom prst="rect">
            <a:avLst/>
          </a:prstGeom>
          <a:noFill/>
          <a:ln/>
        </p:spPr>
        <p:txBody>
          <a:bodyPr wrap="square" lIns="0" tIns="0" rIns="0" bIns="0" rtlCol="0" anchor="t">
            <a:normAutofit/>
          </a:bodyPr>
          <a:lstStyle/>
          <a:p>
            <a:pPr indent="0" marL="0">
              <a:buNone/>
            </a:pPr>
            <a:r>
              <a:rPr lang="en-US" sz="3100" b="1" dirty="0">
                <a:solidFill>
                  <a:srgbClr val="172126"/>
                </a:solidFill>
                <a:latin typeface="Calibri" pitchFamily="34" charset="0"/>
                <a:ea typeface="Calibri" pitchFamily="34" charset="-122"/>
                <a:cs typeface="Calibri" pitchFamily="34" charset="-120"/>
              </a:rPr>
              <a:t>The current policy buys safety with more operating effort</a:t>
            </a:r>
            <a:endParaRPr lang="en-US" sz="3100" dirty="0"/>
          </a:p>
        </p:txBody>
      </p:sp>
      <p:sp>
        <p:nvSpPr>
          <p:cNvPr id="4" name="Text 2"/>
          <p:cNvSpPr/>
          <p:nvPr/>
        </p:nvSpPr>
        <p:spPr>
          <a:xfrm>
            <a:off x="585216" y="1115568"/>
            <a:ext cx="10561320" cy="384048"/>
          </a:xfrm>
          <a:prstGeom prst="rect">
            <a:avLst/>
          </a:prstGeom>
          <a:noFill/>
          <a:ln/>
        </p:spPr>
        <p:txBody>
          <a:bodyPr wrap="square" lIns="0" tIns="0" rIns="0" bIns="0" rtlCol="0" anchor="t">
            <a:normAutofit/>
          </a:bodyPr>
          <a:lstStyle/>
          <a:p>
            <a:pPr indent="0" marL="0">
              <a:buNone/>
            </a:pPr>
            <a:r>
              <a:rPr lang="en-US" sz="1400" dirty="0">
                <a:solidFill>
                  <a:srgbClr val="5F6B70"/>
                </a:solidFill>
                <a:latin typeface="Calibri" pitchFamily="34" charset="0"/>
                <a:ea typeface="Calibri" pitchFamily="34" charset="-122"/>
                <a:cs typeface="Calibri" pitchFamily="34" charset="-120"/>
              </a:rPr>
              <a:t>Material-aware synthetic comparison: 11 scenarios × 30 matched pairs × 2 policies = 660 runs.</a:t>
            </a:r>
            <a:endParaRPr lang="en-US" sz="1400" dirty="0"/>
          </a:p>
        </p:txBody>
      </p:sp>
      <p:sp>
        <p:nvSpPr>
          <p:cNvPr id="5" name="Shape 3"/>
          <p:cNvSpPr/>
          <p:nvPr/>
        </p:nvSpPr>
        <p:spPr>
          <a:xfrm>
            <a:off x="621792" y="1737360"/>
            <a:ext cx="5303520" cy="4343400"/>
          </a:xfrm>
          <a:prstGeom prst="roundRect">
            <a:avLst>
              <a:gd name="adj" fmla="val 1684"/>
            </a:avLst>
          </a:prstGeom>
          <a:solidFill>
            <a:srgbClr val="FFFFFF"/>
          </a:solidFill>
          <a:ln w="12700">
            <a:solidFill>
              <a:srgbClr val="D7DDDC"/>
            </a:solidFill>
            <a:prstDash val="solid"/>
          </a:ln>
          <a:effectLst>
            <a:outerShdw sx="100000" sy="100000" kx="0" ky="0" algn="bl" rotWithShape="0" blurRad="19050" dist="50800" dir="2700000">
              <a:srgbClr val="000000">
                <a:alpha val="10000"/>
              </a:srgbClr>
            </a:outerShdw>
          </a:effectLst>
        </p:spPr>
      </p:sp>
      <p:graphicFrame>
        <p:nvGraphicFramePr>
          <p:cNvPr id="6" name="Chart 0" descr=""/>
          <p:cNvGraphicFramePr/>
          <p:nvPr/>
        </p:nvGraphicFramePr>
        <p:xfrm>
          <a:off x="877824" y="2048256"/>
          <a:ext cx="4800600" cy="3401568"/>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1097280" y="5504688"/>
            <a:ext cx="4343400" cy="329184"/>
          </a:xfrm>
          <a:prstGeom prst="rect">
            <a:avLst/>
          </a:prstGeom>
          <a:noFill/>
          <a:ln/>
        </p:spPr>
        <p:txBody>
          <a:bodyPr wrap="square" lIns="0" tIns="0" rIns="0" bIns="0" rtlCol="0" anchor="ctr">
            <a:normAutofit/>
          </a:bodyPr>
          <a:lstStyle/>
          <a:p>
            <a:pPr algn="ctr" indent="0" marL="0">
              <a:buNone/>
            </a:pPr>
            <a:r>
              <a:rPr lang="en-US" sz="1300" b="1" dirty="0">
                <a:solidFill>
                  <a:srgbClr val="C64045"/>
                </a:solidFill>
                <a:latin typeface="Calibri" pitchFamily="34" charset="0"/>
                <a:ea typeface="Calibri" pitchFamily="34" charset="-122"/>
                <a:cs typeface="Calibri" pitchFamily="34" charset="-120"/>
              </a:rPr>
              <a:t>Selectivity improves, but total operating effort rises.</a:t>
            </a:r>
            <a:endParaRPr lang="en-US" sz="1300" dirty="0"/>
          </a:p>
        </p:txBody>
      </p:sp>
      <p:sp>
        <p:nvSpPr>
          <p:cNvPr id="8" name="Shape 5"/>
          <p:cNvSpPr/>
          <p:nvPr/>
        </p:nvSpPr>
        <p:spPr>
          <a:xfrm>
            <a:off x="6236208" y="1737360"/>
            <a:ext cx="5330952" cy="4343400"/>
          </a:xfrm>
          <a:prstGeom prst="roundRect">
            <a:avLst>
              <a:gd name="adj" fmla="val 1684"/>
            </a:avLst>
          </a:prstGeom>
          <a:solidFill>
            <a:srgbClr val="171D20"/>
          </a:solidFill>
          <a:ln w="12700">
            <a:solidFill>
              <a:srgbClr val="171D20"/>
            </a:solidFill>
            <a:prstDash val="solid"/>
          </a:ln>
          <a:effectLst>
            <a:outerShdw sx="100000" sy="100000" kx="0" ky="0" algn="bl" rotWithShape="0" blurRad="19050" dist="50800" dir="2700000">
              <a:srgbClr val="000000">
                <a:alpha val="10000"/>
              </a:srgbClr>
            </a:outerShdw>
          </a:effectLst>
        </p:spPr>
      </p:sp>
      <p:sp>
        <p:nvSpPr>
          <p:cNvPr id="9" name="Text 6"/>
          <p:cNvSpPr/>
          <p:nvPr/>
        </p:nvSpPr>
        <p:spPr>
          <a:xfrm>
            <a:off x="6547104" y="2048256"/>
            <a:ext cx="2148840" cy="274320"/>
          </a:xfrm>
          <a:prstGeom prst="rect">
            <a:avLst/>
          </a:prstGeom>
          <a:noFill/>
          <a:ln/>
        </p:spPr>
        <p:txBody>
          <a:bodyPr wrap="square" lIns="0" tIns="0" rIns="0" bIns="0" rtlCol="0" anchor="ctr">
            <a:normAutofit/>
          </a:bodyPr>
          <a:lstStyle/>
          <a:p>
            <a:pPr indent="0" marL="0">
              <a:buNone/>
            </a:pPr>
            <a:r>
              <a:rPr lang="en-US" sz="1200" b="1" spc="100" kern="0" dirty="0">
                <a:solidFill>
                  <a:srgbClr val="21C7F6"/>
                </a:solidFill>
                <a:latin typeface="Calibri" pitchFamily="34" charset="0"/>
                <a:ea typeface="Calibri" pitchFamily="34" charset="-122"/>
                <a:cs typeface="Calibri" pitchFamily="34" charset="-120"/>
              </a:rPr>
              <a:t>NORMAL DEMAND</a:t>
            </a:r>
            <a:endParaRPr lang="en-US" sz="1200" dirty="0"/>
          </a:p>
        </p:txBody>
      </p:sp>
      <p:sp>
        <p:nvSpPr>
          <p:cNvPr id="10" name="Text 7"/>
          <p:cNvSpPr/>
          <p:nvPr/>
        </p:nvSpPr>
        <p:spPr>
          <a:xfrm>
            <a:off x="6565392" y="2587752"/>
            <a:ext cx="2377440" cy="365760"/>
          </a:xfrm>
          <a:prstGeom prst="rect">
            <a:avLst/>
          </a:prstGeom>
          <a:noFill/>
          <a:ln/>
        </p:spPr>
        <p:txBody>
          <a:bodyPr wrap="square" lIns="0" tIns="0" rIns="0" bIns="0" rtlCol="0" anchor="ctr">
            <a:normAutofit/>
          </a:bodyPr>
          <a:lstStyle/>
          <a:p>
            <a:pPr indent="0" marL="0">
              <a:buNone/>
            </a:pPr>
            <a:r>
              <a:rPr lang="en-US" sz="2200" b="1" dirty="0">
                <a:solidFill>
                  <a:srgbClr val="E7F2EC"/>
                </a:solidFill>
                <a:latin typeface="Calibri" pitchFamily="34" charset="0"/>
                <a:ea typeface="Calibri" pitchFamily="34" charset="-122"/>
                <a:cs typeface="Calibri" pitchFamily="34" charset="-120"/>
              </a:rPr>
              <a:t>10.33 → 3.37</a:t>
            </a:r>
            <a:endParaRPr lang="en-US" sz="2200" dirty="0"/>
          </a:p>
        </p:txBody>
      </p:sp>
      <p:sp>
        <p:nvSpPr>
          <p:cNvPr id="11" name="Text 8"/>
          <p:cNvSpPr/>
          <p:nvPr/>
        </p:nvSpPr>
        <p:spPr>
          <a:xfrm>
            <a:off x="9125712" y="2615184"/>
            <a:ext cx="1691640" cy="310896"/>
          </a:xfrm>
          <a:prstGeom prst="rect">
            <a:avLst/>
          </a:prstGeom>
          <a:noFill/>
          <a:ln/>
        </p:spPr>
        <p:txBody>
          <a:bodyPr wrap="square" lIns="0" tIns="0" rIns="0" bIns="0" rtlCol="0" anchor="ctr">
            <a:normAutofit/>
          </a:bodyPr>
          <a:lstStyle/>
          <a:p>
            <a:pPr indent="0" marL="0">
              <a:buNone/>
            </a:pPr>
            <a:r>
              <a:rPr lang="en-US" sz="1250" dirty="0">
                <a:solidFill>
                  <a:srgbClr val="FFFFFF"/>
                </a:solidFill>
                <a:latin typeface="Calibri" pitchFamily="34" charset="0"/>
                <a:ea typeface="Calibri" pitchFamily="34" charset="-122"/>
                <a:cs typeface="Calibri" pitchFamily="34" charset="-120"/>
              </a:rPr>
              <a:t>overflow incidents</a:t>
            </a:r>
            <a:endParaRPr lang="en-US" sz="1250" dirty="0"/>
          </a:p>
        </p:txBody>
      </p:sp>
      <p:sp>
        <p:nvSpPr>
          <p:cNvPr id="12" name="Text 9"/>
          <p:cNvSpPr/>
          <p:nvPr/>
        </p:nvSpPr>
        <p:spPr>
          <a:xfrm>
            <a:off x="6565392" y="3282696"/>
            <a:ext cx="2377440" cy="365760"/>
          </a:xfrm>
          <a:prstGeom prst="rect">
            <a:avLst/>
          </a:prstGeom>
          <a:noFill/>
          <a:ln/>
        </p:spPr>
        <p:txBody>
          <a:bodyPr wrap="square" lIns="0" tIns="0" rIns="0" bIns="0" rtlCol="0" anchor="ctr">
            <a:normAutofit/>
          </a:bodyPr>
          <a:lstStyle/>
          <a:p>
            <a:pPr indent="0" marL="0">
              <a:buNone/>
            </a:pPr>
            <a:r>
              <a:rPr lang="en-US" sz="2200" b="1" dirty="0">
                <a:solidFill>
                  <a:srgbClr val="E7F2EC"/>
                </a:solidFill>
                <a:latin typeface="Calibri" pitchFamily="34" charset="0"/>
                <a:ea typeface="Calibri" pitchFamily="34" charset="-122"/>
                <a:cs typeface="Calibri" pitchFamily="34" charset="-120"/>
              </a:rPr>
              <a:t>3953.2 → 117.9 kg</a:t>
            </a:r>
            <a:endParaRPr lang="en-US" sz="2200" dirty="0"/>
          </a:p>
        </p:txBody>
      </p:sp>
      <p:sp>
        <p:nvSpPr>
          <p:cNvPr id="13" name="Text 10"/>
          <p:cNvSpPr/>
          <p:nvPr/>
        </p:nvSpPr>
        <p:spPr>
          <a:xfrm>
            <a:off x="9125712" y="3310128"/>
            <a:ext cx="1691640" cy="310896"/>
          </a:xfrm>
          <a:prstGeom prst="rect">
            <a:avLst/>
          </a:prstGeom>
          <a:noFill/>
          <a:ln/>
        </p:spPr>
        <p:txBody>
          <a:bodyPr wrap="square" lIns="0" tIns="0" rIns="0" bIns="0" rtlCol="0" anchor="ctr">
            <a:normAutofit/>
          </a:bodyPr>
          <a:lstStyle/>
          <a:p>
            <a:pPr indent="0" marL="0">
              <a:buNone/>
            </a:pPr>
            <a:r>
              <a:rPr lang="en-US" sz="1250" dirty="0">
                <a:solidFill>
                  <a:srgbClr val="FFFFFF"/>
                </a:solidFill>
                <a:latin typeface="Calibri" pitchFamily="34" charset="0"/>
                <a:ea typeface="Calibri" pitchFamily="34" charset="-122"/>
                <a:cs typeface="Calibri" pitchFamily="34" charset="-120"/>
              </a:rPr>
              <a:t>spilled mass</a:t>
            </a:r>
            <a:endParaRPr lang="en-US" sz="1250" dirty="0"/>
          </a:p>
        </p:txBody>
      </p:sp>
      <p:sp>
        <p:nvSpPr>
          <p:cNvPr id="14" name="Text 11"/>
          <p:cNvSpPr/>
          <p:nvPr/>
        </p:nvSpPr>
        <p:spPr>
          <a:xfrm>
            <a:off x="6565392" y="3977640"/>
            <a:ext cx="2377440" cy="365760"/>
          </a:xfrm>
          <a:prstGeom prst="rect">
            <a:avLst/>
          </a:prstGeom>
          <a:noFill/>
          <a:ln/>
        </p:spPr>
        <p:txBody>
          <a:bodyPr wrap="square" lIns="0" tIns="0" rIns="0" bIns="0" rtlCol="0" anchor="ctr">
            <a:normAutofit/>
          </a:bodyPr>
          <a:lstStyle/>
          <a:p>
            <a:pPr indent="0" marL="0">
              <a:buNone/>
            </a:pPr>
            <a:r>
              <a:rPr lang="en-US" sz="2200" b="1" dirty="0">
                <a:solidFill>
                  <a:srgbClr val="FBE9EA"/>
                </a:solidFill>
                <a:latin typeface="Calibri" pitchFamily="34" charset="0"/>
                <a:ea typeface="Calibri" pitchFamily="34" charset="-122"/>
                <a:cs typeface="Calibri" pitchFamily="34" charset="-120"/>
              </a:rPr>
              <a:t>690 → 1233 km</a:t>
            </a:r>
            <a:endParaRPr lang="en-US" sz="2200" dirty="0"/>
          </a:p>
        </p:txBody>
      </p:sp>
      <p:sp>
        <p:nvSpPr>
          <p:cNvPr id="15" name="Text 12"/>
          <p:cNvSpPr/>
          <p:nvPr/>
        </p:nvSpPr>
        <p:spPr>
          <a:xfrm>
            <a:off x="9125712" y="4005072"/>
            <a:ext cx="1691640" cy="310896"/>
          </a:xfrm>
          <a:prstGeom prst="rect">
            <a:avLst/>
          </a:prstGeom>
          <a:noFill/>
          <a:ln/>
        </p:spPr>
        <p:txBody>
          <a:bodyPr wrap="square" lIns="0" tIns="0" rIns="0" bIns="0" rtlCol="0" anchor="ctr">
            <a:normAutofit/>
          </a:bodyPr>
          <a:lstStyle/>
          <a:p>
            <a:pPr indent="0" marL="0">
              <a:buNone/>
            </a:pPr>
            <a:r>
              <a:rPr lang="en-US" sz="1250" dirty="0">
                <a:solidFill>
                  <a:srgbClr val="FFFFFF"/>
                </a:solidFill>
                <a:latin typeface="Calibri" pitchFamily="34" charset="0"/>
                <a:ea typeface="Calibri" pitchFamily="34" charset="-122"/>
                <a:cs typeface="Calibri" pitchFamily="34" charset="-120"/>
              </a:rPr>
              <a:t>road distance</a:t>
            </a:r>
            <a:endParaRPr lang="en-US" sz="1250" dirty="0"/>
          </a:p>
        </p:txBody>
      </p:sp>
      <p:sp>
        <p:nvSpPr>
          <p:cNvPr id="16" name="Text 13"/>
          <p:cNvSpPr/>
          <p:nvPr/>
        </p:nvSpPr>
        <p:spPr>
          <a:xfrm>
            <a:off x="6565392" y="4672584"/>
            <a:ext cx="2377440" cy="365760"/>
          </a:xfrm>
          <a:prstGeom prst="rect">
            <a:avLst/>
          </a:prstGeom>
          <a:noFill/>
          <a:ln/>
        </p:spPr>
        <p:txBody>
          <a:bodyPr wrap="square" lIns="0" tIns="0" rIns="0" bIns="0" rtlCol="0" anchor="ctr">
            <a:normAutofit/>
          </a:bodyPr>
          <a:lstStyle/>
          <a:p>
            <a:pPr indent="0" marL="0">
              <a:buNone/>
            </a:pPr>
            <a:r>
              <a:rPr lang="en-US" sz="2200" b="1" dirty="0">
                <a:solidFill>
                  <a:srgbClr val="FBE9EA"/>
                </a:solidFill>
                <a:latin typeface="Calibri" pitchFamily="34" charset="0"/>
                <a:ea typeface="Calibri" pitchFamily="34" charset="-122"/>
                <a:cs typeface="Calibri" pitchFamily="34" charset="-120"/>
              </a:rPr>
              <a:t>489 → 759 L</a:t>
            </a:r>
            <a:endParaRPr lang="en-US" sz="2200" dirty="0"/>
          </a:p>
        </p:txBody>
      </p:sp>
      <p:sp>
        <p:nvSpPr>
          <p:cNvPr id="17" name="Text 14"/>
          <p:cNvSpPr/>
          <p:nvPr/>
        </p:nvSpPr>
        <p:spPr>
          <a:xfrm>
            <a:off x="9125712" y="4700016"/>
            <a:ext cx="1691640" cy="310896"/>
          </a:xfrm>
          <a:prstGeom prst="rect">
            <a:avLst/>
          </a:prstGeom>
          <a:noFill/>
          <a:ln/>
        </p:spPr>
        <p:txBody>
          <a:bodyPr wrap="square" lIns="0" tIns="0" rIns="0" bIns="0" rtlCol="0" anchor="ctr">
            <a:normAutofit/>
          </a:bodyPr>
          <a:lstStyle/>
          <a:p>
            <a:pPr indent="0" marL="0">
              <a:buNone/>
            </a:pPr>
            <a:r>
              <a:rPr lang="en-US" sz="1250" dirty="0">
                <a:solidFill>
                  <a:srgbClr val="FFFFFF"/>
                </a:solidFill>
                <a:latin typeface="Calibri" pitchFamily="34" charset="0"/>
                <a:ea typeface="Calibri" pitchFamily="34" charset="-122"/>
                <a:cs typeface="Calibri" pitchFamily="34" charset="-120"/>
              </a:rPr>
              <a:t>fuel</a:t>
            </a:r>
            <a:endParaRPr lang="en-US" sz="1250" dirty="0"/>
          </a:p>
        </p:txBody>
      </p:sp>
      <p:sp>
        <p:nvSpPr>
          <p:cNvPr id="18" name="Shape 15"/>
          <p:cNvSpPr/>
          <p:nvPr/>
        </p:nvSpPr>
        <p:spPr>
          <a:xfrm>
            <a:off x="6565392" y="5440680"/>
            <a:ext cx="4407408" cy="384048"/>
          </a:xfrm>
          <a:prstGeom prst="roundRect">
            <a:avLst>
              <a:gd name="adj" fmla="val 11905"/>
            </a:avLst>
          </a:prstGeom>
          <a:solidFill>
            <a:srgbClr val="242C30"/>
          </a:solidFill>
          <a:ln w="12700">
            <a:solidFill>
              <a:srgbClr val="42535B"/>
            </a:solidFill>
            <a:prstDash val="solid"/>
          </a:ln>
        </p:spPr>
      </p:sp>
      <p:sp>
        <p:nvSpPr>
          <p:cNvPr id="19" name="Text 16"/>
          <p:cNvSpPr/>
          <p:nvPr/>
        </p:nvSpPr>
        <p:spPr>
          <a:xfrm>
            <a:off x="6702552" y="5477256"/>
            <a:ext cx="4133088" cy="292608"/>
          </a:xfrm>
          <a:prstGeom prst="rect">
            <a:avLst/>
          </a:prstGeom>
          <a:noFill/>
          <a:ln/>
        </p:spPr>
        <p:txBody>
          <a:bodyPr wrap="square" lIns="0" tIns="0" rIns="0" bIns="0" rtlCol="0" anchor="ctr">
            <a:normAutofit/>
          </a:bodyPr>
          <a:lstStyle/>
          <a:p>
            <a:pPr algn="ctr" indent="0" marL="0">
              <a:buNone/>
            </a:pPr>
            <a:r>
              <a:rPr lang="en-US" sz="1250" b="1" dirty="0">
                <a:solidFill>
                  <a:srgbClr val="FFF3DA"/>
                </a:solidFill>
                <a:latin typeface="Calibri" pitchFamily="34" charset="0"/>
                <a:ea typeface="Calibri" pitchFamily="34" charset="-122"/>
                <a:cs typeface="Calibri" pitchFamily="34" charset="-120"/>
              </a:rPr>
              <a:t>Decision: fixed fallback + dynamic shadow mode</a:t>
            </a:r>
            <a:endParaRPr lang="en-US" sz="1250" dirty="0"/>
          </a:p>
        </p:txBody>
      </p:sp>
      <p:sp>
        <p:nvSpPr>
          <p:cNvPr id="20" name="Text 17"/>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5F6B70"/>
                </a:solidFill>
                <a:latin typeface="Calibri" pitchFamily="34" charset="0"/>
                <a:ea typeface="Calibri" pitchFamily="34" charset="-122"/>
                <a:cs typeface="Calibri" pitchFamily="34" charset="-120"/>
              </a:rPr>
              <a:t>BinSight  |  routing decision support</a:t>
            </a:r>
            <a:endParaRPr lang="en-US" sz="900" dirty="0"/>
          </a:p>
        </p:txBody>
      </p:sp>
      <p:sp>
        <p:nvSpPr>
          <p:cNvPr id="25" name="Slide Number Placeholder 0"/>
          <p:cNvSpPr>
            <a:spLocks noGrp="1"/>
          </p:cNvSpPr>
          <p:nvPr>
            <p:ph type="sldNum" sz="quarter" idx="4294967295"/>
          </p:nvPr>
        </p:nvSpPr>
        <p:spPr>
          <a:xfrm>
            <a:off x="11475720" y="6473952"/>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F6B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D20"/>
        </a:solidFill>
      </p:bgPr>
    </p:bg>
    <p:spTree>
      <p:nvGrpSpPr>
        <p:cNvPr id="1" name=""/>
        <p:cNvGrpSpPr/>
        <p:nvPr/>
      </p:nvGrpSpPr>
      <p:grpSpPr>
        <a:xfrm>
          <a:off x="0" y="0"/>
          <a:ext cx="0" cy="0"/>
          <a:chOff x="0" y="0"/>
          <a:chExt cx="0" cy="0"/>
        </a:xfrm>
      </p:grpSpPr>
      <p:sp>
        <p:nvSpPr>
          <p:cNvPr id="2" name="Text 0"/>
          <p:cNvSpPr/>
          <p:nvPr/>
        </p:nvSpPr>
        <p:spPr>
          <a:xfrm>
            <a:off x="713232" y="685800"/>
            <a:ext cx="2926080" cy="310896"/>
          </a:xfrm>
          <a:prstGeom prst="rect">
            <a:avLst/>
          </a:prstGeom>
          <a:noFill/>
          <a:ln/>
        </p:spPr>
        <p:txBody>
          <a:bodyPr wrap="square" lIns="0" tIns="0" rIns="0" bIns="0" rtlCol="0" anchor="ctr">
            <a:normAutofit/>
          </a:bodyPr>
          <a:lstStyle/>
          <a:p>
            <a:pPr indent="0" marL="0">
              <a:buNone/>
            </a:pPr>
            <a:r>
              <a:rPr lang="en-US" sz="1200" b="1" spc="200" kern="0" dirty="0">
                <a:solidFill>
                  <a:srgbClr val="21C7F6"/>
                </a:solidFill>
                <a:latin typeface="Calibri" pitchFamily="34" charset="0"/>
                <a:ea typeface="Calibri" pitchFamily="34" charset="-122"/>
                <a:cs typeface="Calibri" pitchFamily="34" charset="-120"/>
              </a:rPr>
              <a:t>THE ROUTING ANSWER</a:t>
            </a:r>
            <a:endParaRPr lang="en-US" sz="1200" dirty="0"/>
          </a:p>
        </p:txBody>
      </p:sp>
      <p:sp>
        <p:nvSpPr>
          <p:cNvPr id="3" name="Text 1"/>
          <p:cNvSpPr/>
          <p:nvPr/>
        </p:nvSpPr>
        <p:spPr>
          <a:xfrm>
            <a:off x="713232" y="1298448"/>
            <a:ext cx="6400800" cy="2194560"/>
          </a:xfrm>
          <a:prstGeom prst="rect">
            <a:avLst/>
          </a:prstGeom>
          <a:noFill/>
          <a:ln/>
        </p:spPr>
        <p:txBody>
          <a:bodyPr wrap="square" lIns="0" tIns="0" rIns="0" bIns="0" rtlCol="0" anchor="t">
            <a:normAutofit/>
          </a:bodyPr>
          <a:lstStyle/>
          <a:p>
            <a:pPr indent="0" marL="0">
              <a:buNone/>
            </a:pPr>
            <a:r>
              <a:rPr lang="en-US" sz="4200" b="1" dirty="0">
                <a:solidFill>
                  <a:srgbClr val="FFFFFF"/>
                </a:solidFill>
                <a:latin typeface="Calibri" pitchFamily="34" charset="0"/>
                <a:ea typeface="Calibri" pitchFamily="34" charset="-122"/>
                <a:cs typeface="Calibri" pitchFamily="34" charset="-120"/>
              </a:rPr>
              <a:t>Collect only when</a:t>
            </a:r>
            <a:endParaRPr lang="en-US" sz="4200" dirty="0"/>
          </a:p>
          <a:p>
            <a:pPr indent="0" marL="0">
              <a:buNone/>
            </a:pPr>
            <a:r>
              <a:rPr lang="en-US" sz="4200" b="1" dirty="0">
                <a:solidFill>
                  <a:srgbClr val="FFFFFF"/>
                </a:solidFill>
                <a:latin typeface="Calibri" pitchFamily="34" charset="0"/>
                <a:ea typeface="Calibri" pitchFamily="34" charset="-122"/>
                <a:cs typeface="Calibri" pitchFamily="34" charset="-120"/>
              </a:rPr>
              <a:t>safety or trip value</a:t>
            </a:r>
            <a:endParaRPr lang="en-US" sz="4200" dirty="0"/>
          </a:p>
          <a:p>
            <a:pPr indent="0" marL="0">
              <a:buNone/>
            </a:pPr>
            <a:r>
              <a:rPr lang="en-US" sz="4200" b="1" dirty="0">
                <a:solidFill>
                  <a:srgbClr val="FFFFFF"/>
                </a:solidFill>
                <a:latin typeface="Calibri" pitchFamily="34" charset="0"/>
                <a:ea typeface="Calibri" pitchFamily="34" charset="-122"/>
                <a:cs typeface="Calibri" pitchFamily="34" charset="-120"/>
              </a:rPr>
              <a:t>justifies the route.</a:t>
            </a:r>
            <a:endParaRPr lang="en-US" sz="4200" dirty="0"/>
          </a:p>
        </p:txBody>
      </p:sp>
      <p:sp>
        <p:nvSpPr>
          <p:cNvPr id="4" name="Shape 2"/>
          <p:cNvSpPr/>
          <p:nvPr/>
        </p:nvSpPr>
        <p:spPr>
          <a:xfrm>
            <a:off x="731520" y="4224528"/>
            <a:ext cx="475488" cy="475488"/>
          </a:xfrm>
          <a:prstGeom prst="ellipse">
            <a:avLst/>
          </a:prstGeom>
          <a:solidFill>
            <a:srgbClr val="C64045"/>
          </a:solidFill>
          <a:ln w="12700">
            <a:solidFill>
              <a:srgbClr val="C64045"/>
            </a:solidFill>
            <a:prstDash val="solid"/>
          </a:ln>
        </p:spPr>
      </p:sp>
      <p:sp>
        <p:nvSpPr>
          <p:cNvPr id="5" name="Text 3"/>
          <p:cNvSpPr/>
          <p:nvPr/>
        </p:nvSpPr>
        <p:spPr>
          <a:xfrm>
            <a:off x="731520" y="4242816"/>
            <a:ext cx="475488" cy="4114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89888" y="4151376"/>
            <a:ext cx="1783080"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Protect</a:t>
            </a:r>
            <a:endParaRPr lang="en-US" sz="1600" dirty="0"/>
          </a:p>
        </p:txBody>
      </p:sp>
      <p:sp>
        <p:nvSpPr>
          <p:cNvPr id="7" name="Text 5"/>
          <p:cNvSpPr/>
          <p:nvPr/>
        </p:nvSpPr>
        <p:spPr>
          <a:xfrm>
            <a:off x="1389888" y="4553712"/>
            <a:ext cx="1783080" cy="621792"/>
          </a:xfrm>
          <a:prstGeom prst="rect">
            <a:avLst/>
          </a:prstGeom>
          <a:noFill/>
          <a:ln/>
        </p:spPr>
        <p:txBody>
          <a:bodyPr wrap="square" lIns="0" tIns="0" rIns="0" bIns="0" rtlCol="0" anchor="t">
            <a:normAutofit/>
          </a:bodyPr>
          <a:lstStyle/>
          <a:p>
            <a:pPr indent="0" marL="0">
              <a:buNone/>
            </a:pPr>
            <a:r>
              <a:rPr lang="en-US" sz="1250" dirty="0">
                <a:solidFill>
                  <a:srgbClr val="BFD0D8"/>
                </a:solidFill>
                <a:latin typeface="Calibri" pitchFamily="34" charset="0"/>
                <a:ea typeface="Calibri" pitchFamily="34" charset="-122"/>
                <a:cs typeface="Calibri" pitchFamily="34" charset="-120"/>
              </a:rPr>
              <a:t>Mandatory overflow risk comes first</a:t>
            </a:r>
            <a:endParaRPr lang="en-US" sz="1250" dirty="0"/>
          </a:p>
        </p:txBody>
      </p:sp>
      <p:sp>
        <p:nvSpPr>
          <p:cNvPr id="8" name="Shape 6"/>
          <p:cNvSpPr/>
          <p:nvPr/>
        </p:nvSpPr>
        <p:spPr>
          <a:xfrm>
            <a:off x="3547872" y="4224528"/>
            <a:ext cx="475488" cy="475488"/>
          </a:xfrm>
          <a:prstGeom prst="ellipse">
            <a:avLst/>
          </a:prstGeom>
          <a:solidFill>
            <a:srgbClr val="D99A24"/>
          </a:solidFill>
          <a:ln w="12700">
            <a:solidFill>
              <a:srgbClr val="D99A24"/>
            </a:solidFill>
            <a:prstDash val="solid"/>
          </a:ln>
        </p:spPr>
      </p:sp>
      <p:sp>
        <p:nvSpPr>
          <p:cNvPr id="9" name="Text 7"/>
          <p:cNvSpPr/>
          <p:nvPr/>
        </p:nvSpPr>
        <p:spPr>
          <a:xfrm>
            <a:off x="3547872" y="4242816"/>
            <a:ext cx="475488" cy="4114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4206240" y="4151376"/>
            <a:ext cx="1783080"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Consolidate</a:t>
            </a:r>
            <a:endParaRPr lang="en-US" sz="1600" dirty="0"/>
          </a:p>
        </p:txBody>
      </p:sp>
      <p:sp>
        <p:nvSpPr>
          <p:cNvPr id="11" name="Text 9"/>
          <p:cNvSpPr/>
          <p:nvPr/>
        </p:nvSpPr>
        <p:spPr>
          <a:xfrm>
            <a:off x="4206240" y="4553712"/>
            <a:ext cx="1783080" cy="621792"/>
          </a:xfrm>
          <a:prstGeom prst="rect">
            <a:avLst/>
          </a:prstGeom>
          <a:noFill/>
          <a:ln/>
        </p:spPr>
        <p:txBody>
          <a:bodyPr wrap="square" lIns="0" tIns="0" rIns="0" bIns="0" rtlCol="0" anchor="t">
            <a:normAutofit/>
          </a:bodyPr>
          <a:lstStyle/>
          <a:p>
            <a:pPr indent="0" marL="0">
              <a:buNone/>
            </a:pPr>
            <a:r>
              <a:rPr lang="en-US" sz="1250" dirty="0">
                <a:solidFill>
                  <a:srgbClr val="BFD0D8"/>
                </a:solidFill>
                <a:latin typeface="Calibri" pitchFamily="34" charset="0"/>
                <a:ea typeface="Calibri" pitchFamily="34" charset="-122"/>
                <a:cs typeface="Calibri" pitchFamily="34" charset="-120"/>
              </a:rPr>
              <a:t>Optional bins join only when useful</a:t>
            </a:r>
            <a:endParaRPr lang="en-US" sz="1250" dirty="0"/>
          </a:p>
        </p:txBody>
      </p:sp>
      <p:sp>
        <p:nvSpPr>
          <p:cNvPr id="12" name="Shape 10"/>
          <p:cNvSpPr/>
          <p:nvPr/>
        </p:nvSpPr>
        <p:spPr>
          <a:xfrm>
            <a:off x="6364224" y="4224528"/>
            <a:ext cx="475488" cy="475488"/>
          </a:xfrm>
          <a:prstGeom prst="ellipse">
            <a:avLst/>
          </a:prstGeom>
          <a:solidFill>
            <a:srgbClr val="287F83"/>
          </a:solidFill>
          <a:ln w="12700">
            <a:solidFill>
              <a:srgbClr val="287F83"/>
            </a:solidFill>
            <a:prstDash val="solid"/>
          </a:ln>
        </p:spPr>
      </p:sp>
      <p:sp>
        <p:nvSpPr>
          <p:cNvPr id="13" name="Text 11"/>
          <p:cNvSpPr/>
          <p:nvPr/>
        </p:nvSpPr>
        <p:spPr>
          <a:xfrm>
            <a:off x="6364224" y="4242816"/>
            <a:ext cx="475488" cy="4114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7022592" y="4151376"/>
            <a:ext cx="1783080"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Constrain</a:t>
            </a:r>
            <a:endParaRPr lang="en-US" sz="1600" dirty="0"/>
          </a:p>
        </p:txBody>
      </p:sp>
      <p:sp>
        <p:nvSpPr>
          <p:cNvPr id="15" name="Text 13"/>
          <p:cNvSpPr/>
          <p:nvPr/>
        </p:nvSpPr>
        <p:spPr>
          <a:xfrm>
            <a:off x="7022592" y="4553712"/>
            <a:ext cx="1783080" cy="621792"/>
          </a:xfrm>
          <a:prstGeom prst="rect">
            <a:avLst/>
          </a:prstGeom>
          <a:noFill/>
          <a:ln/>
        </p:spPr>
        <p:txBody>
          <a:bodyPr wrap="square" lIns="0" tIns="0" rIns="0" bIns="0" rtlCol="0" anchor="t">
            <a:normAutofit/>
          </a:bodyPr>
          <a:lstStyle/>
          <a:p>
            <a:pPr indent="0" marL="0">
              <a:buNone/>
            </a:pPr>
            <a:r>
              <a:rPr lang="en-US" sz="1250" dirty="0">
                <a:solidFill>
                  <a:srgbClr val="BFD0D8"/>
                </a:solidFill>
                <a:latin typeface="Calibri" pitchFamily="34" charset="0"/>
                <a:ea typeface="Calibri" pitchFamily="34" charset="-122"/>
                <a:cs typeface="Calibri" pitchFamily="34" charset="-120"/>
              </a:rPr>
              <a:t>Capacity, time and waste streams stay feasible</a:t>
            </a:r>
            <a:endParaRPr lang="en-US" sz="1250" dirty="0"/>
          </a:p>
        </p:txBody>
      </p:sp>
      <p:sp>
        <p:nvSpPr>
          <p:cNvPr id="16" name="Shape 14"/>
          <p:cNvSpPr/>
          <p:nvPr/>
        </p:nvSpPr>
        <p:spPr>
          <a:xfrm>
            <a:off x="9180576" y="4224528"/>
            <a:ext cx="475488" cy="475488"/>
          </a:xfrm>
          <a:prstGeom prst="ellipse">
            <a:avLst/>
          </a:prstGeom>
          <a:solidFill>
            <a:srgbClr val="2F7D5B"/>
          </a:solidFill>
          <a:ln w="12700">
            <a:solidFill>
              <a:srgbClr val="2F7D5B"/>
            </a:solidFill>
            <a:prstDash val="solid"/>
          </a:ln>
        </p:spPr>
      </p:sp>
      <p:sp>
        <p:nvSpPr>
          <p:cNvPr id="17" name="Text 15"/>
          <p:cNvSpPr/>
          <p:nvPr/>
        </p:nvSpPr>
        <p:spPr>
          <a:xfrm>
            <a:off x="9180576" y="4242816"/>
            <a:ext cx="475488" cy="4114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9838944" y="4151376"/>
            <a:ext cx="1783080"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Control</a:t>
            </a:r>
            <a:endParaRPr lang="en-US" sz="1600" dirty="0"/>
          </a:p>
        </p:txBody>
      </p:sp>
      <p:sp>
        <p:nvSpPr>
          <p:cNvPr id="19" name="Text 17"/>
          <p:cNvSpPr/>
          <p:nvPr/>
        </p:nvSpPr>
        <p:spPr>
          <a:xfrm>
            <a:off x="9838944" y="4553712"/>
            <a:ext cx="1783080" cy="621792"/>
          </a:xfrm>
          <a:prstGeom prst="rect">
            <a:avLst/>
          </a:prstGeom>
          <a:noFill/>
          <a:ln/>
        </p:spPr>
        <p:txBody>
          <a:bodyPr wrap="square" lIns="0" tIns="0" rIns="0" bIns="0" rtlCol="0" anchor="t">
            <a:normAutofit/>
          </a:bodyPr>
          <a:lstStyle/>
          <a:p>
            <a:pPr indent="0" marL="0">
              <a:buNone/>
            </a:pPr>
            <a:r>
              <a:rPr lang="en-US" sz="1250" dirty="0">
                <a:solidFill>
                  <a:srgbClr val="BFD0D8"/>
                </a:solidFill>
                <a:latin typeface="Calibri" pitchFamily="34" charset="0"/>
                <a:ea typeface="Calibri" pitchFamily="34" charset="-122"/>
                <a:cs typeface="Calibri" pitchFamily="34" charset="-120"/>
              </a:rPr>
              <a:t>The operator accepts every draft</a:t>
            </a:r>
            <a:endParaRPr lang="en-US" sz="1250" dirty="0"/>
          </a:p>
        </p:txBody>
      </p:sp>
      <p:sp>
        <p:nvSpPr>
          <p:cNvPr id="20" name="Shape 18"/>
          <p:cNvSpPr/>
          <p:nvPr/>
        </p:nvSpPr>
        <p:spPr>
          <a:xfrm>
            <a:off x="2880360" y="5806440"/>
            <a:ext cx="6446520" cy="502920"/>
          </a:xfrm>
          <a:prstGeom prst="roundRect">
            <a:avLst>
              <a:gd name="adj" fmla="val 14545"/>
            </a:avLst>
          </a:prstGeom>
          <a:solidFill>
            <a:srgbClr val="242C30"/>
          </a:solidFill>
          <a:ln w="19050">
            <a:solidFill>
              <a:srgbClr val="FFF3DA"/>
            </a:solidFill>
            <a:prstDash val="solid"/>
          </a:ln>
        </p:spPr>
      </p:sp>
      <p:sp>
        <p:nvSpPr>
          <p:cNvPr id="21" name="Text 19"/>
          <p:cNvSpPr/>
          <p:nvPr/>
        </p:nvSpPr>
        <p:spPr>
          <a:xfrm>
            <a:off x="2990088" y="5861304"/>
            <a:ext cx="6227064" cy="384048"/>
          </a:xfrm>
          <a:prstGeom prst="rect">
            <a:avLst/>
          </a:prstGeom>
          <a:noFill/>
          <a:ln/>
        </p:spPr>
        <p:txBody>
          <a:bodyPr wrap="square" lIns="0" tIns="0" rIns="0" bIns="0" rtlCol="0" anchor="ctr">
            <a:normAutofit/>
          </a:bodyPr>
          <a:lstStyle/>
          <a:p>
            <a:pPr algn="ctr" indent="0" marL="0">
              <a:buNone/>
            </a:pPr>
            <a:r>
              <a:rPr lang="en-US" sz="1250" b="1" dirty="0">
                <a:solidFill>
                  <a:srgbClr val="FFF3DA"/>
                </a:solidFill>
                <a:latin typeface="Calibri" pitchFamily="34" charset="0"/>
                <a:ea typeface="Calibri" pitchFamily="34" charset="-122"/>
                <a:cs typeface="Calibri" pitchFamily="34" charset="-120"/>
              </a:rPr>
              <a:t>Current recommendation: FIXED FALLBACK + DYNAMIC SHADOW MODE</a:t>
            </a:r>
            <a:endParaRPr lang="en-US" sz="1250" dirty="0"/>
          </a:p>
        </p:txBody>
      </p:sp>
      <p:sp>
        <p:nvSpPr>
          <p:cNvPr id="22" name="Text 20"/>
          <p:cNvSpPr/>
          <p:nvPr/>
        </p:nvSpPr>
        <p:spPr>
          <a:xfrm>
            <a:off x="566928" y="6437376"/>
            <a:ext cx="4114800" cy="164592"/>
          </a:xfrm>
          <a:prstGeom prst="rect">
            <a:avLst/>
          </a:prstGeom>
          <a:noFill/>
          <a:ln/>
        </p:spPr>
        <p:txBody>
          <a:bodyPr wrap="square" lIns="0" tIns="0" rIns="0" bIns="0" rtlCol="0" anchor="ctr">
            <a:normAutofit/>
          </a:bodyPr>
          <a:lstStyle/>
          <a:p>
            <a:pPr indent="0" marL="0">
              <a:buNone/>
            </a:pPr>
            <a:r>
              <a:rPr lang="en-US" sz="900" dirty="0">
                <a:solidFill>
                  <a:srgbClr val="9FB4BE"/>
                </a:solidFill>
                <a:latin typeface="Calibri" pitchFamily="34" charset="0"/>
                <a:ea typeface="Calibri" pitchFamily="34" charset="-122"/>
                <a:cs typeface="Calibri" pitchFamily="34" charset="-120"/>
              </a:rPr>
              <a:t>BinSight  |  routing decision support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BinSight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BinSight Routing — From Snapshot to Dispatch</dc:title>
  <dc:subject>How the BinSight routing decision system works after a telemetry snapshot arrives</dc:subject>
  <dc:creator>BinSight</dc:creator>
  <cp:lastModifiedBy>BinSight</cp:lastModifiedBy>
  <cp:revision>1</cp:revision>
  <dcterms:created xsi:type="dcterms:W3CDTF">2026-08-28T10:50:37Z</dcterms:created>
  <dcterms:modified xsi:type="dcterms:W3CDTF">2026-08-28T10:50:37Z</dcterms:modified>
</cp:coreProperties>
</file>